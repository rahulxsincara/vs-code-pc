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svg" ContentType="image/svg+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3"/>
  </p:notesMasterIdLst>
  <p:sldIdLst>
    <p:sldId id="271" r:id="rId5"/>
    <p:sldId id="300" r:id="rId6"/>
    <p:sldId id="258" r:id="rId7"/>
    <p:sldId id="929" r:id="rId8"/>
    <p:sldId id="843" r:id="rId9"/>
    <p:sldId id="844" r:id="rId10"/>
    <p:sldId id="903" r:id="rId11"/>
    <p:sldId id="904" r:id="rId12"/>
    <p:sldId id="905" r:id="rId13"/>
    <p:sldId id="906" r:id="rId14"/>
    <p:sldId id="907" r:id="rId15"/>
    <p:sldId id="930" r:id="rId16"/>
    <p:sldId id="909" r:id="rId17"/>
    <p:sldId id="910" r:id="rId18"/>
    <p:sldId id="912" r:id="rId19"/>
    <p:sldId id="913" r:id="rId20"/>
    <p:sldId id="914" r:id="rId21"/>
    <p:sldId id="931" r:id="rId22"/>
    <p:sldId id="916" r:id="rId23"/>
    <p:sldId id="917" r:id="rId24"/>
    <p:sldId id="918" r:id="rId25"/>
    <p:sldId id="920" r:id="rId26"/>
    <p:sldId id="921" r:id="rId27"/>
    <p:sldId id="919" r:id="rId28"/>
    <p:sldId id="274" r:id="rId29"/>
    <p:sldId id="302" r:id="rId30"/>
    <p:sldId id="303" r:id="rId31"/>
    <p:sldId id="30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BA2532"/>
    <a:srgbClr val="FF9900"/>
    <a:srgbClr val="E84845"/>
    <a:srgbClr val="FAD2D2"/>
    <a:srgbClr val="F89E4C"/>
    <a:srgbClr val="A81E24"/>
    <a:srgbClr val="FFF2CC"/>
    <a:srgbClr val="CF2F33"/>
    <a:srgbClr val="E3293B"/>
    <a:srgbClr val="FFFCF4"/>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0"/>
    <p:restoredTop sz="94689"/>
  </p:normalViewPr>
  <p:slideViewPr>
    <p:cSldViewPr snapToGrid="0">
      <p:cViewPr varScale="1">
        <p:scale>
          <a:sx n="68" d="100"/>
          <a:sy n="68" d="100"/>
        </p:scale>
        <p:origin x="-798"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6/26/2025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xmlns=""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xmlns=""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xmlns="" val="317001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xmlns="" id="{2C4F97A2-6C0B-2A0B-D54A-29BC885D1A1D}"/>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CCF4902-BAC9-41E4-ADF4-5130C9A69BA7}" type="slidenum">
              <a:rPr lang="en-US" altLang="en-US" sz="1200" b="0" i="0" baseline="0" smtClean="0"/>
              <a:pPr/>
              <a:t>5</a:t>
            </a:fld>
            <a:endParaRPr lang="en-US" altLang="en-US" sz="1200" b="0" i="0" baseline="0"/>
          </a:p>
        </p:txBody>
      </p:sp>
      <p:sp>
        <p:nvSpPr>
          <p:cNvPr id="62467" name="Rectangle 2">
            <a:extLst>
              <a:ext uri="{FF2B5EF4-FFF2-40B4-BE49-F238E27FC236}">
                <a16:creationId xmlns:a16="http://schemas.microsoft.com/office/drawing/2014/main" xmlns="" id="{84865045-6FE7-84A1-A680-38E74D41F6BC}"/>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xmlns="" id="{9A00DFCC-ED25-0437-2242-4A8986119B06}"/>
              </a:ext>
            </a:extLst>
          </p:cNvPr>
          <p:cNvSpPr>
            <a:spLocks noGrp="1" noChangeArrowheads="1"/>
          </p:cNvSpPr>
          <p:nvPr>
            <p:ph type="body" idx="1"/>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xmlns="" id="{75633F31-99B2-2709-7A38-7157D01ED224}"/>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A7DC830-F3A3-40CE-8B83-7FB34E2E2A58}" type="slidenum">
              <a:rPr lang="en-US" altLang="en-US" sz="1200" b="0" i="0" baseline="0" smtClean="0"/>
              <a:pPr/>
              <a:t>6</a:t>
            </a:fld>
            <a:endParaRPr lang="en-US" altLang="en-US" sz="1200" b="0" i="0" baseline="0"/>
          </a:p>
        </p:txBody>
      </p:sp>
      <p:sp>
        <p:nvSpPr>
          <p:cNvPr id="64515" name="Rectangle 2">
            <a:extLst>
              <a:ext uri="{FF2B5EF4-FFF2-40B4-BE49-F238E27FC236}">
                <a16:creationId xmlns:a16="http://schemas.microsoft.com/office/drawing/2014/main" xmlns="" id="{BF3EDCE5-A01F-C033-A8BD-09EDB0447B1C}"/>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xmlns="" id="{BB0C3515-295E-C4E8-C8D5-7ED79A926953}"/>
              </a:ext>
            </a:extLst>
          </p:cNvPr>
          <p:cNvSpPr>
            <a:spLocks noGrp="1" noChangeArrowheads="1"/>
          </p:cNvSpPr>
          <p:nvPr>
            <p:ph type="body" idx="1"/>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xmlns="" id="{57B9DCAF-3571-7BED-D78C-96C939F22952}"/>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395D0321-7B5D-4252-88C9-C5885CB670E1}" type="slidenum">
              <a:rPr lang="en-US" altLang="en-US" sz="1200" b="0" i="0" baseline="0" smtClean="0"/>
              <a:pPr/>
              <a:t>7</a:t>
            </a:fld>
            <a:endParaRPr lang="en-US" altLang="en-US" sz="1200" b="0" i="0" baseline="0"/>
          </a:p>
        </p:txBody>
      </p:sp>
      <p:sp>
        <p:nvSpPr>
          <p:cNvPr id="68611" name="Rectangle 2">
            <a:extLst>
              <a:ext uri="{FF2B5EF4-FFF2-40B4-BE49-F238E27FC236}">
                <a16:creationId xmlns:a16="http://schemas.microsoft.com/office/drawing/2014/main" xmlns="" id="{A27C676E-84CB-7DF2-348F-D42FB694958F}"/>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xmlns="" id="{2C89E3A6-18E1-967F-0B25-E98E0FF66CCF}"/>
              </a:ext>
            </a:extLst>
          </p:cNvPr>
          <p:cNvSpPr>
            <a:spLocks noGrp="1" noChangeArrowheads="1"/>
          </p:cNvSpPr>
          <p:nvPr>
            <p:ph type="body" idx="1"/>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xmlns="" id="{90191852-E5E4-20DD-6444-1064FB488A35}"/>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8FB49AB-D6A8-44FF-9A16-5FF5042D1D80}" type="slidenum">
              <a:rPr lang="en-US" altLang="en-US" sz="1200" b="0" i="0" baseline="0" smtClean="0"/>
              <a:pPr/>
              <a:t>8</a:t>
            </a:fld>
            <a:endParaRPr lang="en-US" altLang="en-US" sz="1200" b="0" i="0" baseline="0"/>
          </a:p>
        </p:txBody>
      </p:sp>
      <p:sp>
        <p:nvSpPr>
          <p:cNvPr id="70659" name="Rectangle 2">
            <a:extLst>
              <a:ext uri="{FF2B5EF4-FFF2-40B4-BE49-F238E27FC236}">
                <a16:creationId xmlns:a16="http://schemas.microsoft.com/office/drawing/2014/main" xmlns="" id="{269F40EB-78FC-6A8D-E0D6-BEF278F6507A}"/>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xmlns="" id="{8C2BDD5A-9D79-7F90-1ACB-4B374108724A}"/>
              </a:ext>
            </a:extLst>
          </p:cNvPr>
          <p:cNvSpPr>
            <a:spLocks noGrp="1" noChangeArrowheads="1"/>
          </p:cNvSpPr>
          <p:nvPr>
            <p:ph type="body" idx="1"/>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xmlns="" id="{BB98E1E2-1DB3-B325-96EC-C0581BE0501B}"/>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AEA3BF74-3E26-499C-92CC-D6435DF64DC0}" type="slidenum">
              <a:rPr lang="en-US" altLang="en-US" sz="1200" b="0" i="0" baseline="0" smtClean="0"/>
              <a:pPr/>
              <a:t>9</a:t>
            </a:fld>
            <a:endParaRPr lang="en-US" altLang="en-US" sz="1200" b="0" i="0" baseline="0"/>
          </a:p>
        </p:txBody>
      </p:sp>
      <p:sp>
        <p:nvSpPr>
          <p:cNvPr id="72707" name="Rectangle 2">
            <a:extLst>
              <a:ext uri="{FF2B5EF4-FFF2-40B4-BE49-F238E27FC236}">
                <a16:creationId xmlns:a16="http://schemas.microsoft.com/office/drawing/2014/main" xmlns="" id="{AC8E6813-99C5-6B69-7EF8-BCB835077EF0}"/>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xmlns="" id="{64528988-7D74-7378-C104-61E04ADD4387}"/>
              </a:ext>
            </a:extLst>
          </p:cNvPr>
          <p:cNvSpPr>
            <a:spLocks noGrp="1" noChangeArrowheads="1"/>
          </p:cNvSpPr>
          <p:nvPr>
            <p:ph type="body" idx="1"/>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xmlns="" id="{6DCADB7F-FDBD-B7FE-3840-B7A6C3BBE75A}"/>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C136DF1-DD8E-4A08-A299-4AC739224BD6}" type="slidenum">
              <a:rPr lang="en-US" altLang="en-US" sz="1200" b="0" i="0" baseline="0" smtClean="0"/>
              <a:pPr/>
              <a:t>10</a:t>
            </a:fld>
            <a:endParaRPr lang="en-US" altLang="en-US" sz="1200" b="0" i="0" baseline="0"/>
          </a:p>
        </p:txBody>
      </p:sp>
      <p:sp>
        <p:nvSpPr>
          <p:cNvPr id="74755" name="Rectangle 2">
            <a:extLst>
              <a:ext uri="{FF2B5EF4-FFF2-40B4-BE49-F238E27FC236}">
                <a16:creationId xmlns:a16="http://schemas.microsoft.com/office/drawing/2014/main" xmlns="" id="{CB11F817-C93B-88CD-CA86-68941E0F56A0}"/>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xmlns="" id="{20F52143-F869-0BF9-76F5-7D912E6A72A9}"/>
              </a:ext>
            </a:extLst>
          </p:cNvPr>
          <p:cNvSpPr>
            <a:spLocks noGrp="1" noChangeArrowheads="1"/>
          </p:cNvSpPr>
          <p:nvPr>
            <p:ph type="body" idx="1"/>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xmlns="" id="{B7AAE8FC-31AC-6BBD-564F-1AA17035160C}"/>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81B989D9-3E31-4627-9EBE-E30D16D8D1C5}" type="slidenum">
              <a:rPr lang="en-US" altLang="en-US" sz="1200" b="0" i="0" baseline="0" smtClean="0"/>
              <a:pPr/>
              <a:t>11</a:t>
            </a:fld>
            <a:endParaRPr lang="en-US" altLang="en-US" sz="1200" b="0" i="0" baseline="0"/>
          </a:p>
        </p:txBody>
      </p:sp>
      <p:sp>
        <p:nvSpPr>
          <p:cNvPr id="76803" name="Rectangle 2">
            <a:extLst>
              <a:ext uri="{FF2B5EF4-FFF2-40B4-BE49-F238E27FC236}">
                <a16:creationId xmlns:a16="http://schemas.microsoft.com/office/drawing/2014/main" xmlns="" id="{6FED3472-D9FE-445B-8BDF-3F1A1FFF1F0A}"/>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xmlns="" id="{A6584AAF-3217-9596-5983-B48FB7A452B1}"/>
              </a:ext>
            </a:extLst>
          </p:cNvPr>
          <p:cNvSpPr>
            <a:spLocks noGrp="1" noChangeArrowheads="1"/>
          </p:cNvSpPr>
          <p:nvPr>
            <p:ph type="body" idx="1"/>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12</a:t>
            </a:fld>
            <a:endParaRPr lang="en-US"/>
          </a:p>
        </p:txBody>
      </p:sp>
    </p:spTree>
    <p:extLst>
      <p:ext uri="{BB962C8B-B14F-4D97-AF65-F5344CB8AC3E}">
        <p14:creationId xmlns:p14="http://schemas.microsoft.com/office/powerpoint/2010/main" xmlns="" val="2497094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xmlns="" id="{ACB61F7F-8F56-41AF-4142-F3B96ACF949A}"/>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883FE2B-B262-400C-87D8-EDF5E28AE6F4}" type="slidenum">
              <a:rPr lang="en-US" altLang="en-US" sz="1200" b="0" i="0" baseline="0" smtClean="0"/>
              <a:pPr/>
              <a:t>13</a:t>
            </a:fld>
            <a:endParaRPr lang="en-US" altLang="en-US" sz="1200" b="0" i="0" baseline="0"/>
          </a:p>
        </p:txBody>
      </p:sp>
      <p:sp>
        <p:nvSpPr>
          <p:cNvPr id="82947" name="Rectangle 2">
            <a:extLst>
              <a:ext uri="{FF2B5EF4-FFF2-40B4-BE49-F238E27FC236}">
                <a16:creationId xmlns:a16="http://schemas.microsoft.com/office/drawing/2014/main" xmlns="" id="{891DA01F-9696-C0C3-D6FC-4311A2B40A92}"/>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xmlns="" id="{68B48E87-6DC4-B4C9-90B6-ED9F1A6C7B02}"/>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xmlns="" id="{840DABB9-7279-DAB4-4BDB-54FE77EAD18E}"/>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247CDB57-930C-4DF9-B64A-52D551433303}" type="slidenum">
              <a:rPr lang="en-US" altLang="en-US" sz="1200" b="0" i="0" baseline="0" smtClean="0"/>
              <a:pPr/>
              <a:t>14</a:t>
            </a:fld>
            <a:endParaRPr lang="en-US" altLang="en-US" sz="1200" b="0" i="0" baseline="0"/>
          </a:p>
        </p:txBody>
      </p:sp>
      <p:sp>
        <p:nvSpPr>
          <p:cNvPr id="84995" name="Rectangle 2">
            <a:extLst>
              <a:ext uri="{FF2B5EF4-FFF2-40B4-BE49-F238E27FC236}">
                <a16:creationId xmlns:a16="http://schemas.microsoft.com/office/drawing/2014/main" xmlns="" id="{FDB7F308-1FCE-5D1E-1224-C84959A27E25}"/>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xmlns="" id="{B9A564CC-483E-6ED5-13B0-38B99E5DA386}"/>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xmlns="" id="{C862016B-35C2-6C42-EAF0-446FF7C0C32C}"/>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80049B1-7F78-4DBF-9ACF-B3D4EA310254}" type="slidenum">
              <a:rPr lang="en-US" altLang="en-US" sz="1200" b="0" i="0" baseline="0" smtClean="0"/>
              <a:pPr/>
              <a:t>15</a:t>
            </a:fld>
            <a:endParaRPr lang="en-US" altLang="en-US" sz="1200" b="0" i="0" baseline="0"/>
          </a:p>
        </p:txBody>
      </p:sp>
      <p:sp>
        <p:nvSpPr>
          <p:cNvPr id="89091" name="Rectangle 2">
            <a:extLst>
              <a:ext uri="{FF2B5EF4-FFF2-40B4-BE49-F238E27FC236}">
                <a16:creationId xmlns:a16="http://schemas.microsoft.com/office/drawing/2014/main" xmlns="" id="{35AE061B-CD8E-2909-3F28-463C7FBCF353}"/>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xmlns="" id="{D5EB8295-407E-FEF8-AB7A-B9B9582C87EA}"/>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xmlns="" id="{DD051DAA-DD10-17D6-B269-A92554449DEE}"/>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E1E4757F-872B-4A2B-8CAE-59C532568027}" type="slidenum">
              <a:rPr lang="en-US" altLang="en-US" sz="1200" b="0" i="0" baseline="0" smtClean="0"/>
              <a:pPr/>
              <a:t>16</a:t>
            </a:fld>
            <a:endParaRPr lang="en-US" altLang="en-US" sz="1200" b="0" i="0" baseline="0"/>
          </a:p>
        </p:txBody>
      </p:sp>
      <p:sp>
        <p:nvSpPr>
          <p:cNvPr id="91139" name="Rectangle 2">
            <a:extLst>
              <a:ext uri="{FF2B5EF4-FFF2-40B4-BE49-F238E27FC236}">
                <a16:creationId xmlns:a16="http://schemas.microsoft.com/office/drawing/2014/main" xmlns="" id="{312C77C1-EC1B-B046-5701-E214AB912377}"/>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xmlns="" id="{AB885F6C-7860-9EEA-D562-888D07B7CBC1}"/>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xmlns="" id="{F7032043-3804-AFED-76AA-B577840EBBBE}"/>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1EAE3C8-4AD9-4071-9281-DB16402A5EA1}" type="slidenum">
              <a:rPr lang="en-US" altLang="en-US" sz="1200" b="0" i="0" baseline="0" smtClean="0"/>
              <a:pPr/>
              <a:t>17</a:t>
            </a:fld>
            <a:endParaRPr lang="en-US" altLang="en-US" sz="1200" b="0" i="0" baseline="0"/>
          </a:p>
        </p:txBody>
      </p:sp>
      <p:sp>
        <p:nvSpPr>
          <p:cNvPr id="93187" name="Rectangle 2">
            <a:extLst>
              <a:ext uri="{FF2B5EF4-FFF2-40B4-BE49-F238E27FC236}">
                <a16:creationId xmlns:a16="http://schemas.microsoft.com/office/drawing/2014/main" xmlns="" id="{24557D8E-4C0D-A3BC-A889-40C235149D16}"/>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xmlns="" id="{ED6C3862-E7AE-7C09-EFAF-16DABFF059B9}"/>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18</a:t>
            </a:fld>
            <a:endParaRPr lang="en-US"/>
          </a:p>
        </p:txBody>
      </p:sp>
    </p:spTree>
    <p:extLst>
      <p:ext uri="{BB962C8B-B14F-4D97-AF65-F5344CB8AC3E}">
        <p14:creationId xmlns:p14="http://schemas.microsoft.com/office/powerpoint/2010/main" xmlns="" val="1226289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xmlns="" id="{65A00036-73F0-C8B1-E3FC-0631EF562526}"/>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65174547-63F9-4EA8-B661-9384F078C060}" type="slidenum">
              <a:rPr lang="en-US" altLang="en-US" sz="1200" b="0" i="0" baseline="0" smtClean="0"/>
              <a:pPr/>
              <a:t>19</a:t>
            </a:fld>
            <a:endParaRPr lang="en-US" altLang="en-US" sz="1200" b="0" i="0" baseline="0"/>
          </a:p>
        </p:txBody>
      </p:sp>
      <p:sp>
        <p:nvSpPr>
          <p:cNvPr id="97283" name="Rectangle 2">
            <a:extLst>
              <a:ext uri="{FF2B5EF4-FFF2-40B4-BE49-F238E27FC236}">
                <a16:creationId xmlns:a16="http://schemas.microsoft.com/office/drawing/2014/main" xmlns="" id="{4A14C31F-6BED-CC53-A3A1-489017332C7F}"/>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xmlns="" id="{8FF46DC4-B8C1-2130-8A47-CDF365FF7143}"/>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xmlns="" id="{9879C8AB-9732-933B-D2E7-16F419580A0C}"/>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4A9957A-7F1A-404E-8C97-BC40A3C7B328}" type="slidenum">
              <a:rPr lang="en-US" altLang="en-US" sz="1200" b="0" i="0" baseline="0" smtClean="0"/>
              <a:pPr/>
              <a:t>20</a:t>
            </a:fld>
            <a:endParaRPr lang="en-US" altLang="en-US" sz="1200" b="0" i="0" baseline="0"/>
          </a:p>
        </p:txBody>
      </p:sp>
      <p:sp>
        <p:nvSpPr>
          <p:cNvPr id="99331" name="Rectangle 2">
            <a:extLst>
              <a:ext uri="{FF2B5EF4-FFF2-40B4-BE49-F238E27FC236}">
                <a16:creationId xmlns:a16="http://schemas.microsoft.com/office/drawing/2014/main" xmlns="" id="{700D00CE-63D7-DCA0-6CDA-A4E08AE4BA4E}"/>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xmlns="" id="{F4EDB132-8EA2-AADD-2D5F-C18A78FBB2A3}"/>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xmlns="" id="{AF68E8A9-7D40-0E16-AD86-928E9CF9070D}"/>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1CABB88-3362-441C-AB71-CD883DAF5459}" type="slidenum">
              <a:rPr lang="en-US" altLang="en-US" sz="1200" b="0" i="0" baseline="0" smtClean="0"/>
              <a:pPr/>
              <a:t>21</a:t>
            </a:fld>
            <a:endParaRPr lang="en-US" altLang="en-US" sz="1200" b="0" i="0" baseline="0"/>
          </a:p>
        </p:txBody>
      </p:sp>
      <p:sp>
        <p:nvSpPr>
          <p:cNvPr id="101379" name="Rectangle 2">
            <a:extLst>
              <a:ext uri="{FF2B5EF4-FFF2-40B4-BE49-F238E27FC236}">
                <a16:creationId xmlns:a16="http://schemas.microsoft.com/office/drawing/2014/main" xmlns="" id="{EBFCEFEC-795D-C5FF-B665-D0B6DF8D5AE4}"/>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xmlns="" id="{015AFDE7-808A-8E55-7775-BAB34E24FB40}"/>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xmlns="" id="{88D94465-5D5B-7139-3C06-771A4703320F}"/>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E736DA5-652D-4E68-AAD6-1BF01C4F0013}" type="slidenum">
              <a:rPr lang="en-US" altLang="en-US" sz="1200" b="0" i="0" baseline="0" smtClean="0"/>
              <a:pPr/>
              <a:t>22</a:t>
            </a:fld>
            <a:endParaRPr lang="en-US" altLang="en-US" sz="1200" b="0" i="0" baseline="0"/>
          </a:p>
        </p:txBody>
      </p:sp>
      <p:sp>
        <p:nvSpPr>
          <p:cNvPr id="105475" name="Rectangle 2">
            <a:extLst>
              <a:ext uri="{FF2B5EF4-FFF2-40B4-BE49-F238E27FC236}">
                <a16:creationId xmlns:a16="http://schemas.microsoft.com/office/drawing/2014/main" xmlns="" id="{6757F185-E774-869D-5A29-BEAF95832020}"/>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xmlns="" id="{38111FA9-A393-BB3B-ADCE-C32697140311}"/>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xmlns="" id="{24EE973E-4771-99A8-F48B-2776B725A62F}"/>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BE646074-AF9C-428A-9C87-58B3701CAF92}" type="slidenum">
              <a:rPr lang="en-US" altLang="en-US" sz="1200" b="0" i="0" baseline="0" smtClean="0"/>
              <a:pPr/>
              <a:t>23</a:t>
            </a:fld>
            <a:endParaRPr lang="en-US" altLang="en-US" sz="1200" b="0" i="0" baseline="0"/>
          </a:p>
        </p:txBody>
      </p:sp>
      <p:sp>
        <p:nvSpPr>
          <p:cNvPr id="107523" name="Rectangle 2">
            <a:extLst>
              <a:ext uri="{FF2B5EF4-FFF2-40B4-BE49-F238E27FC236}">
                <a16:creationId xmlns:a16="http://schemas.microsoft.com/office/drawing/2014/main" xmlns="" id="{753166E1-9F28-9632-EA68-36DEF39B17E7}"/>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xmlns="" id="{B0529B4C-C1A1-0254-F5EA-D0C2F30E3D69}"/>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xmlns="" id="{9FBB7262-A5F5-9FF8-983F-1D7D4C59BB4F}"/>
              </a:ext>
            </a:extLst>
          </p:cNvPr>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ED286F3-A7E3-4748-B725-9B391E33411F}" type="slidenum">
              <a:rPr lang="en-US" altLang="en-US" sz="1200" b="0" i="0" baseline="0" smtClean="0"/>
              <a:pPr/>
              <a:t>24</a:t>
            </a:fld>
            <a:endParaRPr lang="en-US" altLang="en-US" sz="1200" b="0" i="0" baseline="0"/>
          </a:p>
        </p:txBody>
      </p:sp>
      <p:sp>
        <p:nvSpPr>
          <p:cNvPr id="103427" name="Rectangle 2">
            <a:extLst>
              <a:ext uri="{FF2B5EF4-FFF2-40B4-BE49-F238E27FC236}">
                <a16:creationId xmlns:a16="http://schemas.microsoft.com/office/drawing/2014/main" xmlns="" id="{C40CA479-79D9-5140-E4BB-D40D56738111}"/>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xmlns="" id="{C1A15D70-5258-9D8A-2DF0-89912422881F}"/>
              </a:ext>
            </a:extLst>
          </p:cNvPr>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6/26/2025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6/26/2025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6/26/2025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6/26/2025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6/26/2025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6/26/2025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6/26/2025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6/26/2025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6/26/2025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6/26/2025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xmlns=""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xmlns=""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xmlns=""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xmlns=""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xmlns=""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xmlns=""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xmlns=""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xmlns=""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0" y="45719"/>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xmlns=""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000507"/>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COMPUTER </a:t>
            </a:r>
            <a:r>
              <a:rPr lang="en-US" sz="3200" b="1" cap="all" dirty="0" err="1" smtClean="0">
                <a:ln/>
                <a:solidFill>
                  <a:srgbClr val="C00000"/>
                </a:solidFill>
                <a:cs typeface="Poppins" panose="00000500000000000000" pitchFamily="2" charset="0"/>
                <a:sym typeface="BioRhyme ExtraBold"/>
              </a:rPr>
              <a:t>NetworkS</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IN" sz="3200" b="1" cap="all" dirty="0" smtClean="0">
                <a:ln/>
                <a:solidFill>
                  <a:srgbClr val="C00000"/>
                </a:solidFill>
                <a:cs typeface="Poppins" panose="00000500000000000000" pitchFamily="2" charset="0"/>
                <a:sym typeface="BioRhyme ExtraBold"/>
              </a:rPr>
              <a:t>24CS2202</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MAC PROTOCOLS: CSMA</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CSE</a:t>
            </a:r>
          </a:p>
        </p:txBody>
      </p:sp>
      <p:sp>
        <p:nvSpPr>
          <p:cNvPr id="8" name="Google Shape;502;p17">
            <a:extLst>
              <a:ext uri="{FF2B5EF4-FFF2-40B4-BE49-F238E27FC236}">
                <a16:creationId xmlns:a16="http://schemas.microsoft.com/office/drawing/2014/main" xmlns=""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a:t>
            </a:r>
            <a:r>
              <a:rPr lang="en-US" sz="2400" dirty="0" smtClean="0">
                <a:solidFill>
                  <a:schemeClr val="lt1"/>
                </a:solidFill>
                <a:ea typeface="Calibri"/>
                <a:cs typeface="Poppins" panose="00000500000000000000" pitchFamily="2" charset="0"/>
                <a:sym typeface="Calibri"/>
              </a:rPr>
              <a:t>15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a:t>
            </a:r>
            <a:r>
              <a:rPr lang="en-US" sz="1600" dirty="0">
                <a:latin typeface="Poppins"/>
                <a:cs typeface="Poppins"/>
              </a:rPr>
              <a:t>idea</a:t>
            </a:r>
            <a:r>
              <a:rPr lang="en-US" sz="1600" b="0" i="0" dirty="0">
                <a:effectLst/>
                <a:latin typeface="Poppins"/>
                <a:cs typeface="Poppins"/>
              </a:rPr>
              <a:t> of CSMA protocols</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the need for CSMA protocols</a:t>
            </a:r>
          </a:p>
          <a:p>
            <a:pPr marL="342900" indent="-342900">
              <a:buAutoNum type="arabicPeriod"/>
            </a:pPr>
            <a:r>
              <a:rPr lang="en-US" sz="1600" b="0" i="0" dirty="0">
                <a:effectLst/>
                <a:latin typeface="Arial" panose="020B0604020202020204" pitchFamily="34" charset="0"/>
              </a:rPr>
              <a:t>Describe the working of CSMA</a:t>
            </a:r>
            <a:r>
              <a:rPr lang="en-US" sz="1600" dirty="0">
                <a:latin typeface="Arial" panose="020B0604020202020204" pitchFamily="34" charset="0"/>
              </a:rPr>
              <a:t> protocol</a:t>
            </a:r>
            <a:r>
              <a:rPr lang="en-US" sz="1600" b="0" i="0" dirty="0">
                <a:effectLst/>
                <a:latin typeface="Arial" panose="020B0604020202020204" pitchFamily="34" charset="0"/>
              </a:rPr>
              <a:t>s</a:t>
            </a:r>
          </a:p>
        </p:txBody>
      </p:sp>
      <p:pic>
        <p:nvPicPr>
          <p:cNvPr id="11" name="Graphic 10" descr="Bullseye outline">
            <a:extLst>
              <a:ext uri="{FF2B5EF4-FFF2-40B4-BE49-F238E27FC236}">
                <a16:creationId xmlns:a16="http://schemas.microsoft.com/office/drawing/2014/main" xmlns="" id="{AB75B03E-9C0C-0AF7-2A76-D8618F8F999A}"/>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xmlns="" id="{1E9F25CA-EF99-00B6-5FFA-810D1F1806C7}"/>
              </a:ext>
            </a:extLst>
          </p:cNvPr>
          <p:cNvPicPr>
            <a:picLocks noChangeAspect="1"/>
          </p:cNvPicPr>
          <p:nvPr/>
        </p:nvPicPr>
        <p:blipFill>
          <a:blip r:embed="rId4" cstate="print">
            <a:extLst>
              <a:ext uri="{28A0092B-C50C-407E-A947-70E740481C1C}">
                <a14:useLocalDpi xmlns:a14="http://schemas.microsoft.com/office/drawing/2010/main" xmlns="" val="0"/>
              </a:ext>
              <a:ext uri="{96DAC541-7B7A-43D3-8B79-37D633B846F1}">
                <asvg:svgBlip xmlns:asvg="http://schemas.microsoft.com/office/drawing/2016/SVG/main" xmlns=""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xmlns=""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xmlns="" id="{5F765FC3-60CF-297F-C1BD-F5A7B8B943AF}"/>
              </a:ext>
            </a:extLst>
          </p:cNvPr>
          <p:cNvPicPr>
            <a:picLocks noChangeAspect="1"/>
          </p:cNvPicPr>
          <p:nvPr/>
        </p:nvPicPr>
        <p:blipFill>
          <a:blip r:embed="rId6" cstate="print">
            <a:extLst>
              <a:ext uri="{28A0092B-C50C-407E-A947-70E740481C1C}">
                <a14:useLocalDpi xmlns:a14="http://schemas.microsoft.com/office/drawing/2010/main" xmlns=""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xmlns=""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Understand the working of CSMA protocol.</a:t>
            </a:r>
          </a:p>
          <a:p>
            <a:pPr marL="342900" indent="-342900">
              <a:buAutoNum type="arabicPeriod"/>
            </a:pPr>
            <a:r>
              <a:rPr lang="en-US" sz="1600" dirty="0">
                <a:latin typeface="Arial" panose="020B0604020202020204" pitchFamily="34" charset="0"/>
              </a:rPr>
              <a:t>Understand the working of CSMA/CD and CSMA/CA protocols.</a:t>
            </a:r>
          </a:p>
          <a:p>
            <a:pPr marL="342900" indent="-342900">
              <a:buAutoNum type="arabicPeriod"/>
            </a:pPr>
            <a:r>
              <a:rPr lang="en-US" sz="1600" dirty="0">
                <a:latin typeface="Arial" panose="020B0604020202020204" pitchFamily="34" charset="0"/>
              </a:rPr>
              <a:t>Differentiate CSMA, CSMA/CD and CSMA/CA protocols. </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1388607984"/>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xmlns="" id="{3A36F14E-D755-81E9-9788-D1FC8EAFF7C7}"/>
              </a:ext>
            </a:extLst>
          </p:cNvPr>
          <p:cNvSpPr txBox="1"/>
          <p:nvPr/>
        </p:nvSpPr>
        <p:spPr>
          <a:xfrm>
            <a:off x="3049172" y="3240817"/>
            <a:ext cx="6098344" cy="369332"/>
          </a:xfrm>
          <a:prstGeom prst="rect">
            <a:avLst/>
          </a:prstGeom>
          <a:noFill/>
        </p:spPr>
        <p:txBody>
          <a:bodyPr wrap="square">
            <a:spAutoFit/>
          </a:bodyPr>
          <a:lstStyle/>
          <a:p>
            <a:r>
              <a:rPr lang="en-US" altLang="en-US" sz="1800" dirty="0">
                <a:solidFill>
                  <a:srgbClr val="3366FF"/>
                </a:solidFill>
              </a:rPr>
              <a:t> </a:t>
            </a:r>
            <a:endParaRPr lang="en-US" dirty="0"/>
          </a:p>
        </p:txBody>
      </p:sp>
      <p:sp>
        <p:nvSpPr>
          <p:cNvPr id="8" name="TextBox 2">
            <a:extLst>
              <a:ext uri="{FF2B5EF4-FFF2-40B4-BE49-F238E27FC236}">
                <a16:creationId xmlns:a16="http://schemas.microsoft.com/office/drawing/2014/main" xmlns="" id="{360AA245-964F-E3CE-8BF2-1D2A065E7BA9}"/>
              </a:ext>
            </a:extLst>
          </p:cNvPr>
          <p:cNvSpPr txBox="1">
            <a:spLocks noChangeArrowheads="1"/>
          </p:cNvSpPr>
          <p:nvPr/>
        </p:nvSpPr>
        <p:spPr bwMode="auto">
          <a:xfrm>
            <a:off x="3581400" y="1460501"/>
            <a:ext cx="5105400" cy="3908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7200" dirty="0">
                <a:solidFill>
                  <a:srgbClr val="C00000"/>
                </a:solidFill>
              </a:rPr>
              <a:t>CSMA Protocols</a:t>
            </a:r>
          </a:p>
          <a:p>
            <a:endParaRPr lang="en-US" altLang="en-US" sz="1200" dirty="0"/>
          </a:p>
          <a:p>
            <a:pPr algn="ctr"/>
            <a:r>
              <a:rPr lang="en-US" altLang="en-US" sz="4800" dirty="0">
                <a:solidFill>
                  <a:srgbClr val="3366FF"/>
                </a:solidFill>
              </a:rPr>
              <a:t>                   </a:t>
            </a:r>
          </a:p>
          <a:p>
            <a:pPr algn="ctr"/>
            <a:r>
              <a:rPr lang="en-US" altLang="en-US" sz="4800" dirty="0">
                <a:solidFill>
                  <a:srgbClr val="3366FF"/>
                </a:solidFill>
              </a:rPr>
              <a:t>       CSMA     </a:t>
            </a:r>
          </a:p>
          <a:p>
            <a:pPr algn="ctr"/>
            <a:endParaRPr lang="en-US" altLang="en-US" sz="4800" dirty="0">
              <a:solidFill>
                <a:srgbClr val="3366FF"/>
              </a:solidFill>
            </a:endParaRPr>
          </a:p>
          <a:p>
            <a:pPr algn="ctr"/>
            <a:r>
              <a:rPr lang="en-US" altLang="en-US" sz="4800" dirty="0">
                <a:solidFill>
                  <a:srgbClr val="3366FF"/>
                </a:solidFill>
              </a:rPr>
              <a:t>              CSMA/CD</a:t>
            </a:r>
          </a:p>
          <a:p>
            <a:pPr algn="ctr"/>
            <a:r>
              <a:rPr lang="en-US" altLang="en-US" sz="4800" dirty="0">
                <a:solidFill>
                  <a:srgbClr val="3366FF"/>
                </a:solidFill>
              </a:rPr>
              <a:t>              </a:t>
            </a:r>
          </a:p>
          <a:p>
            <a:pPr algn="ctr"/>
            <a:r>
              <a:rPr lang="en-US" altLang="en-US" sz="4800" dirty="0">
                <a:solidFill>
                  <a:srgbClr val="3366FF"/>
                </a:solidFill>
              </a:rPr>
              <a:t>              CSMA/CA</a:t>
            </a:r>
          </a:p>
        </p:txBody>
      </p:sp>
      <p:sp>
        <p:nvSpPr>
          <p:cNvPr id="11" name="TextBox 2">
            <a:extLst>
              <a:ext uri="{FF2B5EF4-FFF2-40B4-BE49-F238E27FC236}">
                <a16:creationId xmlns:a16="http://schemas.microsoft.com/office/drawing/2014/main" xmlns="" id="{6C9A900C-7F0B-ECEA-0AA8-69C85C8B3ED0}"/>
              </a:ext>
            </a:extLst>
          </p:cNvPr>
          <p:cNvSpPr txBox="1">
            <a:spLocks noChangeArrowheads="1"/>
          </p:cNvSpPr>
          <p:nvPr/>
        </p:nvSpPr>
        <p:spPr bwMode="auto">
          <a:xfrm>
            <a:off x="3581400" y="1460501"/>
            <a:ext cx="5105400" cy="3908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7200" dirty="0">
                <a:solidFill>
                  <a:srgbClr val="C00000"/>
                </a:solidFill>
              </a:rPr>
              <a:t>CSMA Protocols</a:t>
            </a:r>
          </a:p>
          <a:p>
            <a:endParaRPr lang="en-US" altLang="en-US" sz="1200" dirty="0"/>
          </a:p>
          <a:p>
            <a:pPr algn="ctr"/>
            <a:r>
              <a:rPr lang="en-US" altLang="en-US" sz="4800" dirty="0">
                <a:solidFill>
                  <a:srgbClr val="3366FF"/>
                </a:solidFill>
              </a:rPr>
              <a:t>                   </a:t>
            </a:r>
          </a:p>
          <a:p>
            <a:pPr algn="ctr"/>
            <a:r>
              <a:rPr lang="en-US" altLang="en-US" sz="4800" dirty="0">
                <a:solidFill>
                  <a:srgbClr val="3366FF"/>
                </a:solidFill>
              </a:rPr>
              <a:t>       CSMA     </a:t>
            </a:r>
          </a:p>
          <a:p>
            <a:pPr algn="ctr"/>
            <a:endParaRPr lang="en-US" altLang="en-US" sz="4800" dirty="0">
              <a:solidFill>
                <a:srgbClr val="3366FF"/>
              </a:solidFill>
            </a:endParaRPr>
          </a:p>
          <a:p>
            <a:pPr algn="ctr"/>
            <a:r>
              <a:rPr lang="en-US" altLang="en-US" sz="4800" dirty="0">
                <a:solidFill>
                  <a:srgbClr val="3366FF"/>
                </a:solidFill>
              </a:rPr>
              <a:t>              CSMA/CD</a:t>
            </a:r>
          </a:p>
          <a:p>
            <a:pPr algn="ctr"/>
            <a:r>
              <a:rPr lang="en-US" altLang="en-US" sz="4800" dirty="0">
                <a:solidFill>
                  <a:srgbClr val="3366FF"/>
                </a:solidFill>
              </a:rPr>
              <a:t>              </a:t>
            </a:r>
          </a:p>
          <a:p>
            <a:pPr algn="ctr"/>
            <a:r>
              <a:rPr lang="en-US" altLang="en-US" sz="4800" dirty="0">
                <a:solidFill>
                  <a:srgbClr val="3366FF"/>
                </a:solidFill>
              </a:rPr>
              <a:t>              CSMA/CA</a:t>
            </a:r>
          </a:p>
        </p:txBody>
      </p:sp>
      <p:cxnSp>
        <p:nvCxnSpPr>
          <p:cNvPr id="12" name="Straight Connector 11">
            <a:extLst>
              <a:ext uri="{FF2B5EF4-FFF2-40B4-BE49-F238E27FC236}">
                <a16:creationId xmlns:a16="http://schemas.microsoft.com/office/drawing/2014/main" xmlns="" id="{D29EFE66-67EF-4EF1-FA7C-6A0B8AE4E510}"/>
              </a:ext>
            </a:extLst>
          </p:cNvPr>
          <p:cNvCxnSpPr>
            <a:cxnSpLocks/>
          </p:cNvCxnSpPr>
          <p:nvPr/>
        </p:nvCxnSpPr>
        <p:spPr bwMode="auto">
          <a:xfrm>
            <a:off x="4724400" y="2286000"/>
            <a:ext cx="0" cy="28194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xmlns="" id="{8BFDC2D3-2FC9-E391-AC12-2B2569C9FAE1}"/>
              </a:ext>
            </a:extLst>
          </p:cNvPr>
          <p:cNvCxnSpPr/>
          <p:nvPr/>
        </p:nvCxnSpPr>
        <p:spPr bwMode="auto">
          <a:xfrm>
            <a:off x="4724400" y="4114800"/>
            <a:ext cx="1143000"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4">
            <a:extLst>
              <a:ext uri="{FF2B5EF4-FFF2-40B4-BE49-F238E27FC236}">
                <a16:creationId xmlns:a16="http://schemas.microsoft.com/office/drawing/2014/main" xmlns="" id="{88598E94-DAC8-34EE-60EC-337C3CC7048F}"/>
              </a:ext>
            </a:extLst>
          </p:cNvPr>
          <p:cNvCxnSpPr>
            <a:cxnSpLocks noChangeShapeType="1"/>
          </p:cNvCxnSpPr>
          <p:nvPr/>
        </p:nvCxnSpPr>
        <p:spPr bwMode="auto">
          <a:xfrm>
            <a:off x="4724400" y="5105400"/>
            <a:ext cx="1143000"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 name="Straight Arrow Connector 5">
            <a:extLst>
              <a:ext uri="{FF2B5EF4-FFF2-40B4-BE49-F238E27FC236}">
                <a16:creationId xmlns:a16="http://schemas.microsoft.com/office/drawing/2014/main" xmlns="" id="{EAFC78FE-B0DC-F360-8DA9-FC6F82A155EE}"/>
              </a:ext>
            </a:extLst>
          </p:cNvPr>
          <p:cNvCxnSpPr>
            <a:cxnSpLocks noChangeShapeType="1"/>
          </p:cNvCxnSpPr>
          <p:nvPr/>
        </p:nvCxnSpPr>
        <p:spPr bwMode="auto">
          <a:xfrm>
            <a:off x="4724400" y="3124200"/>
            <a:ext cx="1143000"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xmlns="" val="4069052342"/>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CSMA Protocol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xmlns="" id="{3A36F14E-D755-81E9-9788-D1FC8EAFF7C7}"/>
              </a:ext>
            </a:extLst>
          </p:cNvPr>
          <p:cNvSpPr txBox="1"/>
          <p:nvPr/>
        </p:nvSpPr>
        <p:spPr>
          <a:xfrm>
            <a:off x="3049172" y="3240817"/>
            <a:ext cx="6098344" cy="369332"/>
          </a:xfrm>
          <a:prstGeom prst="rect">
            <a:avLst/>
          </a:prstGeom>
          <a:noFill/>
        </p:spPr>
        <p:txBody>
          <a:bodyPr wrap="square">
            <a:spAutoFit/>
          </a:bodyPr>
          <a:lstStyle/>
          <a:p>
            <a:r>
              <a:rPr lang="en-US" altLang="en-US" sz="1800" dirty="0">
                <a:solidFill>
                  <a:srgbClr val="3366FF"/>
                </a:solidFill>
              </a:rPr>
              <a:t> </a:t>
            </a:r>
            <a:endParaRPr lang="en-US" dirty="0"/>
          </a:p>
        </p:txBody>
      </p:sp>
      <p:sp>
        <p:nvSpPr>
          <p:cNvPr id="3" name="TextBox 2">
            <a:extLst>
              <a:ext uri="{FF2B5EF4-FFF2-40B4-BE49-F238E27FC236}">
                <a16:creationId xmlns:a16="http://schemas.microsoft.com/office/drawing/2014/main" xmlns="" id="{1384BF8E-1CD7-6C7D-49D8-E9EEA256A514}"/>
              </a:ext>
            </a:extLst>
          </p:cNvPr>
          <p:cNvSpPr txBox="1"/>
          <p:nvPr/>
        </p:nvSpPr>
        <p:spPr>
          <a:xfrm>
            <a:off x="636562" y="1141016"/>
            <a:ext cx="10800471" cy="4708981"/>
          </a:xfrm>
          <a:prstGeom prst="rect">
            <a:avLst/>
          </a:prstGeom>
          <a:noFill/>
        </p:spPr>
        <p:txBody>
          <a:bodyPr wrap="square">
            <a:spAutoFit/>
          </a:bodyPr>
          <a:lstStyle/>
          <a:p>
            <a:pPr marL="285750" indent="-285750" algn="just">
              <a:buFont typeface="Arial" panose="020B0604020202020204" pitchFamily="34" charset="0"/>
              <a:buChar char="•"/>
              <a:defRPr/>
            </a:pPr>
            <a:r>
              <a:rPr lang="en-US" sz="2000" dirty="0">
                <a:latin typeface="Times-Roman"/>
              </a:rPr>
              <a:t>Carrier Sense Multiple Access protocol.</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To minimize the chance of collision and, therefore, increase the performance, the CSMA method was developed.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The chance of collision can be reduced if a station senses the medium before trying to use it. </a:t>
            </a:r>
            <a:r>
              <a:rPr lang="en-US" sz="2000" dirty="0">
                <a:latin typeface="Times-Bold"/>
              </a:rPr>
              <a:t>CSMA </a:t>
            </a:r>
            <a:r>
              <a:rPr lang="en-US" sz="2000" dirty="0">
                <a:latin typeface="Times-Roman"/>
              </a:rPr>
              <a:t>requires that each station first listen to the medium (or check the state of the medium) before sending. “sense before transmit” or “listen before talk.”</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CSMA can reduce the possibility of collision, but it cannot eliminate it.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The possibility of collision still exists because of propagation delay - when a station sends a frame, it still takes time (although very short) for the first bit to reach every station and for every station to sense it. In other words, a station may sense the medium and find it idle, only because the first bit sent by another station has not yet been received.</a:t>
            </a:r>
            <a:endParaRPr lang="en-US" altLang="en-US" sz="4400" dirty="0">
              <a:effectLst>
                <a:outerShdw blurRad="38100" dist="38100" dir="2700000" algn="tl">
                  <a:srgbClr val="C0C0C0"/>
                </a:outerShdw>
              </a:effectLst>
              <a:cs typeface="Times New Roman" panose="02020603050405020304" pitchFamily="18" charset="0"/>
            </a:endParaRPr>
          </a:p>
        </p:txBody>
      </p:sp>
    </p:spTree>
    <p:extLst>
      <p:ext uri="{BB962C8B-B14F-4D97-AF65-F5344CB8AC3E}">
        <p14:creationId xmlns:p14="http://schemas.microsoft.com/office/powerpoint/2010/main" xmlns="" val="3045696443"/>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Line 3">
            <a:extLst>
              <a:ext uri="{FF2B5EF4-FFF2-40B4-BE49-F238E27FC236}">
                <a16:creationId xmlns:a16="http://schemas.microsoft.com/office/drawing/2014/main" xmlns="" id="{275BC6A4-8935-9948-0B19-25CEDFEF4466}"/>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1445" name="Text Box 4">
            <a:extLst>
              <a:ext uri="{FF2B5EF4-FFF2-40B4-BE49-F238E27FC236}">
                <a16:creationId xmlns:a16="http://schemas.microsoft.com/office/drawing/2014/main" xmlns="" id="{07636BD6-2901-DEF0-CE3D-607D0345D99E}"/>
              </a:ext>
            </a:extLst>
          </p:cNvPr>
          <p:cNvSpPr txBox="1">
            <a:spLocks noChangeArrowheads="1"/>
          </p:cNvSpPr>
          <p:nvPr/>
        </p:nvSpPr>
        <p:spPr bwMode="auto">
          <a:xfrm>
            <a:off x="1828800" y="381000"/>
            <a:ext cx="576555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i="0" baseline="0" dirty="0">
                <a:solidFill>
                  <a:schemeClr val="folHlink"/>
                </a:solidFill>
              </a:rPr>
              <a:t>Figure: </a:t>
            </a:r>
            <a:r>
              <a:rPr lang="en-US" altLang="en-US" sz="2000" baseline="0" dirty="0"/>
              <a:t>Space/time model of the collision in CSMA</a:t>
            </a:r>
          </a:p>
        </p:txBody>
      </p:sp>
      <p:pic>
        <p:nvPicPr>
          <p:cNvPr id="61447" name="Picture 2">
            <a:extLst>
              <a:ext uri="{FF2B5EF4-FFF2-40B4-BE49-F238E27FC236}">
                <a16:creationId xmlns:a16="http://schemas.microsoft.com/office/drawing/2014/main" xmlns="" id="{1098E3FB-9C70-4628-CE10-AD6F1EFDE761}"/>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858964" y="1066800"/>
            <a:ext cx="8351837" cy="3748088"/>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pic>
      <p:sp>
        <p:nvSpPr>
          <p:cNvPr id="61448" name="TextBox 3">
            <a:extLst>
              <a:ext uri="{FF2B5EF4-FFF2-40B4-BE49-F238E27FC236}">
                <a16:creationId xmlns:a16="http://schemas.microsoft.com/office/drawing/2014/main" xmlns="" id="{07609852-6C2A-1561-8703-B316E56D5A93}"/>
              </a:ext>
            </a:extLst>
          </p:cNvPr>
          <p:cNvSpPr txBox="1">
            <a:spLocks noChangeArrowheads="1"/>
          </p:cNvSpPr>
          <p:nvPr/>
        </p:nvSpPr>
        <p:spPr bwMode="auto">
          <a:xfrm>
            <a:off x="1524000" y="4953000"/>
            <a:ext cx="9144000" cy="1200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sz="1800" b="0" i="0" baseline="0">
                <a:latin typeface="Times-Roman"/>
              </a:rPr>
              <a:t>At time </a:t>
            </a:r>
            <a:r>
              <a:rPr lang="en-US" altLang="en-US" sz="1800" b="0" baseline="0">
                <a:latin typeface="Times-Italic"/>
              </a:rPr>
              <a:t>t</a:t>
            </a:r>
            <a:r>
              <a:rPr lang="en-US" altLang="en-US" sz="1800" b="0" i="0" baseline="0">
                <a:latin typeface="Times-Roman"/>
              </a:rPr>
              <a:t>1, station B senses the medium and finds it idle, so it sends a frame. At time </a:t>
            </a:r>
            <a:r>
              <a:rPr lang="en-US" altLang="en-US" sz="1800" b="0" baseline="0">
                <a:latin typeface="Times-Italic"/>
              </a:rPr>
              <a:t>t</a:t>
            </a:r>
            <a:r>
              <a:rPr lang="en-US" altLang="en-US" sz="1800" b="0" i="0" baseline="0">
                <a:latin typeface="Times-Roman"/>
              </a:rPr>
              <a:t>2 (</a:t>
            </a:r>
            <a:r>
              <a:rPr lang="en-US" altLang="en-US" sz="1800" b="0" baseline="0">
                <a:latin typeface="Times-Italic"/>
              </a:rPr>
              <a:t>t</a:t>
            </a:r>
            <a:r>
              <a:rPr lang="en-US" altLang="en-US" sz="1800" b="0" i="0" baseline="0">
                <a:latin typeface="Times-Roman"/>
              </a:rPr>
              <a:t>2 &gt; </a:t>
            </a:r>
            <a:r>
              <a:rPr lang="en-US" altLang="en-US" sz="1800" b="0" baseline="0">
                <a:latin typeface="Times-Italic"/>
              </a:rPr>
              <a:t>t</a:t>
            </a:r>
            <a:r>
              <a:rPr lang="en-US" altLang="en-US" sz="1800" b="0" i="0" baseline="0">
                <a:latin typeface="Times-Roman"/>
              </a:rPr>
              <a:t>1), station C senses the medium and finds it idle because, at this time, the first bits from station B have not reached station C. Station C also sends a frame. The two signals collide and both frames are destroyed.</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Line 3">
            <a:extLst>
              <a:ext uri="{FF2B5EF4-FFF2-40B4-BE49-F238E27FC236}">
                <a16:creationId xmlns:a16="http://schemas.microsoft.com/office/drawing/2014/main" xmlns="" id="{C6423FC0-D88F-2CC0-5AAE-41F64B2B64E5}"/>
              </a:ext>
            </a:extLst>
          </p:cNvPr>
          <p:cNvSpPr>
            <a:spLocks noChangeShapeType="1"/>
          </p:cNvSpPr>
          <p:nvPr/>
        </p:nvSpPr>
        <p:spPr bwMode="auto">
          <a:xfrm>
            <a:off x="472281" y="567044"/>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3493" name="Text Box 4">
            <a:extLst>
              <a:ext uri="{FF2B5EF4-FFF2-40B4-BE49-F238E27FC236}">
                <a16:creationId xmlns:a16="http://schemas.microsoft.com/office/drawing/2014/main" xmlns="" id="{532D5A66-AA2C-A70E-FDC0-F7FF223E2B8D}"/>
              </a:ext>
            </a:extLst>
          </p:cNvPr>
          <p:cNvSpPr txBox="1">
            <a:spLocks noChangeArrowheads="1"/>
          </p:cNvSpPr>
          <p:nvPr/>
        </p:nvSpPr>
        <p:spPr bwMode="auto">
          <a:xfrm>
            <a:off x="472281" y="99219"/>
            <a:ext cx="3475038"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Vulnerable time in CSMA</a:t>
            </a:r>
          </a:p>
        </p:txBody>
      </p:sp>
      <p:sp>
        <p:nvSpPr>
          <p:cNvPr id="63495" name="TextBox 3">
            <a:extLst>
              <a:ext uri="{FF2B5EF4-FFF2-40B4-BE49-F238E27FC236}">
                <a16:creationId xmlns:a16="http://schemas.microsoft.com/office/drawing/2014/main" xmlns="" id="{266EEC77-CB5E-5870-8F1A-A552932FBE74}"/>
              </a:ext>
            </a:extLst>
          </p:cNvPr>
          <p:cNvSpPr txBox="1">
            <a:spLocks noChangeArrowheads="1"/>
          </p:cNvSpPr>
          <p:nvPr/>
        </p:nvSpPr>
        <p:spPr bwMode="auto">
          <a:xfrm>
            <a:off x="295423" y="626576"/>
            <a:ext cx="11746522" cy="2246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285750" indent="-28575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buFont typeface="Arial" panose="020B0604020202020204" pitchFamily="34" charset="0"/>
              <a:buChar char="•"/>
            </a:pPr>
            <a:r>
              <a:rPr lang="en-US" altLang="en-US" sz="2000" b="0" i="0" baseline="0" dirty="0">
                <a:latin typeface="Times-Roman"/>
              </a:rPr>
              <a:t>The vulnerable time for CSMA is the </a:t>
            </a:r>
            <a:r>
              <a:rPr lang="en-US" altLang="en-US" sz="2000" baseline="0" dirty="0">
                <a:latin typeface="Times-BoldItalic"/>
              </a:rPr>
              <a:t>propagation time </a:t>
            </a:r>
            <a:r>
              <a:rPr lang="en-US" altLang="en-US" sz="2000" b="0" baseline="0" dirty="0">
                <a:latin typeface="Times-Italic"/>
              </a:rPr>
              <a:t>Tp</a:t>
            </a:r>
            <a:r>
              <a:rPr lang="en-US" altLang="en-US" sz="2000" b="0" i="0" baseline="0" dirty="0">
                <a:latin typeface="Times-Roman"/>
              </a:rPr>
              <a:t>. This is the time needed for a signal to propagate from one end of the medium to the other. </a:t>
            </a:r>
          </a:p>
          <a:p>
            <a:pPr algn="just">
              <a:buFont typeface="Arial" panose="020B0604020202020204" pitchFamily="34" charset="0"/>
              <a:buChar char="•"/>
            </a:pPr>
            <a:endParaRPr lang="en-US" altLang="en-US" sz="2000" b="0" i="0" baseline="0" dirty="0">
              <a:latin typeface="Times-Roman"/>
            </a:endParaRPr>
          </a:p>
          <a:p>
            <a:pPr algn="just">
              <a:buFont typeface="Arial" panose="020B0604020202020204" pitchFamily="34" charset="0"/>
              <a:buChar char="•"/>
            </a:pPr>
            <a:r>
              <a:rPr lang="en-US" altLang="en-US" sz="2000" b="0" i="0" baseline="0" dirty="0">
                <a:latin typeface="Times-Roman"/>
              </a:rPr>
              <a:t>When a station sends a frame and any other station tries to send a frame during this time, a collision will result. </a:t>
            </a:r>
          </a:p>
          <a:p>
            <a:pPr algn="just">
              <a:buFont typeface="Arial" panose="020B0604020202020204" pitchFamily="34" charset="0"/>
              <a:buChar char="•"/>
            </a:pPr>
            <a:endParaRPr lang="en-US" altLang="en-US" sz="2000" b="0" i="0" baseline="0" dirty="0">
              <a:latin typeface="Times-Roman"/>
            </a:endParaRPr>
          </a:p>
          <a:p>
            <a:pPr algn="just">
              <a:buFont typeface="Arial" panose="020B0604020202020204" pitchFamily="34" charset="0"/>
              <a:buChar char="•"/>
            </a:pPr>
            <a:r>
              <a:rPr lang="en-US" altLang="en-US" sz="2000" b="0" i="0" baseline="0" dirty="0">
                <a:latin typeface="Times-Roman"/>
              </a:rPr>
              <a:t>But if the first bit of the frame reaches the end of the medium, every station will already have heard the bit and will refrain from sending. </a:t>
            </a:r>
          </a:p>
        </p:txBody>
      </p:sp>
      <p:pic>
        <p:nvPicPr>
          <p:cNvPr id="2" name="Picture 2">
            <a:extLst>
              <a:ext uri="{FF2B5EF4-FFF2-40B4-BE49-F238E27FC236}">
                <a16:creationId xmlns:a16="http://schemas.microsoft.com/office/drawing/2014/main" xmlns="" id="{2955BEFB-E8E4-674F-0089-8AC2CAB6249F}"/>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616590" y="2932876"/>
            <a:ext cx="8473440" cy="3118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TextBox 4">
            <a:extLst>
              <a:ext uri="{FF2B5EF4-FFF2-40B4-BE49-F238E27FC236}">
                <a16:creationId xmlns:a16="http://schemas.microsoft.com/office/drawing/2014/main" xmlns="" id="{C2E21295-DE39-6CC6-72EC-E6822858F860}"/>
              </a:ext>
            </a:extLst>
          </p:cNvPr>
          <p:cNvSpPr txBox="1">
            <a:spLocks noChangeArrowheads="1"/>
          </p:cNvSpPr>
          <p:nvPr/>
        </p:nvSpPr>
        <p:spPr bwMode="auto">
          <a:xfrm>
            <a:off x="295423" y="6231424"/>
            <a:ext cx="12379568"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42900" indent="-34290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buFont typeface="Arial" panose="020B0604020202020204" pitchFamily="34" charset="0"/>
              <a:buChar char="•"/>
            </a:pPr>
            <a:r>
              <a:rPr lang="en-US" altLang="en-US" sz="2000" b="0" baseline="0" dirty="0">
                <a:latin typeface="Times-Roman"/>
              </a:rPr>
              <a:t>The leftmost station, A, sends a frame at time t1, which reaches the rightmost station, D, at time t1 + Tp.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Line 3">
            <a:extLst>
              <a:ext uri="{FF2B5EF4-FFF2-40B4-BE49-F238E27FC236}">
                <a16:creationId xmlns:a16="http://schemas.microsoft.com/office/drawing/2014/main" xmlns="" id="{20B0288F-C645-44FC-AE1F-E50632C0F314}"/>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7589" name="Text Box 4">
            <a:extLst>
              <a:ext uri="{FF2B5EF4-FFF2-40B4-BE49-F238E27FC236}">
                <a16:creationId xmlns:a16="http://schemas.microsoft.com/office/drawing/2014/main" xmlns="" id="{5932DC64-C3F2-3033-6FB7-97E57A055894}"/>
              </a:ext>
            </a:extLst>
          </p:cNvPr>
          <p:cNvSpPr txBox="1">
            <a:spLocks noChangeArrowheads="1"/>
          </p:cNvSpPr>
          <p:nvPr/>
        </p:nvSpPr>
        <p:spPr bwMode="auto">
          <a:xfrm>
            <a:off x="1828801" y="381001"/>
            <a:ext cx="370681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CSMA Persistence Methods</a:t>
            </a:r>
          </a:p>
        </p:txBody>
      </p:sp>
      <p:sp>
        <p:nvSpPr>
          <p:cNvPr id="67590" name="Line 5">
            <a:extLst>
              <a:ext uri="{FF2B5EF4-FFF2-40B4-BE49-F238E27FC236}">
                <a16:creationId xmlns:a16="http://schemas.microsoft.com/office/drawing/2014/main" xmlns="" id="{05ABA8F6-C7B4-7996-C66E-BE7D54B5A9C5}"/>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4" name="TextBox 3">
            <a:extLst>
              <a:ext uri="{FF2B5EF4-FFF2-40B4-BE49-F238E27FC236}">
                <a16:creationId xmlns:a16="http://schemas.microsoft.com/office/drawing/2014/main" xmlns="" id="{7A4D9AC9-5C17-687C-CFAC-F39B56E7E170}"/>
              </a:ext>
            </a:extLst>
          </p:cNvPr>
          <p:cNvSpPr txBox="1"/>
          <p:nvPr/>
        </p:nvSpPr>
        <p:spPr>
          <a:xfrm>
            <a:off x="1509933" y="1608797"/>
            <a:ext cx="8763000" cy="3416300"/>
          </a:xfrm>
          <a:prstGeom prst="rect">
            <a:avLst/>
          </a:prstGeom>
          <a:noFill/>
        </p:spPr>
        <p:txBody>
          <a:bodyPr>
            <a:spAutoFit/>
          </a:bodyPr>
          <a:lstStyle/>
          <a:p>
            <a:pPr marL="342900" indent="-342900">
              <a:buFont typeface="Arial" panose="020B0604020202020204" pitchFamily="34" charset="0"/>
              <a:buChar char="•"/>
              <a:defRPr/>
            </a:pPr>
            <a:r>
              <a:rPr lang="en-US" sz="2400" dirty="0">
                <a:solidFill>
                  <a:srgbClr val="FF0000"/>
                </a:solidFill>
                <a:latin typeface="Times-Roman"/>
              </a:rPr>
              <a:t>What should a station do if the channel is busy? </a:t>
            </a:r>
          </a:p>
          <a:p>
            <a:pPr marL="342900" indent="-342900">
              <a:buFont typeface="Arial" panose="020B0604020202020204" pitchFamily="34" charset="0"/>
              <a:buChar char="•"/>
              <a:defRPr/>
            </a:pPr>
            <a:endParaRPr lang="en-US" sz="2400" dirty="0">
              <a:solidFill>
                <a:srgbClr val="FF0000"/>
              </a:solidFill>
              <a:latin typeface="Times-Roman"/>
            </a:endParaRPr>
          </a:p>
          <a:p>
            <a:pPr marL="342900" indent="-342900">
              <a:buFont typeface="Arial" panose="020B0604020202020204" pitchFamily="34" charset="0"/>
              <a:buChar char="•"/>
              <a:defRPr/>
            </a:pPr>
            <a:r>
              <a:rPr lang="en-US" sz="2400" dirty="0">
                <a:solidFill>
                  <a:srgbClr val="FF0000"/>
                </a:solidFill>
                <a:latin typeface="Times-Roman"/>
              </a:rPr>
              <a:t>What should a station do if the channel is idle? </a:t>
            </a:r>
          </a:p>
          <a:p>
            <a:pPr marL="342900" indent="-342900">
              <a:buFont typeface="Arial" panose="020B0604020202020204" pitchFamily="34" charset="0"/>
              <a:buChar char="•"/>
              <a:defRPr/>
            </a:pPr>
            <a:endParaRPr lang="en-US" sz="2400" dirty="0">
              <a:solidFill>
                <a:srgbClr val="FF0000"/>
              </a:solidFill>
              <a:latin typeface="Times-Roman"/>
            </a:endParaRPr>
          </a:p>
          <a:p>
            <a:pPr marL="342900" indent="-342900">
              <a:buFont typeface="Arial" panose="020B0604020202020204" pitchFamily="34" charset="0"/>
              <a:buChar char="•"/>
              <a:defRPr/>
            </a:pPr>
            <a:r>
              <a:rPr lang="en-US" sz="2400" dirty="0">
                <a:latin typeface="Times-Roman"/>
              </a:rPr>
              <a:t>Three methods have been devised to answer these questions: </a:t>
            </a:r>
          </a:p>
          <a:p>
            <a:pPr marL="1423988" indent="120650">
              <a:buFont typeface="Wingdings" panose="05000000000000000000" pitchFamily="2" charset="2"/>
              <a:buChar char="Ø"/>
              <a:defRPr/>
            </a:pPr>
            <a:r>
              <a:rPr lang="en-US" sz="2400" dirty="0">
                <a:latin typeface="Times-Roman"/>
              </a:rPr>
              <a:t>	1-persistent method</a:t>
            </a:r>
          </a:p>
          <a:p>
            <a:pPr marL="1423988" indent="120650">
              <a:buFont typeface="Wingdings" panose="05000000000000000000" pitchFamily="2" charset="2"/>
              <a:buChar char="Ø"/>
              <a:defRPr/>
            </a:pPr>
            <a:r>
              <a:rPr lang="en-US" sz="2400" dirty="0">
                <a:latin typeface="Times-Roman"/>
              </a:rPr>
              <a:t>	Non-persistent method</a:t>
            </a:r>
          </a:p>
          <a:p>
            <a:pPr marL="1423988" indent="120650">
              <a:buFont typeface="Wingdings" panose="05000000000000000000" pitchFamily="2" charset="2"/>
              <a:buChar char="Ø"/>
              <a:defRPr/>
            </a:pPr>
            <a:r>
              <a:rPr lang="en-US" sz="2400" dirty="0">
                <a:latin typeface="Times-Roman"/>
              </a:rPr>
              <a:t>	p-persistent method. </a:t>
            </a:r>
          </a:p>
          <a:p>
            <a:pPr>
              <a:defRPr/>
            </a:pPr>
            <a:endParaRPr lang="en-US" sz="2400" dirty="0">
              <a:latin typeface="Times-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Line 3">
            <a:extLst>
              <a:ext uri="{FF2B5EF4-FFF2-40B4-BE49-F238E27FC236}">
                <a16:creationId xmlns:a16="http://schemas.microsoft.com/office/drawing/2014/main" xmlns="" id="{7DC1FAA0-999E-632D-4B13-EA611FB87EDA}"/>
              </a:ext>
            </a:extLst>
          </p:cNvPr>
          <p:cNvSpPr>
            <a:spLocks noChangeShapeType="1"/>
          </p:cNvSpPr>
          <p:nvPr/>
        </p:nvSpPr>
        <p:spPr bwMode="auto">
          <a:xfrm>
            <a:off x="525194" y="676277"/>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9637" name="Text Box 4">
            <a:extLst>
              <a:ext uri="{FF2B5EF4-FFF2-40B4-BE49-F238E27FC236}">
                <a16:creationId xmlns:a16="http://schemas.microsoft.com/office/drawing/2014/main" xmlns="" id="{6102292F-5D9C-D552-47FF-CB12B8AE60D5}"/>
              </a:ext>
            </a:extLst>
          </p:cNvPr>
          <p:cNvSpPr txBox="1">
            <a:spLocks noChangeArrowheads="1"/>
          </p:cNvSpPr>
          <p:nvPr/>
        </p:nvSpPr>
        <p:spPr bwMode="auto">
          <a:xfrm>
            <a:off x="407963" y="214314"/>
            <a:ext cx="4014788"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CSMA Persistence Methods…</a:t>
            </a:r>
          </a:p>
        </p:txBody>
      </p:sp>
      <p:sp>
        <p:nvSpPr>
          <p:cNvPr id="4" name="TextBox 3">
            <a:extLst>
              <a:ext uri="{FF2B5EF4-FFF2-40B4-BE49-F238E27FC236}">
                <a16:creationId xmlns:a16="http://schemas.microsoft.com/office/drawing/2014/main" xmlns="" id="{39A6BE2C-579F-554B-9FF5-EC71AC15F824}"/>
              </a:ext>
            </a:extLst>
          </p:cNvPr>
          <p:cNvSpPr txBox="1"/>
          <p:nvPr/>
        </p:nvSpPr>
        <p:spPr>
          <a:xfrm>
            <a:off x="525194" y="954037"/>
            <a:ext cx="11141612" cy="1754326"/>
          </a:xfrm>
          <a:prstGeom prst="rect">
            <a:avLst/>
          </a:prstGeom>
          <a:noFill/>
        </p:spPr>
        <p:txBody>
          <a:bodyPr wrap="square">
            <a:spAutoFit/>
          </a:bodyPr>
          <a:lstStyle/>
          <a:p>
            <a:pPr>
              <a:defRPr/>
            </a:pPr>
            <a:r>
              <a:rPr lang="en-US" sz="2400" dirty="0">
                <a:solidFill>
                  <a:srgbClr val="FF0000"/>
                </a:solidFill>
                <a:latin typeface="Times-Roman"/>
              </a:rPr>
              <a:t>1-persistent Method:</a:t>
            </a:r>
          </a:p>
          <a:p>
            <a:pPr marL="342900" indent="-342900">
              <a:buFont typeface="Arial" panose="020B0604020202020204" pitchFamily="34" charset="0"/>
              <a:buChar char="•"/>
              <a:defRPr/>
            </a:pPr>
            <a:r>
              <a:rPr lang="en-US" sz="2000" dirty="0">
                <a:latin typeface="Times-Roman"/>
              </a:rPr>
              <a:t>The 1-persistent method is simple and straightforward. </a:t>
            </a:r>
          </a:p>
          <a:p>
            <a:pPr marL="342900" indent="-342900">
              <a:buFont typeface="Arial" panose="020B0604020202020204" pitchFamily="34" charset="0"/>
              <a:buChar char="•"/>
              <a:defRPr/>
            </a:pPr>
            <a:r>
              <a:rPr lang="en-US" sz="2000" dirty="0">
                <a:latin typeface="Times-Roman"/>
              </a:rPr>
              <a:t>In this method, after the station finds the line idle, it sends its frame immediately (with probability 1). </a:t>
            </a:r>
          </a:p>
          <a:p>
            <a:pPr>
              <a:defRPr/>
            </a:pPr>
            <a:endParaRPr lang="en-US" sz="2000" dirty="0">
              <a:solidFill>
                <a:srgbClr val="FF0000"/>
              </a:solidFill>
              <a:latin typeface="Times-Roman"/>
            </a:endParaRPr>
          </a:p>
          <a:p>
            <a:pPr>
              <a:defRPr/>
            </a:pPr>
            <a:endParaRPr lang="en-US" sz="2400" dirty="0">
              <a:latin typeface="Times-Roman"/>
            </a:endParaRPr>
          </a:p>
        </p:txBody>
      </p:sp>
      <p:pic>
        <p:nvPicPr>
          <p:cNvPr id="69640" name="Picture 2">
            <a:extLst>
              <a:ext uri="{FF2B5EF4-FFF2-40B4-BE49-F238E27FC236}">
                <a16:creationId xmlns:a16="http://schemas.microsoft.com/office/drawing/2014/main" xmlns="" id="{A5741463-5F73-3530-03AA-34350A3340FE}"/>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119438" y="2622594"/>
            <a:ext cx="5554662" cy="27289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9641" name="TextBox 4">
            <a:extLst>
              <a:ext uri="{FF2B5EF4-FFF2-40B4-BE49-F238E27FC236}">
                <a16:creationId xmlns:a16="http://schemas.microsoft.com/office/drawing/2014/main" xmlns="" id="{A1EF616E-203E-F197-92B0-1A468B09DD12}"/>
              </a:ext>
            </a:extLst>
          </p:cNvPr>
          <p:cNvSpPr txBox="1">
            <a:spLocks noChangeArrowheads="1"/>
          </p:cNvSpPr>
          <p:nvPr/>
        </p:nvSpPr>
        <p:spPr bwMode="auto">
          <a:xfrm>
            <a:off x="679938" y="5648464"/>
            <a:ext cx="10832123"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sz="2000" b="0" i="0" baseline="0" dirty="0">
                <a:latin typeface="Times-Roman"/>
              </a:rPr>
              <a:t>This method has the highest chance of collision because two or more stations may find the line idle and send their frames immediately.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Line 3">
            <a:extLst>
              <a:ext uri="{FF2B5EF4-FFF2-40B4-BE49-F238E27FC236}">
                <a16:creationId xmlns:a16="http://schemas.microsoft.com/office/drawing/2014/main" xmlns="" id="{BECA6315-731C-925E-7361-F4B650E38DBC}"/>
              </a:ext>
            </a:extLst>
          </p:cNvPr>
          <p:cNvSpPr>
            <a:spLocks noChangeShapeType="1"/>
          </p:cNvSpPr>
          <p:nvPr/>
        </p:nvSpPr>
        <p:spPr bwMode="auto">
          <a:xfrm>
            <a:off x="485336" y="743744"/>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1685" name="Text Box 4">
            <a:extLst>
              <a:ext uri="{FF2B5EF4-FFF2-40B4-BE49-F238E27FC236}">
                <a16:creationId xmlns:a16="http://schemas.microsoft.com/office/drawing/2014/main" xmlns="" id="{38F10C51-02CB-62A6-1CB0-1AAE3C6E11AC}"/>
              </a:ext>
            </a:extLst>
          </p:cNvPr>
          <p:cNvSpPr txBox="1">
            <a:spLocks noChangeArrowheads="1"/>
          </p:cNvSpPr>
          <p:nvPr/>
        </p:nvSpPr>
        <p:spPr bwMode="auto">
          <a:xfrm>
            <a:off x="520505" y="205581"/>
            <a:ext cx="4092575"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CSMA Persistence Methods… </a:t>
            </a:r>
          </a:p>
        </p:txBody>
      </p:sp>
      <p:sp>
        <p:nvSpPr>
          <p:cNvPr id="4" name="TextBox 3">
            <a:extLst>
              <a:ext uri="{FF2B5EF4-FFF2-40B4-BE49-F238E27FC236}">
                <a16:creationId xmlns:a16="http://schemas.microsoft.com/office/drawing/2014/main" xmlns="" id="{10A6EDD9-93A0-8234-ECB9-38583E0E472C}"/>
              </a:ext>
            </a:extLst>
          </p:cNvPr>
          <p:cNvSpPr txBox="1"/>
          <p:nvPr/>
        </p:nvSpPr>
        <p:spPr>
          <a:xfrm>
            <a:off x="520505" y="1175369"/>
            <a:ext cx="10916529" cy="1431161"/>
          </a:xfrm>
          <a:prstGeom prst="rect">
            <a:avLst/>
          </a:prstGeom>
          <a:noFill/>
        </p:spPr>
        <p:txBody>
          <a:bodyPr wrap="square">
            <a:spAutoFit/>
          </a:bodyPr>
          <a:lstStyle/>
          <a:p>
            <a:pPr>
              <a:defRPr/>
            </a:pPr>
            <a:r>
              <a:rPr lang="en-US" sz="2000" dirty="0">
                <a:solidFill>
                  <a:srgbClr val="FF0000"/>
                </a:solidFill>
                <a:latin typeface="Times-Roman"/>
              </a:rPr>
              <a:t>Non-persistent Method:</a:t>
            </a:r>
          </a:p>
          <a:p>
            <a:pPr>
              <a:defRPr/>
            </a:pPr>
            <a:endParaRPr lang="en-US" sz="700" dirty="0">
              <a:solidFill>
                <a:srgbClr val="FF0000"/>
              </a:solidFill>
              <a:latin typeface="Times-Roman"/>
            </a:endParaRPr>
          </a:p>
          <a:p>
            <a:pPr marL="285750" indent="-285750" algn="just">
              <a:buFont typeface="Arial" panose="020B0604020202020204" pitchFamily="34" charset="0"/>
              <a:buChar char="•"/>
              <a:defRPr/>
            </a:pPr>
            <a:r>
              <a:rPr lang="en-US" sz="2000" dirty="0">
                <a:latin typeface="Times-Roman"/>
              </a:rPr>
              <a:t>In the </a:t>
            </a:r>
            <a:r>
              <a:rPr lang="en-US" sz="2000" dirty="0">
                <a:latin typeface="Times-Italic"/>
              </a:rPr>
              <a:t>nonpersistent method, </a:t>
            </a:r>
            <a:r>
              <a:rPr lang="en-US" sz="2000" dirty="0">
                <a:latin typeface="Times-Roman"/>
              </a:rPr>
              <a:t>a station that has a frame to send senses the line. If the line is idle, it sends immediately. </a:t>
            </a:r>
          </a:p>
          <a:p>
            <a:pPr marL="285750" indent="-285750" algn="just">
              <a:buFont typeface="Arial" panose="020B0604020202020204" pitchFamily="34" charset="0"/>
              <a:buChar char="•"/>
              <a:defRPr/>
            </a:pPr>
            <a:r>
              <a:rPr lang="en-US" sz="2000" dirty="0">
                <a:latin typeface="Times-Roman"/>
              </a:rPr>
              <a:t>If the line is not idle, it waits a random amount of time and then senses the line again. </a:t>
            </a:r>
            <a:endParaRPr lang="en-US" sz="2800" dirty="0">
              <a:latin typeface="Times-Roman"/>
            </a:endParaRPr>
          </a:p>
        </p:txBody>
      </p:sp>
      <p:sp>
        <p:nvSpPr>
          <p:cNvPr id="71688" name="TextBox 4">
            <a:extLst>
              <a:ext uri="{FF2B5EF4-FFF2-40B4-BE49-F238E27FC236}">
                <a16:creationId xmlns:a16="http://schemas.microsoft.com/office/drawing/2014/main" xmlns="" id="{9FBDBC4B-D548-DA9C-6875-BBD2BC744ADF}"/>
              </a:ext>
            </a:extLst>
          </p:cNvPr>
          <p:cNvSpPr txBox="1">
            <a:spLocks noChangeArrowheads="1"/>
          </p:cNvSpPr>
          <p:nvPr/>
        </p:nvSpPr>
        <p:spPr bwMode="auto">
          <a:xfrm>
            <a:off x="520505" y="4933394"/>
            <a:ext cx="10916528" cy="1477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285750" indent="-28575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buFont typeface="Arial" panose="020B0604020202020204" pitchFamily="34" charset="0"/>
              <a:buChar char="•"/>
            </a:pPr>
            <a:r>
              <a:rPr lang="en-US" altLang="en-US" sz="1800" b="0" baseline="0" dirty="0">
                <a:latin typeface="Times-Italic"/>
              </a:rPr>
              <a:t>The nonpersistent approach reduces the chance of collision because it is unlikely that two or more stations will wait the same amount of time and retry to send simultaneously. </a:t>
            </a:r>
          </a:p>
          <a:p>
            <a:pPr algn="just">
              <a:buFont typeface="Arial" panose="020B0604020202020204" pitchFamily="34" charset="0"/>
              <a:buChar char="•"/>
            </a:pPr>
            <a:endParaRPr lang="en-US" altLang="en-US" sz="1800" b="0" baseline="0" dirty="0">
              <a:latin typeface="Times-Italic"/>
            </a:endParaRPr>
          </a:p>
          <a:p>
            <a:pPr algn="just">
              <a:buFont typeface="Arial" panose="020B0604020202020204" pitchFamily="34" charset="0"/>
              <a:buChar char="•"/>
            </a:pPr>
            <a:r>
              <a:rPr lang="en-US" altLang="en-US" sz="1800" b="0" baseline="0" dirty="0">
                <a:latin typeface="Times-Italic"/>
              </a:rPr>
              <a:t>However, this method reduces the efficiency of the network because the medium remains idle when there may be stations with frames to send.</a:t>
            </a:r>
          </a:p>
        </p:txBody>
      </p:sp>
      <p:pic>
        <p:nvPicPr>
          <p:cNvPr id="71689" name="Picture 5">
            <a:extLst>
              <a:ext uri="{FF2B5EF4-FFF2-40B4-BE49-F238E27FC236}">
                <a16:creationId xmlns:a16="http://schemas.microsoft.com/office/drawing/2014/main" xmlns="" id="{C346C7B2-89F0-6AD1-FD6B-1AE24C03B33B}"/>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3360738" y="2737392"/>
            <a:ext cx="5554662" cy="2003425"/>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Line 3">
            <a:extLst>
              <a:ext uri="{FF2B5EF4-FFF2-40B4-BE49-F238E27FC236}">
                <a16:creationId xmlns:a16="http://schemas.microsoft.com/office/drawing/2014/main" xmlns="" id="{C3D680B0-682C-C508-9449-37127537EE43}"/>
              </a:ext>
            </a:extLst>
          </p:cNvPr>
          <p:cNvSpPr>
            <a:spLocks noChangeShapeType="1"/>
          </p:cNvSpPr>
          <p:nvPr/>
        </p:nvSpPr>
        <p:spPr bwMode="auto">
          <a:xfrm>
            <a:off x="573307" y="863991"/>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3733" name="Text Box 4">
            <a:extLst>
              <a:ext uri="{FF2B5EF4-FFF2-40B4-BE49-F238E27FC236}">
                <a16:creationId xmlns:a16="http://schemas.microsoft.com/office/drawing/2014/main" xmlns="" id="{D46874D0-67B5-53C8-AB74-0357BE6361E0}"/>
              </a:ext>
            </a:extLst>
          </p:cNvPr>
          <p:cNvSpPr txBox="1">
            <a:spLocks noChangeArrowheads="1"/>
          </p:cNvSpPr>
          <p:nvPr/>
        </p:nvSpPr>
        <p:spPr bwMode="auto">
          <a:xfrm>
            <a:off x="464234" y="243681"/>
            <a:ext cx="426720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CSMA Persistence Methods…</a:t>
            </a:r>
          </a:p>
        </p:txBody>
      </p:sp>
      <p:sp>
        <p:nvSpPr>
          <p:cNvPr id="73734" name="Line 5">
            <a:extLst>
              <a:ext uri="{FF2B5EF4-FFF2-40B4-BE49-F238E27FC236}">
                <a16:creationId xmlns:a16="http://schemas.microsoft.com/office/drawing/2014/main" xmlns="" id="{538AF584-9AF6-C93D-66B8-BB3F64B9D3F3}"/>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4" name="TextBox 3">
            <a:extLst>
              <a:ext uri="{FF2B5EF4-FFF2-40B4-BE49-F238E27FC236}">
                <a16:creationId xmlns:a16="http://schemas.microsoft.com/office/drawing/2014/main" xmlns="" id="{CCC13FAA-30A1-A3D4-BFFD-9404EE53832A}"/>
              </a:ext>
            </a:extLst>
          </p:cNvPr>
          <p:cNvSpPr txBox="1"/>
          <p:nvPr/>
        </p:nvSpPr>
        <p:spPr>
          <a:xfrm>
            <a:off x="573306" y="926822"/>
            <a:ext cx="11032539" cy="2954655"/>
          </a:xfrm>
          <a:prstGeom prst="rect">
            <a:avLst/>
          </a:prstGeom>
          <a:noFill/>
        </p:spPr>
        <p:txBody>
          <a:bodyPr wrap="square">
            <a:spAutoFit/>
          </a:bodyPr>
          <a:lstStyle/>
          <a:p>
            <a:pPr>
              <a:defRPr/>
            </a:pPr>
            <a:r>
              <a:rPr lang="en-US" dirty="0">
                <a:solidFill>
                  <a:srgbClr val="FF0000"/>
                </a:solidFill>
                <a:latin typeface="Times-Roman"/>
              </a:rPr>
              <a:t>p-persistent Method:</a:t>
            </a:r>
          </a:p>
          <a:p>
            <a:pPr>
              <a:defRPr/>
            </a:pPr>
            <a:endParaRPr lang="en-US" sz="600" dirty="0">
              <a:solidFill>
                <a:srgbClr val="FF0000"/>
              </a:solidFill>
              <a:latin typeface="Times-Roman"/>
            </a:endParaRPr>
          </a:p>
          <a:p>
            <a:pPr marL="285750" indent="-285750" algn="just">
              <a:buFont typeface="Arial" panose="020B0604020202020204" pitchFamily="34" charset="0"/>
              <a:buChar char="•"/>
              <a:defRPr/>
            </a:pPr>
            <a:r>
              <a:rPr lang="en-US" dirty="0">
                <a:solidFill>
                  <a:srgbClr val="000000"/>
                </a:solidFill>
                <a:latin typeface="Times-Roman"/>
              </a:rPr>
              <a:t>The p</a:t>
            </a:r>
            <a:r>
              <a:rPr lang="en-US" dirty="0">
                <a:solidFill>
                  <a:srgbClr val="000000"/>
                </a:solidFill>
                <a:latin typeface="Times-Italic"/>
              </a:rPr>
              <a:t>-persistent method </a:t>
            </a:r>
            <a:r>
              <a:rPr lang="en-US" dirty="0">
                <a:solidFill>
                  <a:srgbClr val="000000"/>
                </a:solidFill>
                <a:latin typeface="Times-Roman"/>
              </a:rPr>
              <a:t>is used if the channel has time slots with a slot duration equal to or greater than the maximum propagation time. </a:t>
            </a:r>
          </a:p>
          <a:p>
            <a:pPr marL="285750" indent="-285750" algn="just">
              <a:buFont typeface="Arial" panose="020B0604020202020204" pitchFamily="34" charset="0"/>
              <a:buChar char="•"/>
              <a:defRPr/>
            </a:pPr>
            <a:r>
              <a:rPr lang="en-US" dirty="0">
                <a:solidFill>
                  <a:srgbClr val="000000"/>
                </a:solidFill>
                <a:latin typeface="Times-Roman"/>
              </a:rPr>
              <a:t>The </a:t>
            </a:r>
            <a:r>
              <a:rPr lang="en-US" dirty="0">
                <a:solidFill>
                  <a:srgbClr val="000000"/>
                </a:solidFill>
                <a:latin typeface="Times-Italic"/>
              </a:rPr>
              <a:t>p</a:t>
            </a:r>
            <a:r>
              <a:rPr lang="en-US" dirty="0">
                <a:solidFill>
                  <a:srgbClr val="000000"/>
                </a:solidFill>
                <a:latin typeface="Times-Roman"/>
              </a:rPr>
              <a:t>-persistent approach combines the advantages of the other two strategies. </a:t>
            </a:r>
          </a:p>
          <a:p>
            <a:pPr marL="285750" indent="-285750" algn="just">
              <a:buFont typeface="Arial" panose="020B0604020202020204" pitchFamily="34" charset="0"/>
              <a:buChar char="•"/>
              <a:defRPr/>
            </a:pPr>
            <a:r>
              <a:rPr lang="en-US" dirty="0">
                <a:solidFill>
                  <a:srgbClr val="000000"/>
                </a:solidFill>
                <a:latin typeface="Times-Roman"/>
              </a:rPr>
              <a:t>It reduces the chance of collision and improves efficiency.</a:t>
            </a:r>
          </a:p>
          <a:p>
            <a:pPr marL="285750" indent="-285750" algn="just">
              <a:buFont typeface="Arial" panose="020B0604020202020204" pitchFamily="34" charset="0"/>
              <a:buChar char="•"/>
              <a:defRPr/>
            </a:pPr>
            <a:r>
              <a:rPr lang="en-US" dirty="0">
                <a:solidFill>
                  <a:srgbClr val="000000"/>
                </a:solidFill>
                <a:latin typeface="Times-Roman"/>
              </a:rPr>
              <a:t> In this method, after the station finds the line idle it follows these steps:</a:t>
            </a:r>
          </a:p>
          <a:p>
            <a:pPr algn="just">
              <a:defRPr/>
            </a:pPr>
            <a:r>
              <a:rPr lang="en-US" dirty="0">
                <a:solidFill>
                  <a:srgbClr val="00FFFF"/>
                </a:solidFill>
                <a:latin typeface="Times-Bold"/>
              </a:rPr>
              <a:t>       1. </a:t>
            </a:r>
            <a:r>
              <a:rPr lang="en-US" dirty="0">
                <a:solidFill>
                  <a:srgbClr val="000000"/>
                </a:solidFill>
                <a:latin typeface="Times-Roman"/>
              </a:rPr>
              <a:t>With probability </a:t>
            </a:r>
            <a:r>
              <a:rPr lang="en-US" dirty="0">
                <a:solidFill>
                  <a:srgbClr val="000000"/>
                </a:solidFill>
                <a:latin typeface="Times-Italic"/>
              </a:rPr>
              <a:t>p</a:t>
            </a:r>
            <a:r>
              <a:rPr lang="en-US" dirty="0">
                <a:solidFill>
                  <a:srgbClr val="000000"/>
                </a:solidFill>
                <a:latin typeface="Times-Roman"/>
              </a:rPr>
              <a:t>, the station sends its frame.</a:t>
            </a:r>
          </a:p>
          <a:p>
            <a:pPr algn="just">
              <a:defRPr/>
            </a:pPr>
            <a:r>
              <a:rPr lang="en-US" dirty="0">
                <a:solidFill>
                  <a:srgbClr val="00FFFF"/>
                </a:solidFill>
                <a:latin typeface="Times-Bold"/>
              </a:rPr>
              <a:t>       2. </a:t>
            </a:r>
            <a:r>
              <a:rPr lang="en-US" dirty="0">
                <a:solidFill>
                  <a:srgbClr val="000000"/>
                </a:solidFill>
                <a:latin typeface="Times-Roman"/>
              </a:rPr>
              <a:t>With probability </a:t>
            </a:r>
            <a:r>
              <a:rPr lang="en-US" dirty="0">
                <a:solidFill>
                  <a:srgbClr val="000000"/>
                </a:solidFill>
                <a:latin typeface="Times-Italic"/>
              </a:rPr>
              <a:t>q </a:t>
            </a:r>
            <a:r>
              <a:rPr lang="en-US" dirty="0">
                <a:solidFill>
                  <a:srgbClr val="000000"/>
                </a:solidFill>
                <a:latin typeface="Symbol" panose="05050102010706020507" pitchFamily="18" charset="2"/>
              </a:rPr>
              <a:t>= </a:t>
            </a:r>
            <a:r>
              <a:rPr lang="en-US" dirty="0">
                <a:solidFill>
                  <a:srgbClr val="000000"/>
                </a:solidFill>
                <a:latin typeface="Times-Roman"/>
              </a:rPr>
              <a:t>1 -</a:t>
            </a:r>
            <a:r>
              <a:rPr lang="en-US" dirty="0">
                <a:solidFill>
                  <a:srgbClr val="000000"/>
                </a:solidFill>
                <a:latin typeface="Symbol" panose="05050102010706020507" pitchFamily="18" charset="2"/>
              </a:rPr>
              <a:t> </a:t>
            </a:r>
            <a:r>
              <a:rPr lang="en-US" dirty="0">
                <a:solidFill>
                  <a:srgbClr val="000000"/>
                </a:solidFill>
                <a:latin typeface="Times-Italic"/>
              </a:rPr>
              <a:t>p</a:t>
            </a:r>
            <a:r>
              <a:rPr lang="en-US" dirty="0">
                <a:solidFill>
                  <a:srgbClr val="000000"/>
                </a:solidFill>
                <a:latin typeface="Times-Roman"/>
              </a:rPr>
              <a:t>, the station waits for the beginning of the next time slot and checks the line again.</a:t>
            </a:r>
          </a:p>
          <a:p>
            <a:pPr algn="just">
              <a:defRPr/>
            </a:pPr>
            <a:r>
              <a:rPr lang="en-US" dirty="0">
                <a:solidFill>
                  <a:srgbClr val="000000"/>
                </a:solidFill>
                <a:latin typeface="Times-Roman"/>
              </a:rPr>
              <a:t>	</a:t>
            </a:r>
            <a:r>
              <a:rPr lang="en-US" dirty="0">
                <a:solidFill>
                  <a:srgbClr val="00FFFF"/>
                </a:solidFill>
                <a:latin typeface="Times-Bold"/>
              </a:rPr>
              <a:t>a. </a:t>
            </a:r>
            <a:r>
              <a:rPr lang="en-US" dirty="0">
                <a:solidFill>
                  <a:srgbClr val="000000"/>
                </a:solidFill>
                <a:latin typeface="Times-Roman"/>
              </a:rPr>
              <a:t>If the line is idle, it goes to step 1.	</a:t>
            </a:r>
          </a:p>
          <a:p>
            <a:pPr algn="just">
              <a:defRPr/>
            </a:pPr>
            <a:r>
              <a:rPr lang="en-US" dirty="0">
                <a:solidFill>
                  <a:srgbClr val="000000"/>
                </a:solidFill>
                <a:latin typeface="Times-Roman"/>
              </a:rPr>
              <a:t>	</a:t>
            </a:r>
            <a:r>
              <a:rPr lang="en-US" dirty="0">
                <a:solidFill>
                  <a:srgbClr val="00FFFF"/>
                </a:solidFill>
                <a:latin typeface="Times-Bold"/>
              </a:rPr>
              <a:t>b. </a:t>
            </a:r>
            <a:r>
              <a:rPr lang="en-US" dirty="0">
                <a:solidFill>
                  <a:srgbClr val="000000"/>
                </a:solidFill>
                <a:latin typeface="Times-Roman"/>
              </a:rPr>
              <a:t>If the line is busy, it acts as though a collision has occurred and uses the backoff  procedure.</a:t>
            </a:r>
            <a:endParaRPr lang="en-US" sz="2400" dirty="0">
              <a:latin typeface="Times-Roman"/>
            </a:endParaRPr>
          </a:p>
        </p:txBody>
      </p:sp>
      <p:pic>
        <p:nvPicPr>
          <p:cNvPr id="73736" name="Picture 2">
            <a:extLst>
              <a:ext uri="{FF2B5EF4-FFF2-40B4-BE49-F238E27FC236}">
                <a16:creationId xmlns:a16="http://schemas.microsoft.com/office/drawing/2014/main" xmlns="" id="{640AFCFF-7220-15B3-6BC0-FF2709433A03}"/>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654175" y="4107769"/>
            <a:ext cx="8883650" cy="22860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Line 3">
            <a:extLst>
              <a:ext uri="{FF2B5EF4-FFF2-40B4-BE49-F238E27FC236}">
                <a16:creationId xmlns:a16="http://schemas.microsoft.com/office/drawing/2014/main" xmlns="" id="{5711D19E-9501-6601-7721-1442004086E9}"/>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5781" name="Text Box 4">
            <a:extLst>
              <a:ext uri="{FF2B5EF4-FFF2-40B4-BE49-F238E27FC236}">
                <a16:creationId xmlns:a16="http://schemas.microsoft.com/office/drawing/2014/main" xmlns="" id="{B85CA65F-B215-42BB-00BE-FB3ECBB27B63}"/>
              </a:ext>
            </a:extLst>
          </p:cNvPr>
          <p:cNvSpPr txBox="1">
            <a:spLocks noChangeArrowheads="1"/>
          </p:cNvSpPr>
          <p:nvPr/>
        </p:nvSpPr>
        <p:spPr bwMode="auto">
          <a:xfrm>
            <a:off x="1711326" y="193676"/>
            <a:ext cx="602297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a:solidFill>
                  <a:schemeClr val="tx2"/>
                </a:solidFill>
              </a:rPr>
              <a:t>Flow diagrams of CSMA Persistence Methods</a:t>
            </a:r>
          </a:p>
        </p:txBody>
      </p:sp>
      <p:sp>
        <p:nvSpPr>
          <p:cNvPr id="75782" name="Line 5">
            <a:extLst>
              <a:ext uri="{FF2B5EF4-FFF2-40B4-BE49-F238E27FC236}">
                <a16:creationId xmlns:a16="http://schemas.microsoft.com/office/drawing/2014/main" xmlns="" id="{E193A57C-06CD-F2D6-DC8D-109BF2EE64B1}"/>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pic>
        <p:nvPicPr>
          <p:cNvPr id="75783" name="Picture 2">
            <a:extLst>
              <a:ext uri="{FF2B5EF4-FFF2-40B4-BE49-F238E27FC236}">
                <a16:creationId xmlns:a16="http://schemas.microsoft.com/office/drawing/2014/main" xmlns="" id="{E7E48637-5DA4-F8FB-74BB-CC24D3FF5B0A}"/>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119438" y="2590801"/>
            <a:ext cx="5554662" cy="27289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5784" name="Picture 5">
            <a:extLst>
              <a:ext uri="{FF2B5EF4-FFF2-40B4-BE49-F238E27FC236}">
                <a16:creationId xmlns:a16="http://schemas.microsoft.com/office/drawing/2014/main" xmlns="" id="{FBE9B680-7D3C-D540-C4AA-F083FA3FE0AA}"/>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524000" y="609600"/>
            <a:ext cx="9144000" cy="6248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CSMA/CD Protocol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xmlns="" id="{3A36F14E-D755-81E9-9788-D1FC8EAFF7C7}"/>
              </a:ext>
            </a:extLst>
          </p:cNvPr>
          <p:cNvSpPr txBox="1"/>
          <p:nvPr/>
        </p:nvSpPr>
        <p:spPr>
          <a:xfrm>
            <a:off x="3049172" y="3240817"/>
            <a:ext cx="6098344" cy="369332"/>
          </a:xfrm>
          <a:prstGeom prst="rect">
            <a:avLst/>
          </a:prstGeom>
          <a:noFill/>
        </p:spPr>
        <p:txBody>
          <a:bodyPr wrap="square">
            <a:spAutoFit/>
          </a:bodyPr>
          <a:lstStyle/>
          <a:p>
            <a:r>
              <a:rPr lang="en-US" altLang="en-US" sz="1800" dirty="0">
                <a:solidFill>
                  <a:srgbClr val="3366FF"/>
                </a:solidFill>
              </a:rPr>
              <a:t> </a:t>
            </a:r>
            <a:endParaRPr lang="en-US" dirty="0"/>
          </a:p>
        </p:txBody>
      </p:sp>
      <p:sp>
        <p:nvSpPr>
          <p:cNvPr id="3" name="TextBox 2">
            <a:extLst>
              <a:ext uri="{FF2B5EF4-FFF2-40B4-BE49-F238E27FC236}">
                <a16:creationId xmlns:a16="http://schemas.microsoft.com/office/drawing/2014/main" xmlns="" id="{1384BF8E-1CD7-6C7D-49D8-E9EEA256A514}"/>
              </a:ext>
            </a:extLst>
          </p:cNvPr>
          <p:cNvSpPr txBox="1"/>
          <p:nvPr/>
        </p:nvSpPr>
        <p:spPr>
          <a:xfrm>
            <a:off x="695765" y="2122094"/>
            <a:ext cx="10178562" cy="1938992"/>
          </a:xfrm>
          <a:prstGeom prst="rect">
            <a:avLst/>
          </a:prstGeom>
          <a:noFill/>
        </p:spPr>
        <p:txBody>
          <a:bodyPr wrap="square">
            <a:spAutoFit/>
          </a:bodyPr>
          <a:lstStyle/>
          <a:p>
            <a:pPr marL="285750" indent="-285750" algn="just">
              <a:buFont typeface="Arial" panose="020B0604020202020204" pitchFamily="34" charset="0"/>
              <a:buChar char="•"/>
              <a:defRPr/>
            </a:pPr>
            <a:r>
              <a:rPr lang="en-US" sz="2000" dirty="0">
                <a:latin typeface="Times-Bold"/>
              </a:rPr>
              <a:t>Carrier Sense Multiple Access with Collision Detection.</a:t>
            </a:r>
          </a:p>
          <a:p>
            <a:pPr marL="285750" indent="-285750" algn="just">
              <a:buFont typeface="Arial" panose="020B0604020202020204" pitchFamily="34" charset="0"/>
              <a:buChar char="•"/>
              <a:defRPr/>
            </a:pPr>
            <a:endParaRPr lang="en-US" sz="2000" dirty="0">
              <a:latin typeface="Times-Bold"/>
            </a:endParaRPr>
          </a:p>
          <a:p>
            <a:pPr marL="285750" indent="-285750" algn="just">
              <a:buFont typeface="Arial" panose="020B0604020202020204" pitchFamily="34" charset="0"/>
              <a:buChar char="•"/>
              <a:defRPr/>
            </a:pPr>
            <a:r>
              <a:rPr lang="en-US" sz="2000" dirty="0">
                <a:latin typeface="Times-Roman"/>
              </a:rPr>
              <a:t>In this method, a station monitors the medium after it sends a frame to see if the transmission was successful. If so, the station is finished.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If, however, there is a collision, the frame is sent again.</a:t>
            </a:r>
            <a:endParaRPr lang="en-US" altLang="en-US" sz="2000" dirty="0">
              <a:effectLst>
                <a:outerShdw blurRad="38100" dist="38100" dir="2700000" algn="tl">
                  <a:srgbClr val="C0C0C0"/>
                </a:outerShdw>
              </a:effectLst>
            </a:endParaRPr>
          </a:p>
        </p:txBody>
      </p:sp>
    </p:spTree>
    <p:extLst>
      <p:ext uri="{BB962C8B-B14F-4D97-AF65-F5344CB8AC3E}">
        <p14:creationId xmlns:p14="http://schemas.microsoft.com/office/powerpoint/2010/main" xmlns="" val="2773682331"/>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Line 3">
            <a:extLst>
              <a:ext uri="{FF2B5EF4-FFF2-40B4-BE49-F238E27FC236}">
                <a16:creationId xmlns:a16="http://schemas.microsoft.com/office/drawing/2014/main" xmlns="" id="{AB808036-607A-3A9B-C6DB-039B2E223D54}"/>
              </a:ext>
            </a:extLst>
          </p:cNvPr>
          <p:cNvSpPr>
            <a:spLocks noChangeShapeType="1"/>
          </p:cNvSpPr>
          <p:nvPr/>
        </p:nvSpPr>
        <p:spPr bwMode="auto">
          <a:xfrm>
            <a:off x="649459" y="523875"/>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8" name="TextBox 7">
            <a:extLst>
              <a:ext uri="{FF2B5EF4-FFF2-40B4-BE49-F238E27FC236}">
                <a16:creationId xmlns:a16="http://schemas.microsoft.com/office/drawing/2014/main" xmlns="" id="{2B4A07AA-75E5-3734-7C0D-6753001D8283}"/>
              </a:ext>
            </a:extLst>
          </p:cNvPr>
          <p:cNvSpPr txBox="1"/>
          <p:nvPr/>
        </p:nvSpPr>
        <p:spPr>
          <a:xfrm>
            <a:off x="225083" y="658592"/>
            <a:ext cx="11366696" cy="3416320"/>
          </a:xfrm>
          <a:prstGeom prst="rect">
            <a:avLst/>
          </a:prstGeom>
          <a:noFill/>
        </p:spPr>
        <p:txBody>
          <a:bodyPr wrap="square">
            <a:spAutoFit/>
          </a:bodyPr>
          <a:lstStyle/>
          <a:p>
            <a:pPr marL="342900" indent="-342900" algn="just">
              <a:buFont typeface="Arial" panose="020B0604020202020204" pitchFamily="34" charset="0"/>
              <a:buChar char="•"/>
              <a:defRPr/>
            </a:pPr>
            <a:r>
              <a:rPr lang="en-US" dirty="0">
                <a:latin typeface="Times-Roman"/>
              </a:rPr>
              <a:t>At time </a:t>
            </a:r>
            <a:r>
              <a:rPr lang="en-US" dirty="0">
                <a:latin typeface="Times-Italic"/>
              </a:rPr>
              <a:t>t</a:t>
            </a:r>
            <a:r>
              <a:rPr lang="en-US" sz="1400" dirty="0">
                <a:latin typeface="Times-Roman"/>
              </a:rPr>
              <a:t>1</a:t>
            </a:r>
            <a:r>
              <a:rPr lang="en-US" dirty="0">
                <a:latin typeface="Times-Roman"/>
              </a:rPr>
              <a:t>, station A has executed its persistence procedure and starts sending the bits of its frame. </a:t>
            </a:r>
          </a:p>
          <a:p>
            <a:pPr marL="342900" indent="-342900" algn="just">
              <a:buFont typeface="Arial" panose="020B0604020202020204" pitchFamily="34" charset="0"/>
              <a:buChar char="•"/>
              <a:defRPr/>
            </a:pPr>
            <a:endParaRPr lang="en-US" dirty="0">
              <a:latin typeface="Times-Roman"/>
            </a:endParaRPr>
          </a:p>
          <a:p>
            <a:pPr marL="342900" indent="-342900" algn="just">
              <a:buFont typeface="Arial" panose="020B0604020202020204" pitchFamily="34" charset="0"/>
              <a:buChar char="•"/>
              <a:defRPr/>
            </a:pPr>
            <a:r>
              <a:rPr lang="en-US" dirty="0">
                <a:latin typeface="Times-Roman"/>
              </a:rPr>
              <a:t>At time </a:t>
            </a:r>
            <a:r>
              <a:rPr lang="en-US" dirty="0">
                <a:latin typeface="Times-Italic"/>
              </a:rPr>
              <a:t>t</a:t>
            </a:r>
            <a:r>
              <a:rPr lang="en-US" sz="1400" dirty="0">
                <a:latin typeface="Times-Roman"/>
              </a:rPr>
              <a:t>2</a:t>
            </a:r>
            <a:r>
              <a:rPr lang="en-US" dirty="0">
                <a:latin typeface="Times-Roman"/>
              </a:rPr>
              <a:t>, station C has not yet sensed the first bit sent by A. Station C executes its persistence procedure and starts sending the bits in its frame, which propagate both to the left and to the right. </a:t>
            </a:r>
          </a:p>
          <a:p>
            <a:pPr marL="342900" indent="-342900" algn="just">
              <a:buFont typeface="Arial" panose="020B0604020202020204" pitchFamily="34" charset="0"/>
              <a:buChar char="•"/>
              <a:defRPr/>
            </a:pPr>
            <a:endParaRPr lang="en-US" dirty="0">
              <a:latin typeface="Times-Roman"/>
            </a:endParaRPr>
          </a:p>
          <a:p>
            <a:pPr marL="342900" indent="-342900" algn="just">
              <a:buFont typeface="Arial" panose="020B0604020202020204" pitchFamily="34" charset="0"/>
              <a:buChar char="•"/>
              <a:defRPr/>
            </a:pPr>
            <a:r>
              <a:rPr lang="en-US" dirty="0">
                <a:latin typeface="Times-Roman"/>
              </a:rPr>
              <a:t>The collision occurs sometime after time </a:t>
            </a:r>
            <a:r>
              <a:rPr lang="en-US" dirty="0">
                <a:latin typeface="Times-Italic"/>
              </a:rPr>
              <a:t>t</a:t>
            </a:r>
            <a:r>
              <a:rPr lang="en-US" sz="1400" dirty="0">
                <a:latin typeface="Times-Roman"/>
              </a:rPr>
              <a:t>2</a:t>
            </a:r>
            <a:r>
              <a:rPr lang="en-US" dirty="0">
                <a:latin typeface="Times-Roman"/>
              </a:rPr>
              <a:t>. Station C detects a collision at time </a:t>
            </a:r>
            <a:r>
              <a:rPr lang="en-US" dirty="0">
                <a:latin typeface="Times-Italic"/>
              </a:rPr>
              <a:t>t</a:t>
            </a:r>
            <a:r>
              <a:rPr lang="en-US" sz="1400" dirty="0">
                <a:latin typeface="Times-Roman"/>
              </a:rPr>
              <a:t>3 </a:t>
            </a:r>
            <a:r>
              <a:rPr lang="en-US" dirty="0">
                <a:latin typeface="Times-Roman"/>
              </a:rPr>
              <a:t>when it receives the first bit of A’s frame. Station C immediately aborts transmission. </a:t>
            </a:r>
          </a:p>
          <a:p>
            <a:pPr marL="342900" indent="-342900" algn="just">
              <a:buFont typeface="Arial" panose="020B0604020202020204" pitchFamily="34" charset="0"/>
              <a:buChar char="•"/>
              <a:defRPr/>
            </a:pPr>
            <a:endParaRPr lang="en-US" dirty="0">
              <a:latin typeface="Times-Roman"/>
            </a:endParaRPr>
          </a:p>
          <a:p>
            <a:pPr marL="342900" indent="-342900" algn="just">
              <a:buFont typeface="Arial" panose="020B0604020202020204" pitchFamily="34" charset="0"/>
              <a:buChar char="•"/>
              <a:defRPr/>
            </a:pPr>
            <a:r>
              <a:rPr lang="en-US" dirty="0">
                <a:latin typeface="Times-Roman"/>
              </a:rPr>
              <a:t>Station A detects collision at time </a:t>
            </a:r>
            <a:r>
              <a:rPr lang="en-US" dirty="0">
                <a:latin typeface="Times-Italic"/>
              </a:rPr>
              <a:t>t</a:t>
            </a:r>
            <a:r>
              <a:rPr lang="en-US" sz="1400" dirty="0">
                <a:latin typeface="Times-Roman"/>
              </a:rPr>
              <a:t>4 </a:t>
            </a:r>
            <a:r>
              <a:rPr lang="en-US" dirty="0">
                <a:latin typeface="Times-Roman"/>
              </a:rPr>
              <a:t>when it receives the first bit of C’s frame; it also immediately aborts transmission. </a:t>
            </a:r>
          </a:p>
          <a:p>
            <a:pPr marL="342900" indent="-342900" algn="just">
              <a:buFont typeface="Arial" panose="020B0604020202020204" pitchFamily="34" charset="0"/>
              <a:buChar char="•"/>
              <a:defRPr/>
            </a:pPr>
            <a:endParaRPr lang="en-US" dirty="0">
              <a:latin typeface="Times-Roman"/>
            </a:endParaRPr>
          </a:p>
          <a:p>
            <a:pPr marL="342900" indent="-342900" algn="just">
              <a:buFont typeface="Arial" panose="020B0604020202020204" pitchFamily="34" charset="0"/>
              <a:buChar char="•"/>
              <a:defRPr/>
            </a:pPr>
            <a:r>
              <a:rPr lang="en-US" dirty="0">
                <a:latin typeface="Times-Roman"/>
              </a:rPr>
              <a:t>Looking at the figure, we see that A transmits for the duration </a:t>
            </a:r>
            <a:r>
              <a:rPr lang="en-US" dirty="0">
                <a:latin typeface="Times-Italic"/>
              </a:rPr>
              <a:t>t</a:t>
            </a:r>
            <a:r>
              <a:rPr lang="en-US" sz="1400" dirty="0">
                <a:latin typeface="Times-Roman"/>
              </a:rPr>
              <a:t>4 -</a:t>
            </a:r>
            <a:r>
              <a:rPr lang="en-US" dirty="0">
                <a:latin typeface="Symbol" panose="05050102010706020507" pitchFamily="18" charset="2"/>
              </a:rPr>
              <a:t> </a:t>
            </a:r>
            <a:r>
              <a:rPr lang="en-US" dirty="0">
                <a:latin typeface="Times-Italic"/>
              </a:rPr>
              <a:t>t</a:t>
            </a:r>
            <a:r>
              <a:rPr lang="en-US" sz="1400" dirty="0">
                <a:latin typeface="Times-Roman"/>
              </a:rPr>
              <a:t>1</a:t>
            </a:r>
            <a:r>
              <a:rPr lang="en-US" dirty="0">
                <a:latin typeface="Times-Roman"/>
              </a:rPr>
              <a:t>; C transmits for the duration </a:t>
            </a:r>
            <a:r>
              <a:rPr lang="en-US" dirty="0">
                <a:latin typeface="Times-Italic"/>
              </a:rPr>
              <a:t>t</a:t>
            </a:r>
            <a:r>
              <a:rPr lang="en-US" sz="1400" dirty="0">
                <a:latin typeface="Times-Roman"/>
              </a:rPr>
              <a:t>3 -</a:t>
            </a:r>
            <a:r>
              <a:rPr lang="en-US" dirty="0">
                <a:latin typeface="Symbol" panose="05050102010706020507" pitchFamily="18" charset="2"/>
              </a:rPr>
              <a:t> </a:t>
            </a:r>
            <a:r>
              <a:rPr lang="en-US" dirty="0">
                <a:latin typeface="Times-Italic"/>
              </a:rPr>
              <a:t>t</a:t>
            </a:r>
            <a:r>
              <a:rPr lang="en-US" sz="1400" dirty="0">
                <a:latin typeface="Times-Roman"/>
              </a:rPr>
              <a:t>2</a:t>
            </a:r>
            <a:r>
              <a:rPr lang="en-US" dirty="0">
                <a:latin typeface="Times-Roman"/>
              </a:rPr>
              <a:t>.</a:t>
            </a:r>
          </a:p>
          <a:p>
            <a:pPr>
              <a:defRPr/>
            </a:pPr>
            <a:endParaRPr lang="en-US" dirty="0"/>
          </a:p>
        </p:txBody>
      </p:sp>
      <p:sp>
        <p:nvSpPr>
          <p:cNvPr id="81927" name="TextBox 9">
            <a:extLst>
              <a:ext uri="{FF2B5EF4-FFF2-40B4-BE49-F238E27FC236}">
                <a16:creationId xmlns:a16="http://schemas.microsoft.com/office/drawing/2014/main" xmlns="" id="{16DB1BA3-7243-41C0-52C3-82571B26A86B}"/>
              </a:ext>
            </a:extLst>
          </p:cNvPr>
          <p:cNvSpPr txBox="1">
            <a:spLocks noChangeArrowheads="1"/>
          </p:cNvSpPr>
          <p:nvPr/>
        </p:nvSpPr>
        <p:spPr bwMode="auto">
          <a:xfrm>
            <a:off x="649459" y="0"/>
            <a:ext cx="6380163"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b="0" baseline="0" dirty="0">
                <a:solidFill>
                  <a:srgbClr val="3366FF"/>
                </a:solidFill>
                <a:latin typeface="Times-Italic"/>
              </a:rPr>
              <a:t>Collision of the first bits in CSMA/CD…</a:t>
            </a:r>
            <a:endParaRPr lang="en-US" altLang="en-US" dirty="0">
              <a:solidFill>
                <a:srgbClr val="3366FF"/>
              </a:solidFill>
            </a:endParaRPr>
          </a:p>
        </p:txBody>
      </p:sp>
      <p:pic>
        <p:nvPicPr>
          <p:cNvPr id="2" name="Picture 2">
            <a:extLst>
              <a:ext uri="{FF2B5EF4-FFF2-40B4-BE49-F238E27FC236}">
                <a16:creationId xmlns:a16="http://schemas.microsoft.com/office/drawing/2014/main" xmlns="" id="{4EA8227A-023B-C60D-77D0-4E01F97B7C52}"/>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2361028" y="3953240"/>
            <a:ext cx="7469944" cy="290476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1">
            <a:extLst>
              <a:ext uri="{FF2B5EF4-FFF2-40B4-BE49-F238E27FC236}">
                <a16:creationId xmlns:a16="http://schemas.microsoft.com/office/drawing/2014/main" xmlns="" id="{02D9C483-7D69-2838-6744-A77D07807431}"/>
              </a:ext>
            </a:extLst>
          </p:cNvPr>
          <p:cNvSpPr>
            <a:spLocks noGrp="1" noChangeArrowheads="1"/>
          </p:cNvSpPr>
          <p:nvPr>
            <p:ph type="sldNum" sz="quarter" idx="10"/>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03AC200E-F2C6-4EF6-B726-D62C16871116}" type="slidenum">
              <a:rPr lang="en-US" altLang="en-US" sz="2000" i="0" baseline="0">
                <a:solidFill>
                  <a:schemeClr val="bg2"/>
                </a:solidFill>
                <a:latin typeface="Arial" panose="020B0604020202020204" pitchFamily="34" charset="0"/>
              </a:rPr>
              <a:pPr/>
              <a:t>14</a:t>
            </a:fld>
            <a:endParaRPr lang="en-US" altLang="en-US" sz="2000" i="0" baseline="0">
              <a:solidFill>
                <a:schemeClr val="bg2"/>
              </a:solidFill>
              <a:latin typeface="Arial" panose="020B0604020202020204" pitchFamily="34" charset="0"/>
            </a:endParaRPr>
          </a:p>
        </p:txBody>
      </p:sp>
      <p:sp>
        <p:nvSpPr>
          <p:cNvPr id="83971" name="Line 2">
            <a:extLst>
              <a:ext uri="{FF2B5EF4-FFF2-40B4-BE49-F238E27FC236}">
                <a16:creationId xmlns:a16="http://schemas.microsoft.com/office/drawing/2014/main" xmlns="" id="{5DE49801-A985-B3E3-F0FF-485CD053F785}"/>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83972" name="Line 3">
            <a:extLst>
              <a:ext uri="{FF2B5EF4-FFF2-40B4-BE49-F238E27FC236}">
                <a16:creationId xmlns:a16="http://schemas.microsoft.com/office/drawing/2014/main" xmlns="" id="{CE99828A-77FC-F288-D983-B2FAAC968A01}"/>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83973" name="Line 5">
            <a:extLst>
              <a:ext uri="{FF2B5EF4-FFF2-40B4-BE49-F238E27FC236}">
                <a16:creationId xmlns:a16="http://schemas.microsoft.com/office/drawing/2014/main" xmlns="" id="{E0F9C555-B127-E5D3-0FE3-77F048DAD871}"/>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pic>
        <p:nvPicPr>
          <p:cNvPr id="83974" name="Picture 9">
            <a:extLst>
              <a:ext uri="{FF2B5EF4-FFF2-40B4-BE49-F238E27FC236}">
                <a16:creationId xmlns:a16="http://schemas.microsoft.com/office/drawing/2014/main" xmlns="" id="{3EA75ACF-53DA-900B-19A4-9AFF06474149}"/>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74800" y="457200"/>
            <a:ext cx="9017000" cy="563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1">
            <a:extLst>
              <a:ext uri="{FF2B5EF4-FFF2-40B4-BE49-F238E27FC236}">
                <a16:creationId xmlns:a16="http://schemas.microsoft.com/office/drawing/2014/main" xmlns="" id="{2DF85F35-5849-C38B-FD1A-BE963731272A}"/>
              </a:ext>
            </a:extLst>
          </p:cNvPr>
          <p:cNvSpPr>
            <a:spLocks noGrp="1" noChangeArrowheads="1"/>
          </p:cNvSpPr>
          <p:nvPr>
            <p:ph type="sldNum" sz="quarter" idx="10"/>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C7E11DF7-DBA6-4612-ADA4-50B45CCC54AB}" type="slidenum">
              <a:rPr lang="en-US" altLang="en-US" sz="2000" i="0" baseline="0">
                <a:solidFill>
                  <a:schemeClr val="bg2"/>
                </a:solidFill>
                <a:latin typeface="Arial" panose="020B0604020202020204" pitchFamily="34" charset="0"/>
              </a:rPr>
              <a:pPr/>
              <a:t>15</a:t>
            </a:fld>
            <a:endParaRPr lang="en-US" altLang="en-US" sz="2000" i="0" baseline="0">
              <a:solidFill>
                <a:schemeClr val="bg2"/>
              </a:solidFill>
              <a:latin typeface="Arial" panose="020B0604020202020204" pitchFamily="34" charset="0"/>
            </a:endParaRPr>
          </a:p>
        </p:txBody>
      </p:sp>
      <p:sp>
        <p:nvSpPr>
          <p:cNvPr id="88067" name="Line 2">
            <a:extLst>
              <a:ext uri="{FF2B5EF4-FFF2-40B4-BE49-F238E27FC236}">
                <a16:creationId xmlns:a16="http://schemas.microsoft.com/office/drawing/2014/main" xmlns="" id="{98A1EBC9-0E25-FCCA-BBE5-22D9807A0676}"/>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88068" name="Line 3">
            <a:extLst>
              <a:ext uri="{FF2B5EF4-FFF2-40B4-BE49-F238E27FC236}">
                <a16:creationId xmlns:a16="http://schemas.microsoft.com/office/drawing/2014/main" xmlns="" id="{DCCB9CC6-0FDB-0633-97F0-6B75EBF9EF65}"/>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88069" name="Text Box 4">
            <a:extLst>
              <a:ext uri="{FF2B5EF4-FFF2-40B4-BE49-F238E27FC236}">
                <a16:creationId xmlns:a16="http://schemas.microsoft.com/office/drawing/2014/main" xmlns="" id="{D9AE71BF-CC8A-7B06-85ED-BC4FB1829AC0}"/>
              </a:ext>
            </a:extLst>
          </p:cNvPr>
          <p:cNvSpPr txBox="1">
            <a:spLocks noChangeArrowheads="1"/>
          </p:cNvSpPr>
          <p:nvPr/>
        </p:nvSpPr>
        <p:spPr bwMode="auto">
          <a:xfrm>
            <a:off x="1828800" y="381000"/>
            <a:ext cx="3644900"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baseline="0"/>
              <a:t>Flow diagram for the CSMA/CD</a:t>
            </a:r>
          </a:p>
        </p:txBody>
      </p:sp>
      <p:sp>
        <p:nvSpPr>
          <p:cNvPr id="88070" name="Line 5">
            <a:extLst>
              <a:ext uri="{FF2B5EF4-FFF2-40B4-BE49-F238E27FC236}">
                <a16:creationId xmlns:a16="http://schemas.microsoft.com/office/drawing/2014/main" xmlns="" id="{A56B273F-8789-FA9C-D8A7-EC01C26EF9FB}"/>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pic>
        <p:nvPicPr>
          <p:cNvPr id="88071" name="Picture 2">
            <a:extLst>
              <a:ext uri="{FF2B5EF4-FFF2-40B4-BE49-F238E27FC236}">
                <a16:creationId xmlns:a16="http://schemas.microsoft.com/office/drawing/2014/main" xmlns="" id="{6A33DE2C-87E3-CA55-7905-0E1040B7A9A0}"/>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133600" y="1143000"/>
            <a:ext cx="7696200" cy="4876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1">
            <a:extLst>
              <a:ext uri="{FF2B5EF4-FFF2-40B4-BE49-F238E27FC236}">
                <a16:creationId xmlns:a16="http://schemas.microsoft.com/office/drawing/2014/main" xmlns="" id="{10EE28E6-FD0A-00EC-1CF8-65B6F27F436C}"/>
              </a:ext>
            </a:extLst>
          </p:cNvPr>
          <p:cNvSpPr>
            <a:spLocks noGrp="1" noChangeArrowheads="1"/>
          </p:cNvSpPr>
          <p:nvPr>
            <p:ph type="sldNum" sz="quarter" idx="10"/>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10377DCF-E5DD-4BC0-B8DB-4343E0AA19D7}" type="slidenum">
              <a:rPr lang="en-US" altLang="en-US" sz="2000" i="0" baseline="0">
                <a:solidFill>
                  <a:schemeClr val="bg2"/>
                </a:solidFill>
                <a:latin typeface="Arial" panose="020B0604020202020204" pitchFamily="34" charset="0"/>
              </a:rPr>
              <a:pPr/>
              <a:t>16</a:t>
            </a:fld>
            <a:endParaRPr lang="en-US" altLang="en-US" sz="2000" i="0" baseline="0">
              <a:solidFill>
                <a:schemeClr val="bg2"/>
              </a:solidFill>
              <a:latin typeface="Arial" panose="020B0604020202020204" pitchFamily="34" charset="0"/>
            </a:endParaRPr>
          </a:p>
        </p:txBody>
      </p:sp>
      <p:sp>
        <p:nvSpPr>
          <p:cNvPr id="90115" name="Line 2">
            <a:extLst>
              <a:ext uri="{FF2B5EF4-FFF2-40B4-BE49-F238E27FC236}">
                <a16:creationId xmlns:a16="http://schemas.microsoft.com/office/drawing/2014/main" xmlns="" id="{BB7EDC9A-0785-3C4C-E227-847A2735BFAB}"/>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0116" name="Line 3">
            <a:extLst>
              <a:ext uri="{FF2B5EF4-FFF2-40B4-BE49-F238E27FC236}">
                <a16:creationId xmlns:a16="http://schemas.microsoft.com/office/drawing/2014/main" xmlns="" id="{7FFA29A2-37F8-89DD-1731-9A96BB8D7C9D}"/>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0117" name="Line 5">
            <a:extLst>
              <a:ext uri="{FF2B5EF4-FFF2-40B4-BE49-F238E27FC236}">
                <a16:creationId xmlns:a16="http://schemas.microsoft.com/office/drawing/2014/main" xmlns="" id="{40A3AA83-57AE-F2C6-52AE-FBD4D246225D}"/>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0118" name="TextBox 7">
            <a:extLst>
              <a:ext uri="{FF2B5EF4-FFF2-40B4-BE49-F238E27FC236}">
                <a16:creationId xmlns:a16="http://schemas.microsoft.com/office/drawing/2014/main" xmlns="" id="{E326056E-5E72-52A6-96F0-037EB2ADECE2}"/>
              </a:ext>
            </a:extLst>
          </p:cNvPr>
          <p:cNvSpPr txBox="1">
            <a:spLocks noChangeArrowheads="1"/>
          </p:cNvSpPr>
          <p:nvPr/>
        </p:nvSpPr>
        <p:spPr bwMode="auto">
          <a:xfrm>
            <a:off x="1600200" y="1204914"/>
            <a:ext cx="9067800" cy="51196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sz="2200" b="0" i="0" baseline="0">
                <a:latin typeface="Times-Roman"/>
              </a:rPr>
              <a:t>It is similar to the one for the ALOHA protocol, but there are differences.</a:t>
            </a:r>
          </a:p>
          <a:p>
            <a:pPr algn="just"/>
            <a:endParaRPr lang="en-US" altLang="en-US" sz="2200" b="0" i="0" baseline="0">
              <a:latin typeface="Times-Roman"/>
            </a:endParaRPr>
          </a:p>
          <a:p>
            <a:pPr algn="just"/>
            <a:r>
              <a:rPr lang="en-US" altLang="en-US" sz="2200" b="0" i="0" baseline="0">
                <a:latin typeface="Times-Roman"/>
              </a:rPr>
              <a:t> 1. The first difference is the addition of the persistence process. We need to sense the channel before we start sending the frame by using one of the persistence processes. </a:t>
            </a:r>
          </a:p>
          <a:p>
            <a:pPr algn="just"/>
            <a:endParaRPr lang="en-US" altLang="en-US" sz="2200" b="0" i="0" baseline="0">
              <a:latin typeface="Times-Roman"/>
            </a:endParaRPr>
          </a:p>
          <a:p>
            <a:pPr algn="just"/>
            <a:r>
              <a:rPr lang="en-US" altLang="en-US" sz="2200" b="0" i="0" baseline="0">
                <a:latin typeface="Times-Roman"/>
              </a:rPr>
              <a:t>2. The second difference is the frame transmission. </a:t>
            </a:r>
          </a:p>
          <a:p>
            <a:pPr algn="just"/>
            <a:r>
              <a:rPr lang="en-US" altLang="en-US" sz="2200" b="0" i="0" baseline="0">
                <a:latin typeface="Times-Roman"/>
              </a:rPr>
              <a:t>	- In ALOHA, we first transmit the entire frame and then wait for an acknowledgment. In CSMA/CD, transmission and collision detection are continuous processes. We do not send the entire frame and then look for a collision. The station transmits and receives continuously and simultaneously. </a:t>
            </a:r>
          </a:p>
          <a:p>
            <a:pPr algn="just"/>
            <a:endParaRPr lang="en-US" altLang="en-US" sz="2200" b="0" i="0" baseline="0">
              <a:latin typeface="Times-Roman"/>
            </a:endParaRPr>
          </a:p>
          <a:p>
            <a:pPr algn="just"/>
            <a:r>
              <a:rPr lang="en-US" altLang="en-US" sz="2200" b="0" i="0" baseline="0">
                <a:latin typeface="Times-Roman"/>
              </a:rPr>
              <a:t>3. The third difference is the sending of a short </a:t>
            </a:r>
            <a:r>
              <a:rPr lang="en-US" altLang="en-US" sz="2200" i="0" baseline="0">
                <a:latin typeface="Times-Bold"/>
              </a:rPr>
              <a:t>jamming signal </a:t>
            </a:r>
            <a:r>
              <a:rPr lang="en-US" altLang="en-US" sz="2200" b="0" i="0" baseline="0">
                <a:latin typeface="Times-Roman"/>
              </a:rPr>
              <a:t>to make sure that all other stations become aware of the collision.</a:t>
            </a:r>
          </a:p>
          <a:p>
            <a:endParaRPr lang="en-US" altLang="en-US"/>
          </a:p>
        </p:txBody>
      </p:sp>
      <p:sp>
        <p:nvSpPr>
          <p:cNvPr id="90119" name="TextBox 9">
            <a:extLst>
              <a:ext uri="{FF2B5EF4-FFF2-40B4-BE49-F238E27FC236}">
                <a16:creationId xmlns:a16="http://schemas.microsoft.com/office/drawing/2014/main" xmlns="" id="{3459A051-830B-AB68-7E32-B098801EA6A7}"/>
              </a:ext>
            </a:extLst>
          </p:cNvPr>
          <p:cNvSpPr txBox="1">
            <a:spLocks noChangeArrowheads="1"/>
          </p:cNvSpPr>
          <p:nvPr/>
        </p:nvSpPr>
        <p:spPr bwMode="auto">
          <a:xfrm>
            <a:off x="1676401" y="331789"/>
            <a:ext cx="6380163"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b="0" baseline="0">
                <a:solidFill>
                  <a:srgbClr val="3366FF"/>
                </a:solidFill>
                <a:latin typeface="Times-Italic"/>
              </a:rPr>
              <a:t> CSMA/CD Vs ALOHA</a:t>
            </a:r>
            <a:endParaRPr lang="en-US" altLang="en-US">
              <a:solidFill>
                <a:srgbClr val="3366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1">
            <a:extLst>
              <a:ext uri="{FF2B5EF4-FFF2-40B4-BE49-F238E27FC236}">
                <a16:creationId xmlns:a16="http://schemas.microsoft.com/office/drawing/2014/main" xmlns="" id="{AEFDD635-F833-7C64-6733-92243D084FE1}"/>
              </a:ext>
            </a:extLst>
          </p:cNvPr>
          <p:cNvSpPr>
            <a:spLocks noGrp="1" noChangeArrowheads="1"/>
          </p:cNvSpPr>
          <p:nvPr>
            <p:ph type="sldNum" sz="quarter" idx="10"/>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E53A1224-EB79-4A96-B4E9-63B40F152C90}" type="slidenum">
              <a:rPr lang="en-US" altLang="en-US" sz="2000" i="0" baseline="0">
                <a:solidFill>
                  <a:schemeClr val="bg2"/>
                </a:solidFill>
                <a:latin typeface="Arial" panose="020B0604020202020204" pitchFamily="34" charset="0"/>
              </a:rPr>
              <a:pPr/>
              <a:t>17</a:t>
            </a:fld>
            <a:endParaRPr lang="en-US" altLang="en-US" sz="2000" i="0" baseline="0">
              <a:solidFill>
                <a:schemeClr val="bg2"/>
              </a:solidFill>
              <a:latin typeface="Arial" panose="020B0604020202020204" pitchFamily="34" charset="0"/>
            </a:endParaRPr>
          </a:p>
        </p:txBody>
      </p:sp>
      <p:sp>
        <p:nvSpPr>
          <p:cNvPr id="92163" name="Line 2">
            <a:extLst>
              <a:ext uri="{FF2B5EF4-FFF2-40B4-BE49-F238E27FC236}">
                <a16:creationId xmlns:a16="http://schemas.microsoft.com/office/drawing/2014/main" xmlns="" id="{60ED8B8F-34C3-8E44-FC0C-12381AA11B12}"/>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2164" name="Line 3">
            <a:extLst>
              <a:ext uri="{FF2B5EF4-FFF2-40B4-BE49-F238E27FC236}">
                <a16:creationId xmlns:a16="http://schemas.microsoft.com/office/drawing/2014/main" xmlns="" id="{8561DE35-065C-1558-AD3F-00AA2E572FB4}"/>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2165" name="Line 5">
            <a:extLst>
              <a:ext uri="{FF2B5EF4-FFF2-40B4-BE49-F238E27FC236}">
                <a16:creationId xmlns:a16="http://schemas.microsoft.com/office/drawing/2014/main" xmlns="" id="{4F437988-2E92-12EB-E345-DF37DE9A88FD}"/>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2166" name="TextBox 7">
            <a:extLst>
              <a:ext uri="{FF2B5EF4-FFF2-40B4-BE49-F238E27FC236}">
                <a16:creationId xmlns:a16="http://schemas.microsoft.com/office/drawing/2014/main" xmlns="" id="{0CAA6321-67DC-BC3E-7570-8C515F969159}"/>
              </a:ext>
            </a:extLst>
          </p:cNvPr>
          <p:cNvSpPr txBox="1">
            <a:spLocks noChangeArrowheads="1"/>
          </p:cNvSpPr>
          <p:nvPr/>
        </p:nvSpPr>
        <p:spPr bwMode="auto">
          <a:xfrm>
            <a:off x="1600200" y="1204914"/>
            <a:ext cx="8763000" cy="4524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buFont typeface="Arial" panose="020B0604020202020204" pitchFamily="34" charset="0"/>
              <a:buChar char="•"/>
            </a:pPr>
            <a:r>
              <a:rPr lang="en-US" altLang="en-US" sz="2400" b="0" i="0" baseline="0">
                <a:latin typeface="Times-Roman"/>
              </a:rPr>
              <a:t>The throughput of CSMA/CD is greater than that of pure or slotted ALOHA. </a:t>
            </a:r>
          </a:p>
          <a:p>
            <a:pPr algn="just">
              <a:buFont typeface="Arial" panose="020B0604020202020204" pitchFamily="34" charset="0"/>
              <a:buChar char="•"/>
            </a:pPr>
            <a:endParaRPr lang="en-US" altLang="en-US" sz="2400" b="0" i="0" baseline="0">
              <a:latin typeface="Times-Roman"/>
            </a:endParaRPr>
          </a:p>
          <a:p>
            <a:pPr algn="just">
              <a:buFont typeface="Arial" panose="020B0604020202020204" pitchFamily="34" charset="0"/>
              <a:buChar char="•"/>
            </a:pPr>
            <a:r>
              <a:rPr lang="en-US" altLang="en-US" sz="2400" b="0" i="0" baseline="0">
                <a:latin typeface="Times-Roman"/>
              </a:rPr>
              <a:t>The maximum throughput occurs at a different value of </a:t>
            </a:r>
            <a:r>
              <a:rPr lang="en-US" altLang="en-US" sz="2400" b="0" baseline="0">
                <a:latin typeface="Times-Italic"/>
              </a:rPr>
              <a:t>G </a:t>
            </a:r>
            <a:r>
              <a:rPr lang="en-US" altLang="en-US" sz="2400" b="0" i="0" baseline="0">
                <a:latin typeface="Times-Roman"/>
              </a:rPr>
              <a:t>and is based on the persistence method and the value of </a:t>
            </a:r>
            <a:r>
              <a:rPr lang="en-US" altLang="en-US" sz="2400" b="0" baseline="0">
                <a:latin typeface="Times-Italic"/>
              </a:rPr>
              <a:t>p </a:t>
            </a:r>
            <a:r>
              <a:rPr lang="en-US" altLang="en-US" sz="2400" b="0" i="0" baseline="0">
                <a:latin typeface="Times-Roman"/>
              </a:rPr>
              <a:t>in the </a:t>
            </a:r>
            <a:r>
              <a:rPr lang="en-US" altLang="en-US" sz="2400" b="0" baseline="0">
                <a:latin typeface="Times-Italic"/>
              </a:rPr>
              <a:t>p</a:t>
            </a:r>
            <a:r>
              <a:rPr lang="en-US" altLang="en-US" sz="2400" b="0" i="0" baseline="0">
                <a:latin typeface="Times-Roman"/>
              </a:rPr>
              <a:t>-persistent approach. </a:t>
            </a:r>
          </a:p>
          <a:p>
            <a:pPr algn="just">
              <a:buFont typeface="Arial" panose="020B0604020202020204" pitchFamily="34" charset="0"/>
              <a:buChar char="•"/>
            </a:pPr>
            <a:endParaRPr lang="en-US" altLang="en-US" sz="2400" b="0" i="0" baseline="0">
              <a:latin typeface="Times-Roman"/>
            </a:endParaRPr>
          </a:p>
          <a:p>
            <a:pPr algn="just">
              <a:buFont typeface="Arial" panose="020B0604020202020204" pitchFamily="34" charset="0"/>
              <a:buChar char="•"/>
            </a:pPr>
            <a:r>
              <a:rPr lang="en-US" altLang="en-US" sz="2400" b="0" i="0" baseline="0">
                <a:latin typeface="Times-Roman"/>
              </a:rPr>
              <a:t>For the 1-persistent method, the maximum throughput is around 50 percent when </a:t>
            </a:r>
            <a:r>
              <a:rPr lang="en-US" altLang="en-US" sz="2400" b="0" baseline="0">
                <a:latin typeface="Times-Italic"/>
              </a:rPr>
              <a:t>G </a:t>
            </a:r>
            <a:r>
              <a:rPr lang="en-US" altLang="en-US" sz="2400" b="0" i="0" baseline="0">
                <a:latin typeface="Symbol" panose="05050102010706020507" pitchFamily="18" charset="2"/>
              </a:rPr>
              <a:t>= </a:t>
            </a:r>
            <a:r>
              <a:rPr lang="en-US" altLang="en-US" sz="2400" b="0" i="0" baseline="0">
                <a:latin typeface="Times-Roman"/>
              </a:rPr>
              <a:t>1. </a:t>
            </a:r>
          </a:p>
          <a:p>
            <a:pPr algn="just">
              <a:buFont typeface="Arial" panose="020B0604020202020204" pitchFamily="34" charset="0"/>
              <a:buChar char="•"/>
            </a:pPr>
            <a:endParaRPr lang="en-US" altLang="en-US" sz="2400" b="0" i="0" baseline="0">
              <a:latin typeface="Times-Roman"/>
            </a:endParaRPr>
          </a:p>
          <a:p>
            <a:pPr algn="just">
              <a:buFont typeface="Arial" panose="020B0604020202020204" pitchFamily="34" charset="0"/>
              <a:buChar char="•"/>
            </a:pPr>
            <a:r>
              <a:rPr lang="en-US" altLang="en-US" sz="2400" b="0" i="0" baseline="0">
                <a:latin typeface="Times-Roman"/>
              </a:rPr>
              <a:t>For the nonpersistent method, the maximum throughput can go up to 90 percent when </a:t>
            </a:r>
            <a:r>
              <a:rPr lang="en-US" altLang="en-US" sz="2400" b="0" baseline="0">
                <a:latin typeface="Times-Italic"/>
              </a:rPr>
              <a:t>G </a:t>
            </a:r>
            <a:r>
              <a:rPr lang="en-US" altLang="en-US" sz="2400" b="0" i="0" baseline="0">
                <a:latin typeface="Times-Roman"/>
              </a:rPr>
              <a:t>is between 3 and 8.</a:t>
            </a:r>
            <a:endParaRPr lang="en-US" altLang="en-US" sz="3600"/>
          </a:p>
        </p:txBody>
      </p:sp>
      <p:sp>
        <p:nvSpPr>
          <p:cNvPr id="92167" name="TextBox 9">
            <a:extLst>
              <a:ext uri="{FF2B5EF4-FFF2-40B4-BE49-F238E27FC236}">
                <a16:creationId xmlns:a16="http://schemas.microsoft.com/office/drawing/2014/main" xmlns="" id="{D39B891F-F965-BADD-844C-C8B959E63CF3}"/>
              </a:ext>
            </a:extLst>
          </p:cNvPr>
          <p:cNvSpPr txBox="1">
            <a:spLocks noChangeArrowheads="1"/>
          </p:cNvSpPr>
          <p:nvPr/>
        </p:nvSpPr>
        <p:spPr bwMode="auto">
          <a:xfrm>
            <a:off x="1676401" y="331789"/>
            <a:ext cx="6380163"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b="0" baseline="0">
                <a:solidFill>
                  <a:srgbClr val="3366FF"/>
                </a:solidFill>
                <a:latin typeface="Times-Italic"/>
              </a:rPr>
              <a:t> Throughput of CSMA/CD</a:t>
            </a:r>
            <a:endParaRPr lang="en-US" altLang="en-US">
              <a:solidFill>
                <a:srgbClr val="3366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CSMA/CA Protocol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xmlns="" id="{3A36F14E-D755-81E9-9788-D1FC8EAFF7C7}"/>
              </a:ext>
            </a:extLst>
          </p:cNvPr>
          <p:cNvSpPr txBox="1"/>
          <p:nvPr/>
        </p:nvSpPr>
        <p:spPr>
          <a:xfrm>
            <a:off x="3049172" y="3240817"/>
            <a:ext cx="6098344" cy="369332"/>
          </a:xfrm>
          <a:prstGeom prst="rect">
            <a:avLst/>
          </a:prstGeom>
          <a:noFill/>
        </p:spPr>
        <p:txBody>
          <a:bodyPr wrap="square">
            <a:spAutoFit/>
          </a:bodyPr>
          <a:lstStyle/>
          <a:p>
            <a:r>
              <a:rPr lang="en-US" altLang="en-US" sz="1800" dirty="0">
                <a:solidFill>
                  <a:srgbClr val="3366FF"/>
                </a:solidFill>
              </a:rPr>
              <a:t> </a:t>
            </a:r>
            <a:endParaRPr lang="en-US" dirty="0"/>
          </a:p>
        </p:txBody>
      </p:sp>
      <p:sp>
        <p:nvSpPr>
          <p:cNvPr id="3" name="TextBox 2">
            <a:extLst>
              <a:ext uri="{FF2B5EF4-FFF2-40B4-BE49-F238E27FC236}">
                <a16:creationId xmlns:a16="http://schemas.microsoft.com/office/drawing/2014/main" xmlns="" id="{1384BF8E-1CD7-6C7D-49D8-E9EEA256A514}"/>
              </a:ext>
            </a:extLst>
          </p:cNvPr>
          <p:cNvSpPr txBox="1"/>
          <p:nvPr/>
        </p:nvSpPr>
        <p:spPr>
          <a:xfrm>
            <a:off x="731519" y="1702191"/>
            <a:ext cx="10142807" cy="3600986"/>
          </a:xfrm>
          <a:prstGeom prst="rect">
            <a:avLst/>
          </a:prstGeom>
          <a:noFill/>
        </p:spPr>
        <p:txBody>
          <a:bodyPr wrap="square">
            <a:spAutoFit/>
          </a:bodyPr>
          <a:lstStyle/>
          <a:p>
            <a:pPr marL="285750" indent="-285750" algn="just">
              <a:buFont typeface="Arial" panose="020B0604020202020204" pitchFamily="34" charset="0"/>
              <a:buChar char="•"/>
              <a:defRPr/>
            </a:pPr>
            <a:r>
              <a:rPr lang="en-US" sz="2000" dirty="0">
                <a:latin typeface="Times-Roman"/>
              </a:rPr>
              <a:t>Carrier Sense Multiple Access with Collision Avoidance</a:t>
            </a:r>
          </a:p>
          <a:p>
            <a:pPr marL="285750" indent="-285750" algn="just">
              <a:buFont typeface="Arial" panose="020B0604020202020204" pitchFamily="34" charset="0"/>
              <a:buChar char="•"/>
              <a:defRPr/>
            </a:pPr>
            <a:endParaRPr lang="en-US" sz="2800" dirty="0">
              <a:latin typeface="Times-Bold"/>
            </a:endParaRPr>
          </a:p>
          <a:p>
            <a:pPr marL="285750" indent="-285750">
              <a:buFont typeface="Arial" panose="020B0604020202020204" pitchFamily="34" charset="0"/>
              <a:buChar char="•"/>
              <a:defRPr/>
            </a:pPr>
            <a:r>
              <a:rPr lang="en-US" sz="2000" dirty="0">
                <a:latin typeface="Times-Roman"/>
              </a:rPr>
              <a:t>Invented for wireless networks. </a:t>
            </a:r>
          </a:p>
          <a:p>
            <a:pPr marL="285750" indent="-285750">
              <a:buFont typeface="Arial" panose="020B0604020202020204" pitchFamily="34" charset="0"/>
              <a:buChar char="•"/>
              <a:defRPr/>
            </a:pPr>
            <a:endParaRPr lang="en-US" sz="2000" dirty="0">
              <a:latin typeface="Times-Roman"/>
            </a:endParaRPr>
          </a:p>
          <a:p>
            <a:pPr marL="285750" indent="-285750">
              <a:buFont typeface="Arial" panose="020B0604020202020204" pitchFamily="34" charset="0"/>
              <a:buChar char="•"/>
              <a:defRPr/>
            </a:pPr>
            <a:r>
              <a:rPr lang="en-US" sz="2000" dirty="0">
                <a:latin typeface="Times-Roman"/>
              </a:rPr>
              <a:t>Collisions are avoided through the use of CSMA/CA’s three strategies: </a:t>
            </a:r>
          </a:p>
          <a:p>
            <a:pPr marL="630238">
              <a:buFont typeface="Wingdings" panose="05000000000000000000" pitchFamily="2" charset="2"/>
              <a:buChar char="Ø"/>
              <a:defRPr/>
            </a:pPr>
            <a:r>
              <a:rPr lang="en-US" sz="2000" dirty="0">
                <a:solidFill>
                  <a:srgbClr val="3366FF"/>
                </a:solidFill>
                <a:latin typeface="Times-Roman"/>
              </a:rPr>
              <a:t>	Interframe space, </a:t>
            </a:r>
          </a:p>
          <a:p>
            <a:pPr marL="630238">
              <a:buFont typeface="Wingdings" panose="05000000000000000000" pitchFamily="2" charset="2"/>
              <a:buChar char="Ø"/>
              <a:defRPr/>
            </a:pPr>
            <a:r>
              <a:rPr lang="en-US" sz="2000" dirty="0">
                <a:solidFill>
                  <a:srgbClr val="3366FF"/>
                </a:solidFill>
                <a:latin typeface="Times-Roman"/>
              </a:rPr>
              <a:t>	Contention window</a:t>
            </a:r>
          </a:p>
          <a:p>
            <a:pPr marL="630238">
              <a:buFont typeface="Wingdings" panose="05000000000000000000" pitchFamily="2" charset="2"/>
              <a:buChar char="Ø"/>
              <a:defRPr/>
            </a:pPr>
            <a:r>
              <a:rPr lang="en-US" sz="2000" dirty="0">
                <a:solidFill>
                  <a:srgbClr val="3366FF"/>
                </a:solidFill>
                <a:latin typeface="Times-Roman"/>
              </a:rPr>
              <a:t>	Acknowledgments</a:t>
            </a:r>
          </a:p>
          <a:p>
            <a:pPr marL="285750" indent="-285750">
              <a:buFont typeface="Arial" panose="020B0604020202020204" pitchFamily="34" charset="0"/>
              <a:buChar char="•"/>
              <a:defRPr/>
            </a:pPr>
            <a:endParaRPr lang="en-US" sz="2000" dirty="0">
              <a:latin typeface="Times-Roman"/>
            </a:endParaRPr>
          </a:p>
          <a:p>
            <a:pPr marL="285750" indent="-285750">
              <a:buFont typeface="Arial" panose="020B0604020202020204" pitchFamily="34" charset="0"/>
              <a:buChar char="•"/>
              <a:defRPr/>
            </a:pPr>
            <a:r>
              <a:rPr lang="en-US" sz="2000" dirty="0">
                <a:latin typeface="Times-Roman"/>
              </a:rPr>
              <a:t>RTS and CTS control frames are included.</a:t>
            </a:r>
            <a:endParaRPr lang="en-US" altLang="en-US" sz="3200" dirty="0">
              <a:effectLst>
                <a:outerShdw blurRad="38100" dist="38100" dir="2700000" algn="tl">
                  <a:srgbClr val="C0C0C0"/>
                </a:outerShdw>
              </a:effectLst>
            </a:endParaRPr>
          </a:p>
          <a:p>
            <a:pPr algn="just">
              <a:defRPr/>
            </a:pPr>
            <a:endParaRPr lang="en-US" altLang="en-US" sz="2000" dirty="0">
              <a:effectLst>
                <a:outerShdw blurRad="38100" dist="38100" dir="2700000" algn="tl">
                  <a:srgbClr val="C0C0C0"/>
                </a:outerShdw>
              </a:effectLst>
            </a:endParaRPr>
          </a:p>
        </p:txBody>
      </p:sp>
    </p:spTree>
    <p:extLst>
      <p:ext uri="{BB962C8B-B14F-4D97-AF65-F5344CB8AC3E}">
        <p14:creationId xmlns:p14="http://schemas.microsoft.com/office/powerpoint/2010/main" xmlns="" val="2891446740"/>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xmlns="" id="{FEF7F08A-852C-81FF-613C-F038FF219B5B}"/>
              </a:ext>
            </a:extLst>
          </p:cNvPr>
          <p:cNvSpPr>
            <a:spLocks noChangeArrowheads="1"/>
          </p:cNvSpPr>
          <p:nvPr/>
        </p:nvSpPr>
        <p:spPr bwMode="auto">
          <a:xfrm>
            <a:off x="1026941" y="0"/>
            <a:ext cx="9641059" cy="990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xmlns="" id="{4662B971-8B31-B4F3-FADF-8583FB57990A}"/>
              </a:ext>
            </a:extLst>
          </p:cNvPr>
          <p:cNvSpPr txBox="1">
            <a:spLocks noChangeArrowheads="1"/>
          </p:cNvSpPr>
          <p:nvPr/>
        </p:nvSpPr>
        <p:spPr bwMode="auto">
          <a:xfrm>
            <a:off x="967538" y="228600"/>
            <a:ext cx="4079963" cy="584775"/>
          </a:xfrm>
          <a:prstGeom prst="rect">
            <a:avLst/>
          </a:prstGeom>
          <a:noFill/>
          <a:ln>
            <a:noFill/>
          </a:ln>
          <a:effectLst/>
        </p:spPr>
        <p:txBody>
          <a:bodyPr wrap="none">
            <a:spAutoFit/>
          </a:bodyPr>
          <a:lstStyle/>
          <a:p>
            <a:pPr algn="just">
              <a:defRPr/>
            </a:pPr>
            <a:r>
              <a:rPr lang="en-US" sz="3200" dirty="0">
                <a:latin typeface="Times-BoldItalic"/>
              </a:rPr>
              <a:t>Interframe Space (IFS)</a:t>
            </a:r>
          </a:p>
        </p:txBody>
      </p:sp>
      <p:sp>
        <p:nvSpPr>
          <p:cNvPr id="96261" name="Text Box 4">
            <a:extLst>
              <a:ext uri="{FF2B5EF4-FFF2-40B4-BE49-F238E27FC236}">
                <a16:creationId xmlns:a16="http://schemas.microsoft.com/office/drawing/2014/main" xmlns="" id="{B69CFE17-C895-790B-4BCF-A34E6770B267}"/>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xmlns="" id="{5C5395A7-F1CA-8F00-FB87-BA496FC97AD7}"/>
              </a:ext>
            </a:extLst>
          </p:cNvPr>
          <p:cNvSpPr>
            <a:spLocks noChangeArrowheads="1"/>
          </p:cNvSpPr>
          <p:nvPr/>
        </p:nvSpPr>
        <p:spPr bwMode="auto">
          <a:xfrm>
            <a:off x="876886" y="997565"/>
            <a:ext cx="10438227" cy="4862870"/>
          </a:xfrm>
          <a:prstGeom prst="rect">
            <a:avLst/>
          </a:prstGeom>
          <a:noFill/>
          <a:ln>
            <a:noFill/>
          </a:ln>
          <a:effectLst/>
        </p:spPr>
        <p:txBody>
          <a:bodyPr wrap="square" anchor="ctr">
            <a:spAutoFit/>
          </a:bodyPr>
          <a:lstStyle/>
          <a:p>
            <a:pPr algn="just">
              <a:defRPr/>
            </a:pPr>
            <a:endParaRPr lang="en-US" sz="2400" dirty="0">
              <a:latin typeface="Times-BoldItalic"/>
            </a:endParaRPr>
          </a:p>
          <a:p>
            <a:pPr marL="285750" indent="-285750" algn="just">
              <a:buFont typeface="Arial" panose="020B0604020202020204" pitchFamily="34" charset="0"/>
              <a:buChar char="•"/>
              <a:defRPr/>
            </a:pPr>
            <a:r>
              <a:rPr lang="en-US" sz="2200" dirty="0">
                <a:latin typeface="Times-Roman"/>
              </a:rPr>
              <a:t>First, collisions are avoided by deferring transmission even if the channel is found idle. </a:t>
            </a:r>
          </a:p>
          <a:p>
            <a:pPr marL="285750" indent="-285750" algn="just">
              <a:buFont typeface="Arial" panose="020B0604020202020204" pitchFamily="34" charset="0"/>
              <a:buChar char="•"/>
              <a:defRPr/>
            </a:pPr>
            <a:endParaRPr lang="en-US" sz="2200" dirty="0">
              <a:latin typeface="Times-Roman"/>
            </a:endParaRPr>
          </a:p>
          <a:p>
            <a:pPr marL="285750" indent="-285750" algn="just">
              <a:buFont typeface="Arial" panose="020B0604020202020204" pitchFamily="34" charset="0"/>
              <a:buChar char="•"/>
              <a:defRPr/>
            </a:pPr>
            <a:endParaRPr lang="en-US" sz="2200" dirty="0">
              <a:latin typeface="Times-Roman"/>
            </a:endParaRPr>
          </a:p>
          <a:p>
            <a:pPr marL="285750" indent="-285750" algn="just">
              <a:buFont typeface="Arial" panose="020B0604020202020204" pitchFamily="34" charset="0"/>
              <a:buChar char="•"/>
              <a:defRPr/>
            </a:pPr>
            <a:r>
              <a:rPr lang="en-US" sz="2200" dirty="0">
                <a:latin typeface="Times-Roman"/>
              </a:rPr>
              <a:t>When an idle channel is found, the station does not send immediately. It waits for a period of time called the </a:t>
            </a:r>
            <a:r>
              <a:rPr lang="en-US" sz="2200" dirty="0">
                <a:latin typeface="Times-BoldItalic"/>
              </a:rPr>
              <a:t>interframe space </a:t>
            </a:r>
            <a:r>
              <a:rPr lang="en-US" sz="2200" dirty="0">
                <a:latin typeface="Times-Roman"/>
              </a:rPr>
              <a:t>or </a:t>
            </a:r>
            <a:r>
              <a:rPr lang="en-US" sz="2200" dirty="0">
                <a:latin typeface="Times-BoldItalic"/>
              </a:rPr>
              <a:t>IFS</a:t>
            </a:r>
            <a:r>
              <a:rPr lang="en-US" sz="2200" dirty="0">
                <a:latin typeface="Times-Bold"/>
              </a:rPr>
              <a:t>. </a:t>
            </a:r>
          </a:p>
          <a:p>
            <a:pPr marL="285750" indent="-285750" algn="just">
              <a:buFont typeface="Arial" panose="020B0604020202020204" pitchFamily="34" charset="0"/>
              <a:buChar char="•"/>
              <a:defRPr/>
            </a:pPr>
            <a:endParaRPr lang="en-US" sz="2200" dirty="0">
              <a:latin typeface="Times-Bold"/>
            </a:endParaRPr>
          </a:p>
          <a:p>
            <a:pPr marL="285750" indent="-285750" algn="just">
              <a:buFont typeface="Arial" panose="020B0604020202020204" pitchFamily="34" charset="0"/>
              <a:buChar char="•"/>
              <a:defRPr/>
            </a:pPr>
            <a:endParaRPr lang="en-US" sz="2200" dirty="0">
              <a:latin typeface="Times-Bold"/>
            </a:endParaRPr>
          </a:p>
          <a:p>
            <a:pPr marL="285750" indent="-285750" algn="just">
              <a:buFont typeface="Arial" panose="020B0604020202020204" pitchFamily="34" charset="0"/>
              <a:buChar char="•"/>
              <a:defRPr/>
            </a:pPr>
            <a:r>
              <a:rPr lang="en-US" sz="2200" dirty="0">
                <a:latin typeface="Times-Roman"/>
              </a:rPr>
              <a:t>Even though the channel may appear idle when it is sensed, a distant station may have already started transmitting. The distant station’s signal has not yet reached this station. </a:t>
            </a:r>
          </a:p>
          <a:p>
            <a:pPr marL="285750" indent="-285750" algn="just">
              <a:buFont typeface="Arial" panose="020B0604020202020204" pitchFamily="34" charset="0"/>
              <a:buChar char="•"/>
              <a:defRPr/>
            </a:pPr>
            <a:endParaRPr lang="en-US" sz="2200" dirty="0">
              <a:latin typeface="Times-Roman"/>
            </a:endParaRPr>
          </a:p>
          <a:p>
            <a:pPr marL="285750" indent="-285750" algn="just">
              <a:buFont typeface="Arial" panose="020B0604020202020204" pitchFamily="34" charset="0"/>
              <a:buChar char="•"/>
              <a:defRPr/>
            </a:pPr>
            <a:endParaRPr lang="en-US" sz="2200" dirty="0">
              <a:latin typeface="Times-Roman"/>
            </a:endParaRPr>
          </a:p>
          <a:p>
            <a:pPr marL="285750" indent="-285750" algn="just">
              <a:buFont typeface="Arial" panose="020B0604020202020204" pitchFamily="34" charset="0"/>
              <a:buChar char="•"/>
              <a:defRPr/>
            </a:pPr>
            <a:r>
              <a:rPr lang="en-US" sz="2200" dirty="0">
                <a:latin typeface="Times-Roman"/>
              </a:rPr>
              <a:t>After waiting an IFS time, if the channel is still idle, the station can send, but it still needs to wait a time equal to the contention window.</a:t>
            </a:r>
            <a:endParaRPr lang="en-US" altLang="en-US" sz="2200" dirty="0">
              <a:effectLst>
                <a:outerShdw blurRad="38100" dist="38100" dir="2700000" algn="tl">
                  <a:srgbClr val="C0C0C0"/>
                </a:outerShdw>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Slide Number Placeholder 1">
            <a:extLst>
              <a:ext uri="{FF2B5EF4-FFF2-40B4-BE49-F238E27FC236}">
                <a16:creationId xmlns:a16="http://schemas.microsoft.com/office/drawing/2014/main" xmlns="" id="{8BABB377-033E-8024-06F8-0DA413680A97}"/>
              </a:ext>
            </a:extLst>
          </p:cNvPr>
          <p:cNvSpPr>
            <a:spLocks noGrp="1" noChangeArrowheads="1"/>
          </p:cNvSpPr>
          <p:nvPr>
            <p:ph type="sldNum" sz="quarter" idx="10"/>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951C0BA0-713A-413C-A569-C7DE78107588}" type="slidenum">
              <a:rPr lang="en-US" altLang="en-US" sz="2000" i="0" baseline="0">
                <a:solidFill>
                  <a:schemeClr val="bg2"/>
                </a:solidFill>
                <a:latin typeface="Arial" panose="020B0604020202020204" pitchFamily="34" charset="0"/>
              </a:rPr>
              <a:pPr/>
              <a:t>20</a:t>
            </a:fld>
            <a:endParaRPr lang="en-US" altLang="en-US" sz="2000" i="0" baseline="0">
              <a:solidFill>
                <a:schemeClr val="bg2"/>
              </a:solidFill>
              <a:latin typeface="Arial" panose="020B0604020202020204" pitchFamily="34" charset="0"/>
            </a:endParaRPr>
          </a:p>
        </p:txBody>
      </p:sp>
      <p:sp>
        <p:nvSpPr>
          <p:cNvPr id="565250" name="Rectangle 2">
            <a:extLst>
              <a:ext uri="{FF2B5EF4-FFF2-40B4-BE49-F238E27FC236}">
                <a16:creationId xmlns:a16="http://schemas.microsoft.com/office/drawing/2014/main" xmlns="" id="{1E42B2A8-3348-343D-1C01-97874467E7DC}"/>
              </a:ext>
            </a:extLst>
          </p:cNvPr>
          <p:cNvSpPr>
            <a:spLocks noChangeArrowheads="1"/>
          </p:cNvSpPr>
          <p:nvPr/>
        </p:nvSpPr>
        <p:spPr bwMode="auto">
          <a:xfrm>
            <a:off x="701675" y="103983"/>
            <a:ext cx="9144000" cy="990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xmlns="" id="{BFF39344-B0F4-2D7B-448E-BCBAE33399B9}"/>
              </a:ext>
            </a:extLst>
          </p:cNvPr>
          <p:cNvSpPr txBox="1">
            <a:spLocks noChangeArrowheads="1"/>
          </p:cNvSpPr>
          <p:nvPr/>
        </p:nvSpPr>
        <p:spPr bwMode="auto">
          <a:xfrm>
            <a:off x="870220" y="273270"/>
            <a:ext cx="3501471" cy="584775"/>
          </a:xfrm>
          <a:prstGeom prst="rect">
            <a:avLst/>
          </a:prstGeom>
          <a:noFill/>
          <a:ln>
            <a:noFill/>
          </a:ln>
          <a:effectLst/>
        </p:spPr>
        <p:txBody>
          <a:bodyPr wrap="none">
            <a:spAutoFit/>
          </a:bodyPr>
          <a:lstStyle/>
          <a:p>
            <a:pPr>
              <a:defRPr/>
            </a:pPr>
            <a:r>
              <a:rPr lang="en-US" sz="3200" dirty="0">
                <a:latin typeface="Times-BoldItalic"/>
              </a:rPr>
              <a:t>Contention Window</a:t>
            </a:r>
            <a:endParaRPr lang="en-US" altLang="en-US" sz="3200" dirty="0">
              <a:effectLst>
                <a:outerShdw blurRad="38100" dist="38100" dir="2700000" algn="tl">
                  <a:srgbClr val="C0C0C0"/>
                </a:outerShdw>
              </a:effectLst>
              <a:latin typeface="Times" panose="02020603050405020304" pitchFamily="18" charset="0"/>
            </a:endParaRPr>
          </a:p>
        </p:txBody>
      </p:sp>
      <p:sp>
        <p:nvSpPr>
          <p:cNvPr id="98309" name="Text Box 4">
            <a:extLst>
              <a:ext uri="{FF2B5EF4-FFF2-40B4-BE49-F238E27FC236}">
                <a16:creationId xmlns:a16="http://schemas.microsoft.com/office/drawing/2014/main" xmlns="" id="{A651A3B5-C15D-7AF9-0828-F4AEA1CF4E5D}"/>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xmlns="" id="{F8106A92-AE51-9235-B3AA-23F44A96266F}"/>
              </a:ext>
            </a:extLst>
          </p:cNvPr>
          <p:cNvSpPr>
            <a:spLocks noChangeArrowheads="1"/>
          </p:cNvSpPr>
          <p:nvPr/>
        </p:nvSpPr>
        <p:spPr bwMode="auto">
          <a:xfrm>
            <a:off x="701675" y="1014414"/>
            <a:ext cx="11087051" cy="2185987"/>
          </a:xfrm>
          <a:prstGeom prst="rect">
            <a:avLst/>
          </a:prstGeom>
          <a:noFill/>
          <a:ln>
            <a:noFill/>
          </a:ln>
          <a:effectLst/>
        </p:spPr>
        <p:txBody>
          <a:bodyPr wrap="square" anchor="ctr">
            <a:spAutoFit/>
          </a:bodyPr>
          <a:lstStyle/>
          <a:p>
            <a:pPr algn="just">
              <a:defRPr/>
            </a:pPr>
            <a:endParaRPr lang="en-US" sz="2000" dirty="0">
              <a:latin typeface="Times-BoldItalic"/>
            </a:endParaRPr>
          </a:p>
          <a:p>
            <a:pPr algn="just">
              <a:defRPr/>
            </a:pPr>
            <a:endParaRPr lang="en-US" sz="300" dirty="0">
              <a:latin typeface="Times-BoldItalic"/>
            </a:endParaRPr>
          </a:p>
          <a:p>
            <a:pPr marL="285750" indent="-285750" algn="just">
              <a:buFont typeface="Arial" panose="020B0604020202020204" pitchFamily="34" charset="0"/>
              <a:buChar char="•"/>
              <a:defRPr/>
            </a:pPr>
            <a:r>
              <a:rPr lang="en-US" dirty="0">
                <a:latin typeface="Times-Roman"/>
              </a:rPr>
              <a:t>The </a:t>
            </a:r>
            <a:r>
              <a:rPr lang="en-US" dirty="0">
                <a:latin typeface="Times-Bold"/>
              </a:rPr>
              <a:t>contention window </a:t>
            </a:r>
            <a:r>
              <a:rPr lang="en-US" dirty="0">
                <a:latin typeface="Times-Roman"/>
              </a:rPr>
              <a:t>is an amount of time divided into slots.</a:t>
            </a:r>
          </a:p>
          <a:p>
            <a:pPr marL="285750" indent="-285750" algn="just">
              <a:buFont typeface="Arial" panose="020B0604020202020204" pitchFamily="34" charset="0"/>
              <a:buChar char="•"/>
              <a:defRPr/>
            </a:pPr>
            <a:endParaRPr lang="en-US" sz="1200" dirty="0">
              <a:latin typeface="Times-Roman"/>
            </a:endParaRPr>
          </a:p>
          <a:p>
            <a:pPr marL="285750" indent="-285750" algn="just">
              <a:buFont typeface="Arial" panose="020B0604020202020204" pitchFamily="34" charset="0"/>
              <a:buChar char="•"/>
              <a:defRPr/>
            </a:pPr>
            <a:r>
              <a:rPr lang="en-US" dirty="0">
                <a:latin typeface="Times-Roman"/>
              </a:rPr>
              <a:t>A station that is ready to send chooses a random number of slots as its wait time. </a:t>
            </a:r>
          </a:p>
          <a:p>
            <a:pPr marL="285750" indent="-285750" algn="just">
              <a:buFont typeface="Arial" panose="020B0604020202020204" pitchFamily="34" charset="0"/>
              <a:buChar char="•"/>
              <a:defRPr/>
            </a:pPr>
            <a:endParaRPr lang="en-US" sz="1100" dirty="0">
              <a:latin typeface="Times-Roman"/>
            </a:endParaRPr>
          </a:p>
          <a:p>
            <a:pPr marL="285750" indent="-285750" algn="just">
              <a:buFont typeface="Arial" panose="020B0604020202020204" pitchFamily="34" charset="0"/>
              <a:buChar char="•"/>
              <a:defRPr/>
            </a:pPr>
            <a:r>
              <a:rPr lang="en-US" dirty="0">
                <a:latin typeface="Times-Roman"/>
              </a:rPr>
              <a:t>The number of slots in the window changes according to the binary exponential backoff strategy. This means that it is set to one slot the first time and then doubles each time the station cannot detect an idle channel after the IFS time. </a:t>
            </a:r>
          </a:p>
        </p:txBody>
      </p:sp>
      <p:sp>
        <p:nvSpPr>
          <p:cNvPr id="98311" name="TextBox 4">
            <a:extLst>
              <a:ext uri="{FF2B5EF4-FFF2-40B4-BE49-F238E27FC236}">
                <a16:creationId xmlns:a16="http://schemas.microsoft.com/office/drawing/2014/main" xmlns="" id="{DBE2B4CE-BA00-0821-2236-89BDF8843A83}"/>
              </a:ext>
            </a:extLst>
          </p:cNvPr>
          <p:cNvSpPr txBox="1">
            <a:spLocks noChangeArrowheads="1"/>
          </p:cNvSpPr>
          <p:nvPr/>
        </p:nvSpPr>
        <p:spPr bwMode="auto">
          <a:xfrm>
            <a:off x="701675" y="5570539"/>
            <a:ext cx="11087051"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285750" indent="-28575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buFont typeface="Arial" panose="020B0604020202020204" pitchFamily="34" charset="0"/>
              <a:buChar char="•"/>
            </a:pPr>
            <a:r>
              <a:rPr lang="en-US" altLang="en-US" sz="1800" b="0" i="0" baseline="0" dirty="0">
                <a:latin typeface="Times-Roman"/>
              </a:rPr>
              <a:t>One interesting point about the contention window is that the station needs to sense the channel after each time slot. However, if the station finds the channel busy, it does not restart the process; it just stops the timer and restarts it when the channel is sensed as idle. </a:t>
            </a:r>
          </a:p>
        </p:txBody>
      </p:sp>
      <p:pic>
        <p:nvPicPr>
          <p:cNvPr id="98312" name="Picture 7">
            <a:extLst>
              <a:ext uri="{FF2B5EF4-FFF2-40B4-BE49-F238E27FC236}">
                <a16:creationId xmlns:a16="http://schemas.microsoft.com/office/drawing/2014/main" xmlns="" id="{6F4BC70A-429E-CA55-7969-44DC1C3B0566}"/>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776414" y="3313114"/>
            <a:ext cx="8510587" cy="1944687"/>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xmlns="" id="{A2CB9414-78B7-6C4C-8B8B-68D5508DE5E5}"/>
              </a:ext>
            </a:extLst>
          </p:cNvPr>
          <p:cNvSpPr>
            <a:spLocks noChangeArrowheads="1"/>
          </p:cNvSpPr>
          <p:nvPr/>
        </p:nvSpPr>
        <p:spPr bwMode="auto">
          <a:xfrm>
            <a:off x="609600" y="90486"/>
            <a:ext cx="9144000" cy="990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xmlns="" id="{8C8272A9-0B54-7C48-17A7-40929A06AB43}"/>
              </a:ext>
            </a:extLst>
          </p:cNvPr>
          <p:cNvSpPr txBox="1">
            <a:spLocks noChangeArrowheads="1"/>
          </p:cNvSpPr>
          <p:nvPr/>
        </p:nvSpPr>
        <p:spPr bwMode="auto">
          <a:xfrm>
            <a:off x="829626" y="227238"/>
            <a:ext cx="3514104" cy="584775"/>
          </a:xfrm>
          <a:prstGeom prst="rect">
            <a:avLst/>
          </a:prstGeom>
          <a:noFill/>
          <a:ln>
            <a:noFill/>
          </a:ln>
          <a:effectLst/>
        </p:spPr>
        <p:txBody>
          <a:bodyPr wrap="none">
            <a:spAutoFit/>
          </a:bodyPr>
          <a:lstStyle/>
          <a:p>
            <a:pPr>
              <a:defRPr/>
            </a:pPr>
            <a:r>
              <a:rPr lang="en-US" sz="3200" dirty="0">
                <a:latin typeface="Times-BoldItalic"/>
              </a:rPr>
              <a:t>Acknowledgment…</a:t>
            </a:r>
          </a:p>
        </p:txBody>
      </p:sp>
      <p:sp>
        <p:nvSpPr>
          <p:cNvPr id="100357" name="Text Box 4">
            <a:extLst>
              <a:ext uri="{FF2B5EF4-FFF2-40B4-BE49-F238E27FC236}">
                <a16:creationId xmlns:a16="http://schemas.microsoft.com/office/drawing/2014/main" xmlns="" id="{F2BB892D-FCDB-678E-35F5-6A6C3BD483A3}"/>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xmlns="" id="{B406D79E-A889-C48F-244E-158144B678BE}"/>
              </a:ext>
            </a:extLst>
          </p:cNvPr>
          <p:cNvSpPr>
            <a:spLocks noChangeArrowheads="1"/>
          </p:cNvSpPr>
          <p:nvPr/>
        </p:nvSpPr>
        <p:spPr bwMode="auto">
          <a:xfrm>
            <a:off x="723900" y="1773551"/>
            <a:ext cx="11064826" cy="2677656"/>
          </a:xfrm>
          <a:prstGeom prst="rect">
            <a:avLst/>
          </a:prstGeom>
          <a:noFill/>
          <a:ln>
            <a:noFill/>
          </a:ln>
          <a:effectLst/>
        </p:spPr>
        <p:txBody>
          <a:bodyPr wrap="square" anchor="ctr">
            <a:spAutoFit/>
          </a:bodyPr>
          <a:lstStyle/>
          <a:p>
            <a:pPr>
              <a:defRPr/>
            </a:pPr>
            <a:endParaRPr lang="en-US" sz="2400" dirty="0">
              <a:latin typeface="Times-BoldItalic"/>
            </a:endParaRPr>
          </a:p>
          <a:p>
            <a:pPr marL="342900" indent="-342900" algn="just">
              <a:buFont typeface="Arial" panose="020B0604020202020204" pitchFamily="34" charset="0"/>
              <a:buChar char="•"/>
              <a:defRPr/>
            </a:pPr>
            <a:r>
              <a:rPr lang="en-US" sz="2400" dirty="0">
                <a:latin typeface="Times-Roman"/>
              </a:rPr>
              <a:t>With all these precautions, there still may be a collision resulting in destroyed data. </a:t>
            </a:r>
          </a:p>
          <a:p>
            <a:pPr marL="342900" indent="-342900" algn="just">
              <a:buFont typeface="Arial" panose="020B0604020202020204" pitchFamily="34" charset="0"/>
              <a:buChar char="•"/>
              <a:defRPr/>
            </a:pPr>
            <a:endParaRPr lang="en-US" sz="2400" dirty="0">
              <a:latin typeface="Times-Roman"/>
            </a:endParaRPr>
          </a:p>
          <a:p>
            <a:pPr marL="342900" indent="-342900" algn="just">
              <a:buFont typeface="Arial" panose="020B0604020202020204" pitchFamily="34" charset="0"/>
              <a:buChar char="•"/>
              <a:defRPr/>
            </a:pPr>
            <a:r>
              <a:rPr lang="en-US" sz="2400" dirty="0">
                <a:latin typeface="Times-Roman"/>
              </a:rPr>
              <a:t>In addition, the data may be corrupted during the transmission.</a:t>
            </a:r>
          </a:p>
          <a:p>
            <a:pPr marL="342900" indent="-342900" algn="just">
              <a:buFont typeface="Arial" panose="020B0604020202020204" pitchFamily="34" charset="0"/>
              <a:buChar char="•"/>
              <a:defRPr/>
            </a:pPr>
            <a:endParaRPr lang="en-US" sz="2400" dirty="0">
              <a:latin typeface="Times-Roman"/>
            </a:endParaRPr>
          </a:p>
          <a:p>
            <a:pPr marL="342900" indent="-342900" algn="just">
              <a:buFont typeface="Arial" panose="020B0604020202020204" pitchFamily="34" charset="0"/>
              <a:buChar char="•"/>
              <a:defRPr/>
            </a:pPr>
            <a:r>
              <a:rPr lang="en-US" sz="2400" dirty="0">
                <a:latin typeface="Times-Roman"/>
              </a:rPr>
              <a:t>The positive acknowledgment and the time-out timer can help guarantee that the receiver has received the frame.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xmlns="" id="{39AAF8AF-8982-50B1-7281-71A016261E93}"/>
              </a:ext>
            </a:extLst>
          </p:cNvPr>
          <p:cNvSpPr>
            <a:spLocks noChangeArrowheads="1"/>
          </p:cNvSpPr>
          <p:nvPr/>
        </p:nvSpPr>
        <p:spPr bwMode="auto">
          <a:xfrm>
            <a:off x="257907" y="119527"/>
            <a:ext cx="9144000" cy="584775"/>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xmlns="" id="{CB59CF4F-9277-7DAD-5A04-9353B3954631}"/>
              </a:ext>
            </a:extLst>
          </p:cNvPr>
          <p:cNvSpPr txBox="1">
            <a:spLocks noChangeArrowheads="1"/>
          </p:cNvSpPr>
          <p:nvPr/>
        </p:nvSpPr>
        <p:spPr bwMode="auto">
          <a:xfrm>
            <a:off x="452748" y="119527"/>
            <a:ext cx="3514104" cy="584775"/>
          </a:xfrm>
          <a:prstGeom prst="rect">
            <a:avLst/>
          </a:prstGeom>
          <a:noFill/>
          <a:ln>
            <a:noFill/>
          </a:ln>
          <a:effectLst/>
        </p:spPr>
        <p:txBody>
          <a:bodyPr wrap="none">
            <a:spAutoFit/>
          </a:bodyPr>
          <a:lstStyle/>
          <a:p>
            <a:pPr>
              <a:defRPr/>
            </a:pPr>
            <a:r>
              <a:rPr lang="en-US" sz="3200" dirty="0">
                <a:latin typeface="Times-BoldItalic"/>
              </a:rPr>
              <a:t>Acknowledgment…</a:t>
            </a:r>
          </a:p>
        </p:txBody>
      </p:sp>
      <p:sp>
        <p:nvSpPr>
          <p:cNvPr id="104453" name="Text Box 4">
            <a:extLst>
              <a:ext uri="{FF2B5EF4-FFF2-40B4-BE49-F238E27FC236}">
                <a16:creationId xmlns:a16="http://schemas.microsoft.com/office/drawing/2014/main" xmlns="" id="{0D25A341-D9BA-CA84-1374-E12846D6D7CC}"/>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xmlns="" id="{59617918-CE00-8DC0-AFDA-412B9970DC42}"/>
              </a:ext>
            </a:extLst>
          </p:cNvPr>
          <p:cNvSpPr>
            <a:spLocks noChangeArrowheads="1"/>
          </p:cNvSpPr>
          <p:nvPr/>
        </p:nvSpPr>
        <p:spPr bwMode="auto">
          <a:xfrm>
            <a:off x="257907" y="1298703"/>
            <a:ext cx="11249465" cy="4832092"/>
          </a:xfrm>
          <a:prstGeom prst="rect">
            <a:avLst/>
          </a:prstGeom>
          <a:noFill/>
          <a:ln>
            <a:noFill/>
          </a:ln>
          <a:effectLst/>
        </p:spPr>
        <p:txBody>
          <a:bodyPr wrap="square" anchor="ctr">
            <a:spAutoFit/>
          </a:bodyPr>
          <a:lstStyle/>
          <a:p>
            <a:pPr>
              <a:defRPr/>
            </a:pPr>
            <a:r>
              <a:rPr lang="en-US" sz="2400" dirty="0">
                <a:latin typeface="Times-BoldItalic"/>
              </a:rPr>
              <a:t>Exchange of data and control frames in time:</a:t>
            </a:r>
          </a:p>
          <a:p>
            <a:pPr>
              <a:defRPr/>
            </a:pPr>
            <a:endParaRPr lang="en-US" sz="2400" dirty="0">
              <a:latin typeface="Times-BoldItalic"/>
            </a:endParaRPr>
          </a:p>
          <a:p>
            <a:pPr marL="284163" indent="-284163" algn="just">
              <a:defRPr/>
            </a:pPr>
            <a:r>
              <a:rPr lang="en-US" sz="2000" dirty="0">
                <a:solidFill>
                  <a:srgbClr val="00FFFF"/>
                </a:solidFill>
                <a:latin typeface="Times-Bold"/>
              </a:rPr>
              <a:t>1. </a:t>
            </a:r>
            <a:r>
              <a:rPr lang="en-US" sz="2000" dirty="0">
                <a:solidFill>
                  <a:srgbClr val="000000"/>
                </a:solidFill>
                <a:latin typeface="Times-Roman"/>
              </a:rPr>
              <a:t>Before sending a frame, the source station senses the medium.</a:t>
            </a:r>
          </a:p>
          <a:p>
            <a:pPr marL="793750" indent="-284163" algn="just">
              <a:defRPr/>
            </a:pPr>
            <a:r>
              <a:rPr lang="en-US" sz="2000" dirty="0">
                <a:solidFill>
                  <a:srgbClr val="00FFFF"/>
                </a:solidFill>
                <a:latin typeface="Times-Bold"/>
              </a:rPr>
              <a:t>a. </a:t>
            </a:r>
            <a:r>
              <a:rPr lang="en-US" sz="2000" dirty="0">
                <a:solidFill>
                  <a:srgbClr val="000000"/>
                </a:solidFill>
                <a:latin typeface="Times-Roman"/>
              </a:rPr>
              <a:t>The channel uses a persistence strategy with backoff until the channel is idle.</a:t>
            </a:r>
          </a:p>
          <a:p>
            <a:pPr marL="793750" indent="-284163" algn="just">
              <a:defRPr/>
            </a:pPr>
            <a:r>
              <a:rPr lang="en-US" sz="2000" dirty="0">
                <a:solidFill>
                  <a:srgbClr val="00FFFF"/>
                </a:solidFill>
                <a:latin typeface="Times-Bold"/>
              </a:rPr>
              <a:t>b. </a:t>
            </a:r>
            <a:r>
              <a:rPr lang="en-US" sz="2000" dirty="0">
                <a:solidFill>
                  <a:srgbClr val="000000"/>
                </a:solidFill>
                <a:latin typeface="Times-Roman"/>
              </a:rPr>
              <a:t>After the station is found to be idle, the station waits for a period of time called the </a:t>
            </a:r>
            <a:r>
              <a:rPr lang="en-US" sz="2000" dirty="0">
                <a:solidFill>
                  <a:srgbClr val="000000"/>
                </a:solidFill>
                <a:latin typeface="Times-BoldItalic"/>
              </a:rPr>
              <a:t>DCF interframe space (DIFS); </a:t>
            </a:r>
            <a:r>
              <a:rPr lang="en-US" sz="2000" dirty="0">
                <a:solidFill>
                  <a:srgbClr val="000000"/>
                </a:solidFill>
                <a:latin typeface="Times-Roman"/>
              </a:rPr>
              <a:t>then the station sends a control frame called the </a:t>
            </a:r>
            <a:r>
              <a:rPr lang="en-US" sz="2000" dirty="0">
                <a:solidFill>
                  <a:srgbClr val="000000"/>
                </a:solidFill>
                <a:latin typeface="Times-Italic"/>
              </a:rPr>
              <a:t>request to send (RTS)</a:t>
            </a:r>
            <a:r>
              <a:rPr lang="en-US" sz="2000" dirty="0">
                <a:solidFill>
                  <a:srgbClr val="000000"/>
                </a:solidFill>
                <a:latin typeface="Times-Roman"/>
              </a:rPr>
              <a:t>.</a:t>
            </a:r>
          </a:p>
          <a:p>
            <a:pPr marL="284163" indent="-284163" algn="just">
              <a:defRPr/>
            </a:pPr>
            <a:endParaRPr lang="en-US" sz="2000" dirty="0">
              <a:solidFill>
                <a:srgbClr val="000000"/>
              </a:solidFill>
              <a:latin typeface="Times-Roman"/>
            </a:endParaRPr>
          </a:p>
          <a:p>
            <a:pPr marL="284163" indent="-284163" algn="just">
              <a:defRPr/>
            </a:pPr>
            <a:r>
              <a:rPr lang="en-US" sz="2000" dirty="0">
                <a:solidFill>
                  <a:srgbClr val="00FFFF"/>
                </a:solidFill>
                <a:latin typeface="Times-Bold"/>
              </a:rPr>
              <a:t>2. </a:t>
            </a:r>
            <a:r>
              <a:rPr lang="en-US" sz="2000" dirty="0">
                <a:solidFill>
                  <a:srgbClr val="000000"/>
                </a:solidFill>
                <a:latin typeface="Times-Roman"/>
              </a:rPr>
              <a:t>After receiving the RTS and waiting a period of time called the </a:t>
            </a:r>
            <a:r>
              <a:rPr lang="en-US" sz="2000" dirty="0">
                <a:solidFill>
                  <a:srgbClr val="000000"/>
                </a:solidFill>
                <a:latin typeface="Times-BoldItalic"/>
              </a:rPr>
              <a:t>short interframe space (SIFS), </a:t>
            </a:r>
            <a:r>
              <a:rPr lang="en-US" sz="2000" dirty="0">
                <a:solidFill>
                  <a:srgbClr val="000000"/>
                </a:solidFill>
                <a:latin typeface="Times-Roman"/>
              </a:rPr>
              <a:t>the destination station sends a control frame, called the </a:t>
            </a:r>
            <a:r>
              <a:rPr lang="en-US" sz="2000" dirty="0">
                <a:solidFill>
                  <a:srgbClr val="000000"/>
                </a:solidFill>
                <a:latin typeface="Times-Italic"/>
              </a:rPr>
              <a:t>clear to send (CTS), </a:t>
            </a:r>
            <a:r>
              <a:rPr lang="en-US" sz="2000" dirty="0">
                <a:solidFill>
                  <a:srgbClr val="000000"/>
                </a:solidFill>
                <a:latin typeface="Times-Roman"/>
              </a:rPr>
              <a:t>to the source station. This control frame indicates that the destination station is ready to receive data.</a:t>
            </a:r>
          </a:p>
          <a:p>
            <a:pPr marL="284163" indent="-284163" algn="just">
              <a:defRPr/>
            </a:pPr>
            <a:endParaRPr lang="en-US" sz="2000" dirty="0">
              <a:solidFill>
                <a:srgbClr val="000000"/>
              </a:solidFill>
              <a:latin typeface="Times-Roman"/>
            </a:endParaRPr>
          </a:p>
          <a:p>
            <a:pPr marL="284163" indent="-284163" algn="just">
              <a:defRPr/>
            </a:pPr>
            <a:r>
              <a:rPr lang="en-US" sz="2000" dirty="0">
                <a:solidFill>
                  <a:srgbClr val="00FFFF"/>
                </a:solidFill>
                <a:latin typeface="Times-Bold"/>
              </a:rPr>
              <a:t>3. </a:t>
            </a:r>
            <a:r>
              <a:rPr lang="en-US" sz="2000" dirty="0">
                <a:solidFill>
                  <a:srgbClr val="000000"/>
                </a:solidFill>
                <a:latin typeface="Times-Roman"/>
              </a:rPr>
              <a:t>The source station sends data after waiting an amount of time equal to SIFS.</a:t>
            </a:r>
          </a:p>
          <a:p>
            <a:pPr marL="284163" indent="-284163" algn="just">
              <a:defRPr/>
            </a:pPr>
            <a:endParaRPr lang="en-US" sz="2000" dirty="0">
              <a:solidFill>
                <a:srgbClr val="000000"/>
              </a:solidFill>
              <a:latin typeface="Times-Roman"/>
            </a:endParaRPr>
          </a:p>
          <a:p>
            <a:pPr marL="284163" indent="-284163" algn="just">
              <a:defRPr/>
            </a:pPr>
            <a:r>
              <a:rPr lang="en-US" sz="2000" dirty="0">
                <a:solidFill>
                  <a:srgbClr val="00FFFF"/>
                </a:solidFill>
                <a:latin typeface="Times-Bold"/>
              </a:rPr>
              <a:t>4. </a:t>
            </a:r>
            <a:r>
              <a:rPr lang="en-US" sz="2000" dirty="0">
                <a:solidFill>
                  <a:srgbClr val="000000"/>
                </a:solidFill>
                <a:latin typeface="Times-Roman"/>
              </a:rPr>
              <a:t>The destination station, after waiting an amount of time equal to SIFS, sends an acknowledgment to show that the frame has been received. arrived.</a:t>
            </a:r>
            <a:endParaRPr lang="en-US" dirty="0">
              <a:latin typeface="Times-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xmlns="" id="{A2465499-2C25-0702-FDCB-10A2FAC872E2}"/>
              </a:ext>
            </a:extLst>
          </p:cNvPr>
          <p:cNvSpPr>
            <a:spLocks noChangeArrowheads="1"/>
          </p:cNvSpPr>
          <p:nvPr/>
        </p:nvSpPr>
        <p:spPr bwMode="auto">
          <a:xfrm>
            <a:off x="201637" y="68264"/>
            <a:ext cx="9144000" cy="584775"/>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xmlns="" id="{A58E66B3-7EB2-78E6-F91A-389FF83FD43E}"/>
              </a:ext>
            </a:extLst>
          </p:cNvPr>
          <p:cNvSpPr txBox="1">
            <a:spLocks noChangeArrowheads="1"/>
          </p:cNvSpPr>
          <p:nvPr/>
        </p:nvSpPr>
        <p:spPr bwMode="auto">
          <a:xfrm>
            <a:off x="201637" y="68264"/>
            <a:ext cx="3514104" cy="584775"/>
          </a:xfrm>
          <a:prstGeom prst="rect">
            <a:avLst/>
          </a:prstGeom>
          <a:noFill/>
          <a:ln>
            <a:noFill/>
          </a:ln>
          <a:effectLst/>
        </p:spPr>
        <p:txBody>
          <a:bodyPr wrap="none">
            <a:spAutoFit/>
          </a:bodyPr>
          <a:lstStyle/>
          <a:p>
            <a:pPr>
              <a:defRPr/>
            </a:pPr>
            <a:r>
              <a:rPr lang="en-US" sz="3200" dirty="0">
                <a:latin typeface="Times-BoldItalic"/>
              </a:rPr>
              <a:t>Acknowledgment…</a:t>
            </a:r>
          </a:p>
        </p:txBody>
      </p:sp>
      <p:sp>
        <p:nvSpPr>
          <p:cNvPr id="106501" name="Text Box 4">
            <a:extLst>
              <a:ext uri="{FF2B5EF4-FFF2-40B4-BE49-F238E27FC236}">
                <a16:creationId xmlns:a16="http://schemas.microsoft.com/office/drawing/2014/main" xmlns="" id="{4CE6C1C4-3F33-9A66-DA27-6D0728925090}"/>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xmlns="" id="{2AD122C7-8E6C-9A82-5AE8-83150D7C77BD}"/>
              </a:ext>
            </a:extLst>
          </p:cNvPr>
          <p:cNvSpPr>
            <a:spLocks noChangeArrowheads="1"/>
          </p:cNvSpPr>
          <p:nvPr/>
        </p:nvSpPr>
        <p:spPr bwMode="auto">
          <a:xfrm>
            <a:off x="201637" y="2137707"/>
            <a:ext cx="6663396" cy="4401205"/>
          </a:xfrm>
          <a:prstGeom prst="rect">
            <a:avLst/>
          </a:prstGeom>
          <a:noFill/>
          <a:ln>
            <a:noFill/>
          </a:ln>
          <a:effectLst/>
        </p:spPr>
        <p:txBody>
          <a:bodyPr wrap="square" anchor="ctr">
            <a:spAutoFit/>
          </a:bodyPr>
          <a:lstStyle/>
          <a:p>
            <a:pPr marL="342900" indent="-342900" algn="just">
              <a:buFont typeface="Arial" panose="020B0604020202020204" pitchFamily="34" charset="0"/>
              <a:buChar char="•"/>
              <a:defRPr/>
            </a:pPr>
            <a:r>
              <a:rPr lang="en-US" sz="2000" dirty="0">
                <a:solidFill>
                  <a:srgbClr val="000000"/>
                </a:solidFill>
                <a:latin typeface="Times-Roman"/>
              </a:rPr>
              <a:t>The key is a feature called </a:t>
            </a:r>
            <a:r>
              <a:rPr lang="en-US" sz="2000" dirty="0">
                <a:solidFill>
                  <a:srgbClr val="000000"/>
                </a:solidFill>
                <a:latin typeface="Times-Italic"/>
              </a:rPr>
              <a:t>NAV.</a:t>
            </a:r>
          </a:p>
          <a:p>
            <a:pPr marL="342900" indent="-342900" algn="just">
              <a:buFont typeface="Arial" panose="020B0604020202020204" pitchFamily="34" charset="0"/>
              <a:buChar char="•"/>
              <a:defRPr/>
            </a:pPr>
            <a:endParaRPr lang="en-US" sz="2000" dirty="0">
              <a:solidFill>
                <a:srgbClr val="000000"/>
              </a:solidFill>
              <a:latin typeface="Times-Italic"/>
            </a:endParaRPr>
          </a:p>
          <a:p>
            <a:pPr marL="342900" indent="-342900" algn="just">
              <a:buFont typeface="Arial" panose="020B0604020202020204" pitchFamily="34" charset="0"/>
              <a:buChar char="•"/>
              <a:defRPr/>
            </a:pPr>
            <a:r>
              <a:rPr lang="en-US" sz="2000" dirty="0">
                <a:solidFill>
                  <a:srgbClr val="000000"/>
                </a:solidFill>
                <a:latin typeface="Times-Roman"/>
              </a:rPr>
              <a:t>When a station sends an RTS frame, it includes the duration of time that it needs to occupy the channel. The stations that are affected by this transmission create a timer called a </a:t>
            </a:r>
            <a:r>
              <a:rPr lang="en-US" sz="2000" dirty="0">
                <a:solidFill>
                  <a:srgbClr val="000000"/>
                </a:solidFill>
                <a:latin typeface="Times-Bold"/>
              </a:rPr>
              <a:t>network allocation vector (NAV) </a:t>
            </a:r>
            <a:r>
              <a:rPr lang="en-US" sz="2000" dirty="0">
                <a:solidFill>
                  <a:srgbClr val="000000"/>
                </a:solidFill>
                <a:latin typeface="Times-Roman"/>
              </a:rPr>
              <a:t>that shows how much time must pass before these stations are allowed to check the channel for idleness. </a:t>
            </a:r>
          </a:p>
          <a:p>
            <a:pPr marL="342900" indent="-342900" algn="just">
              <a:buFont typeface="Arial" panose="020B0604020202020204" pitchFamily="34" charset="0"/>
              <a:buChar char="•"/>
              <a:defRPr/>
            </a:pPr>
            <a:endParaRPr lang="en-US" sz="2000" dirty="0">
              <a:solidFill>
                <a:srgbClr val="000000"/>
              </a:solidFill>
              <a:latin typeface="Times-Roman"/>
            </a:endParaRPr>
          </a:p>
          <a:p>
            <a:pPr marL="342900" indent="-342900" algn="just">
              <a:buFont typeface="Arial" panose="020B0604020202020204" pitchFamily="34" charset="0"/>
              <a:buChar char="•"/>
              <a:defRPr/>
            </a:pPr>
            <a:r>
              <a:rPr lang="en-US" sz="2000" dirty="0">
                <a:solidFill>
                  <a:srgbClr val="000000"/>
                </a:solidFill>
                <a:latin typeface="Times-Roman"/>
              </a:rPr>
              <a:t>Each time a station accesses the system and sends an RTS frame, other stations start their NAV. </a:t>
            </a:r>
          </a:p>
          <a:p>
            <a:pPr marL="342900" indent="-342900" algn="just">
              <a:buFont typeface="Arial" panose="020B0604020202020204" pitchFamily="34" charset="0"/>
              <a:buChar char="•"/>
              <a:defRPr/>
            </a:pPr>
            <a:endParaRPr lang="en-US" sz="2000" dirty="0">
              <a:solidFill>
                <a:srgbClr val="000000"/>
              </a:solidFill>
              <a:latin typeface="Times-Roman"/>
            </a:endParaRPr>
          </a:p>
          <a:p>
            <a:pPr marL="342900" indent="-342900" algn="just">
              <a:buFont typeface="Arial" panose="020B0604020202020204" pitchFamily="34" charset="0"/>
              <a:buChar char="•"/>
              <a:defRPr/>
            </a:pPr>
            <a:r>
              <a:rPr lang="en-US" sz="2000" dirty="0">
                <a:solidFill>
                  <a:srgbClr val="000000"/>
                </a:solidFill>
                <a:latin typeface="Times-Roman"/>
              </a:rPr>
              <a:t>Each station, before sensing the physical medium to see if it is idle, first checks its NAV to see if it has expired. </a:t>
            </a:r>
            <a:endParaRPr lang="en-US" dirty="0">
              <a:latin typeface="Times-BoldItalic"/>
            </a:endParaRPr>
          </a:p>
        </p:txBody>
      </p:sp>
      <p:pic>
        <p:nvPicPr>
          <p:cNvPr id="5" name="Picture 2">
            <a:extLst>
              <a:ext uri="{FF2B5EF4-FFF2-40B4-BE49-F238E27FC236}">
                <a16:creationId xmlns:a16="http://schemas.microsoft.com/office/drawing/2014/main" xmlns="" id="{226871D4-9251-31FB-7766-7D0CDA3C5085}"/>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032215" y="2035195"/>
            <a:ext cx="4958147" cy="47545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extBox 5">
            <a:extLst>
              <a:ext uri="{FF2B5EF4-FFF2-40B4-BE49-F238E27FC236}">
                <a16:creationId xmlns:a16="http://schemas.microsoft.com/office/drawing/2014/main" xmlns="" id="{D1B6754B-8021-58B2-C40B-1706D840142A}"/>
              </a:ext>
            </a:extLst>
          </p:cNvPr>
          <p:cNvSpPr txBox="1"/>
          <p:nvPr/>
        </p:nvSpPr>
        <p:spPr>
          <a:xfrm>
            <a:off x="385928" y="918180"/>
            <a:ext cx="11360595" cy="1077218"/>
          </a:xfrm>
          <a:prstGeom prst="rect">
            <a:avLst/>
          </a:prstGeom>
          <a:noFill/>
          <a:ln>
            <a:solidFill>
              <a:schemeClr val="tx1"/>
            </a:solidFill>
          </a:ln>
        </p:spPr>
        <p:txBody>
          <a:bodyPr wrap="square" rtlCol="0">
            <a:spAutoFit/>
          </a:bodyPr>
          <a:lstStyle/>
          <a:p>
            <a:pPr>
              <a:defRPr/>
            </a:pPr>
            <a:r>
              <a:rPr lang="en-US" sz="2400" b="1" dirty="0">
                <a:latin typeface="Times-BoldItalic"/>
              </a:rPr>
              <a:t>Network Allocation Vector:</a:t>
            </a:r>
          </a:p>
          <a:p>
            <a:pPr algn="just">
              <a:defRPr/>
            </a:pPr>
            <a:r>
              <a:rPr lang="en-US" sz="2000" dirty="0">
                <a:solidFill>
                  <a:srgbClr val="3366FF"/>
                </a:solidFill>
                <a:latin typeface="Times-Roman"/>
              </a:rPr>
              <a:t>How do other stations defer sending their data if one station acquires access? </a:t>
            </a:r>
          </a:p>
          <a:p>
            <a:pPr algn="just">
              <a:defRPr/>
            </a:pPr>
            <a:r>
              <a:rPr lang="en-US" sz="2000" dirty="0">
                <a:solidFill>
                  <a:srgbClr val="3366FF"/>
                </a:solidFill>
                <a:latin typeface="Times-Roman"/>
              </a:rPr>
              <a:t>How is the </a:t>
            </a:r>
            <a:r>
              <a:rPr lang="en-US" sz="2000" dirty="0">
                <a:solidFill>
                  <a:srgbClr val="3366FF"/>
                </a:solidFill>
                <a:latin typeface="Times-Italic"/>
              </a:rPr>
              <a:t>collision avoidance </a:t>
            </a:r>
            <a:r>
              <a:rPr lang="en-US" sz="2000" dirty="0">
                <a:solidFill>
                  <a:srgbClr val="3366FF"/>
                </a:solidFill>
                <a:latin typeface="Times-Roman"/>
              </a:rPr>
              <a:t>aspect of this protocol accomplished</a:t>
            </a:r>
            <a:r>
              <a:rPr lang="en-US" sz="2000" dirty="0">
                <a:solidFill>
                  <a:srgbClr val="3366FF"/>
                </a:solidFill>
                <a:latin typeface="Times-Italic"/>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Line 2">
            <a:extLst>
              <a:ext uri="{FF2B5EF4-FFF2-40B4-BE49-F238E27FC236}">
                <a16:creationId xmlns:a16="http://schemas.microsoft.com/office/drawing/2014/main" xmlns="" id="{9F817731-4F64-E0CF-54CB-7705EFD7A92A}"/>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2404" name="Line 3">
            <a:extLst>
              <a:ext uri="{FF2B5EF4-FFF2-40B4-BE49-F238E27FC236}">
                <a16:creationId xmlns:a16="http://schemas.microsoft.com/office/drawing/2014/main" xmlns="" id="{58F53139-C926-33D7-3354-B387CDF147A6}"/>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2405" name="Line 5">
            <a:extLst>
              <a:ext uri="{FF2B5EF4-FFF2-40B4-BE49-F238E27FC236}">
                <a16:creationId xmlns:a16="http://schemas.microsoft.com/office/drawing/2014/main" xmlns="" id="{4A0C82DA-CF38-DB20-BDC7-7A2D14B9CAF2}"/>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pic>
        <p:nvPicPr>
          <p:cNvPr id="102406" name="Picture 2">
            <a:extLst>
              <a:ext uri="{FF2B5EF4-FFF2-40B4-BE49-F238E27FC236}">
                <a16:creationId xmlns:a16="http://schemas.microsoft.com/office/drawing/2014/main" xmlns="" id="{F9548953-8C03-72F7-052F-E51834BD29FB}"/>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676400" y="-3175"/>
            <a:ext cx="8839200" cy="6861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xmlns=""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xmlns=""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Content Placeholder 2">
            <a:extLst>
              <a:ext uri="{FF2B5EF4-FFF2-40B4-BE49-F238E27FC236}">
                <a16:creationId xmlns:a16="http://schemas.microsoft.com/office/drawing/2014/main" xmlns="" id="{51E0631B-1888-44A3-956F-2018E4A03155}"/>
              </a:ext>
            </a:extLst>
          </p:cNvPr>
          <p:cNvSpPr>
            <a:spLocks noGrp="1"/>
          </p:cNvSpPr>
          <p:nvPr>
            <p:ph idx="1"/>
          </p:nvPr>
        </p:nvSpPr>
        <p:spPr>
          <a:xfrm>
            <a:off x="6064669" y="2499360"/>
            <a:ext cx="5426844" cy="4731434"/>
          </a:xfrm>
        </p:spPr>
        <p:txBody>
          <a:bodyPr>
            <a:normAutofit/>
          </a:bodyPr>
          <a:lstStyle/>
          <a:p>
            <a:r>
              <a:rPr lang="en-US" dirty="0"/>
              <a:t>CSMA Protocols</a:t>
            </a:r>
          </a:p>
          <a:p>
            <a:pPr lvl="1">
              <a:buFont typeface="Wingdings" panose="05000000000000000000" pitchFamily="2" charset="2"/>
              <a:buChar char="Ø"/>
            </a:pPr>
            <a:r>
              <a:rPr lang="en-US" dirty="0"/>
              <a:t> CSMA</a:t>
            </a:r>
          </a:p>
          <a:p>
            <a:pPr lvl="1">
              <a:buFont typeface="Wingdings" panose="05000000000000000000" pitchFamily="2" charset="2"/>
              <a:buChar char="Ø"/>
            </a:pPr>
            <a:r>
              <a:rPr lang="en-US" dirty="0"/>
              <a:t> CSMA/CD</a:t>
            </a:r>
          </a:p>
          <a:p>
            <a:pPr lvl="1">
              <a:buFont typeface="Wingdings" panose="05000000000000000000" pitchFamily="2" charset="2"/>
              <a:buChar char="Ø"/>
            </a:pPr>
            <a:r>
              <a:rPr lang="en-US" dirty="0"/>
              <a:t> CSMA/CA</a:t>
            </a:r>
          </a:p>
          <a:p>
            <a:endParaRPr lang="en-US" dirty="0"/>
          </a:p>
          <a:p>
            <a:endParaRPr lang="en-US" dirty="0"/>
          </a:p>
        </p:txBody>
      </p:sp>
      <p:pic>
        <p:nvPicPr>
          <p:cNvPr id="2" name="Picture 2" descr="KL Deemed to be University Logo">
            <a:extLst>
              <a:ext uri="{FF2B5EF4-FFF2-40B4-BE49-F238E27FC236}">
                <a16:creationId xmlns:a16="http://schemas.microsoft.com/office/drawing/2014/main" xmlns=""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xmlns=""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xmlns=""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2194816"/>
            <a:ext cx="10255348" cy="2468368"/>
          </a:xfrm>
          <a:prstGeom prst="rect">
            <a:avLst/>
          </a:prstGeom>
          <a:noFill/>
        </p:spPr>
        <p:txBody>
          <a:bodyPr wrap="square" rtlCol="0">
            <a:spAutoFit/>
          </a:bodyPr>
          <a:lstStyle/>
          <a:p>
            <a:pPr marL="457200" indent="-457200">
              <a:lnSpc>
                <a:spcPct val="200000"/>
              </a:lnSpc>
              <a:buAutoNum type="arabicPeriod"/>
            </a:pPr>
            <a:r>
              <a:rPr lang="en-US" sz="2000" dirty="0"/>
              <a:t>Describe the working of CSMA protocol.</a:t>
            </a:r>
          </a:p>
          <a:p>
            <a:pPr marL="457200" indent="-457200">
              <a:lnSpc>
                <a:spcPct val="200000"/>
              </a:lnSpc>
              <a:buAutoNum type="arabicPeriod"/>
            </a:pPr>
            <a:r>
              <a:rPr lang="en-US" sz="2000" dirty="0"/>
              <a:t>Explain about the three CSMA persistent methods.</a:t>
            </a:r>
          </a:p>
          <a:p>
            <a:pPr marL="457200" indent="-457200">
              <a:lnSpc>
                <a:spcPct val="200000"/>
              </a:lnSpc>
              <a:buAutoNum type="arabicPeriod"/>
            </a:pPr>
            <a:r>
              <a:rPr lang="en-US" sz="2000" dirty="0"/>
              <a:t>Demonstrate the working principle of CSMA/CD and CSMA/CA protocols.</a:t>
            </a:r>
          </a:p>
          <a:p>
            <a:pPr marL="457200" indent="-457200">
              <a:lnSpc>
                <a:spcPct val="200000"/>
              </a:lnSpc>
              <a:buAutoNum type="arabicPeriod"/>
            </a:pPr>
            <a:r>
              <a:rPr lang="en-US" sz="2000" dirty="0"/>
              <a:t>Compare CSMA, CSMA/CD and CSMA/CA protocols.</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2602073769"/>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1711366"/>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Behrouz A. </a:t>
            </a:r>
            <a:r>
              <a:rPr lang="en-US" dirty="0" err="1"/>
              <a:t>Forouzan</a:t>
            </a:r>
            <a:r>
              <a:rPr lang="en-US" dirty="0"/>
              <a:t> , “Data Communication and Networking”, TMH, 5th Edition, 2012.</a:t>
            </a:r>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2602073769"/>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Computer </a:t>
            </a:r>
            <a:r>
              <a:rPr lang="en-US" sz="2400" b="1" dirty="0" smtClean="0">
                <a:latin typeface="Poppins" pitchFamily="2" charset="77"/>
                <a:cs typeface="Poppins" pitchFamily="2" charset="77"/>
              </a:rPr>
              <a:t>Networks</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465</TotalTime>
  <Words>1929</Words>
  <Application>Microsoft Office PowerPoint</Application>
  <PresentationFormat>Custom</PresentationFormat>
  <Paragraphs>236</Paragraphs>
  <Slides>28</Slides>
  <Notes>23</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1_Office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admin</cp:lastModifiedBy>
  <cp:revision>32</cp:revision>
  <dcterms:created xsi:type="dcterms:W3CDTF">2020-02-08T09:57:44Z</dcterms:created>
  <dcterms:modified xsi:type="dcterms:W3CDTF">2025-06-26T11:31:55Z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