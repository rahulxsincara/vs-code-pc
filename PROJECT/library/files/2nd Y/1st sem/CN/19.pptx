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3" r:id="rId3"/>
  </p:sldMasterIdLst>
  <p:notesMasterIdLst>
    <p:notesMasterId r:id="rId31"/>
  </p:notesMasterIdLst>
  <p:sldIdLst>
    <p:sldId id="271" r:id="rId4"/>
    <p:sldId id="300" r:id="rId5"/>
    <p:sldId id="267" r:id="rId6"/>
    <p:sldId id="360" r:id="rId7"/>
    <p:sldId id="361" r:id="rId8"/>
    <p:sldId id="363" r:id="rId9"/>
    <p:sldId id="372" r:id="rId10"/>
    <p:sldId id="362" r:id="rId11"/>
    <p:sldId id="364" r:id="rId12"/>
    <p:sldId id="373" r:id="rId13"/>
    <p:sldId id="365" r:id="rId14"/>
    <p:sldId id="367" r:id="rId15"/>
    <p:sldId id="440" r:id="rId16"/>
    <p:sldId id="439" r:id="rId17"/>
    <p:sldId id="374" r:id="rId18"/>
    <p:sldId id="368" r:id="rId19"/>
    <p:sldId id="369" r:id="rId20"/>
    <p:sldId id="340" r:id="rId21"/>
    <p:sldId id="357" r:id="rId22"/>
    <p:sldId id="435" r:id="rId23"/>
    <p:sldId id="436" r:id="rId24"/>
    <p:sldId id="437" r:id="rId25"/>
    <p:sldId id="438" r:id="rId26"/>
    <p:sldId id="274" r:id="rId27"/>
    <p:sldId id="302" r:id="rId28"/>
    <p:sldId id="303" r:id="rId29"/>
    <p:sldId id="30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6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605074-1D44-AADD-55FB-3B778A96CD8A}" v="4" dt="2025-07-15T05:02:49.0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theme" Target="theme/theme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microsoft.com/office/2016/11/relationships/changesInfo" Target="changesInfos/changesInfo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ushar Kanti De" userId="S::vit.tushar@kluniversity.in::7b4f7e15-ba50-4f9a-a6ae-1e38b5a8a216" providerId="AD" clId="Web-{DC605074-1D44-AADD-55FB-3B778A96CD8A}"/>
    <pc:docChg chg="modSld">
      <pc:chgData name="Tushar Kanti De" userId="S::vit.tushar@kluniversity.in::7b4f7e15-ba50-4f9a-a6ae-1e38b5a8a216" providerId="AD" clId="Web-{DC605074-1D44-AADD-55FB-3B778A96CD8A}" dt="2025-07-15T05:02:48.146" v="1" actId="20577"/>
      <pc:docMkLst>
        <pc:docMk/>
      </pc:docMkLst>
      <pc:sldChg chg="modSp">
        <pc:chgData name="Tushar Kanti De" userId="S::vit.tushar@kluniversity.in::7b4f7e15-ba50-4f9a-a6ae-1e38b5a8a216" providerId="AD" clId="Web-{DC605074-1D44-AADD-55FB-3B778A96CD8A}" dt="2025-07-15T05:02:48.146" v="1" actId="20577"/>
        <pc:sldMkLst>
          <pc:docMk/>
          <pc:sldMk cId="0" sldId="271"/>
        </pc:sldMkLst>
        <pc:spChg chg="mod">
          <ac:chgData name="Tushar Kanti De" userId="S::vit.tushar@kluniversity.in::7b4f7e15-ba50-4f9a-a6ae-1e38b5a8a216" providerId="AD" clId="Web-{DC605074-1D44-AADD-55FB-3B778A96CD8A}" dt="2025-07-15T05:02:48.146" v="1" actId="20577"/>
          <ac:spMkLst>
            <pc:docMk/>
            <pc:sldMk cId="0" sldId="271"/>
            <ac:spMk id="47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674AB80-D52C-4BC5-A318-9957F559669C}" type="datetimeFigureOut">
              <a:rPr lang="en-IN" smtClean="0"/>
              <a:pPr/>
              <a:t>14-07-2025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C356A1-FF8F-4F33-877A-3F66CC94892A}" type="slidenum">
              <a:rPr lang="en-IN" smtClean="0"/>
              <a:pPr/>
              <a:t>‹#›</a:t>
            </a:fld>
            <a:endParaRPr lang="en-IN"/>
          </a:p>
        </p:txBody>
      </p:sp>
    </p:spTree>
    <p:extLst>
      <p:ext uri="{BB962C8B-B14F-4D97-AF65-F5344CB8AC3E}">
        <p14:creationId xmlns:p14="http://schemas.microsoft.com/office/powerpoint/2010/main" val="1751637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DA161-99BB-49D5-9BED-E2879614D7C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FCDEA71-5D64-4A14-85BB-385AF90F42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6BB0B7A-C7C8-4040-897F-079AF6275AF5}"/>
              </a:ext>
            </a:extLst>
          </p:cNvPr>
          <p:cNvSpPr>
            <a:spLocks noGrp="1"/>
          </p:cNvSpPr>
          <p:nvPr>
            <p:ph type="dt" sz="half" idx="10"/>
          </p:nvPr>
        </p:nvSpPr>
        <p:spPr/>
        <p:txBody>
          <a:bodyPr/>
          <a:lstStyle/>
          <a:p>
            <a:fld id="{1B5B2125-68AE-4292-BFAC-A6FA3EACBA97}" type="datetimeFigureOut">
              <a:rPr lang="en-IN" smtClean="0"/>
              <a:pPr/>
              <a:t>14-07-2025</a:t>
            </a:fld>
            <a:endParaRPr lang="en-IN"/>
          </a:p>
        </p:txBody>
      </p:sp>
      <p:sp>
        <p:nvSpPr>
          <p:cNvPr id="5" name="Footer Placeholder 4">
            <a:extLst>
              <a:ext uri="{FF2B5EF4-FFF2-40B4-BE49-F238E27FC236}">
                <a16:creationId xmlns:a16="http://schemas.microsoft.com/office/drawing/2014/main" id="{04534EAB-F731-4A6E-9385-190BA324455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8C04F57-1472-477A-9831-E3083FDEDCCA}"/>
              </a:ext>
            </a:extLst>
          </p:cNvPr>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12275700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C5078-F9B0-4B99-8842-80474C8C3BF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FEA7605-F43D-4112-98E2-BD60EA8F87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AC49CB-C3E1-4C0D-9277-19033190DBA9}"/>
              </a:ext>
            </a:extLst>
          </p:cNvPr>
          <p:cNvSpPr>
            <a:spLocks noGrp="1"/>
          </p:cNvSpPr>
          <p:nvPr>
            <p:ph type="dt" sz="half" idx="10"/>
          </p:nvPr>
        </p:nvSpPr>
        <p:spPr/>
        <p:txBody>
          <a:bodyPr/>
          <a:lstStyle/>
          <a:p>
            <a:fld id="{1B5B2125-68AE-4292-BFAC-A6FA3EACBA97}" type="datetimeFigureOut">
              <a:rPr lang="en-IN" smtClean="0"/>
              <a:pPr/>
              <a:t>14-07-2025</a:t>
            </a:fld>
            <a:endParaRPr lang="en-IN"/>
          </a:p>
        </p:txBody>
      </p:sp>
      <p:sp>
        <p:nvSpPr>
          <p:cNvPr id="5" name="Footer Placeholder 4">
            <a:extLst>
              <a:ext uri="{FF2B5EF4-FFF2-40B4-BE49-F238E27FC236}">
                <a16:creationId xmlns:a16="http://schemas.microsoft.com/office/drawing/2014/main" id="{68B14AF1-11E2-4F3D-A7ED-6E790188250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D164ADC-ACA1-438F-A17C-D04374458DC7}"/>
              </a:ext>
            </a:extLst>
          </p:cNvPr>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30020270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BF19B-B176-4BC1-98B4-919BCFF8FB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3DEB920-E320-448F-8D6F-A757592AE92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84F39B9-ACBC-4380-AFD5-EC6978C294F7}"/>
              </a:ext>
            </a:extLst>
          </p:cNvPr>
          <p:cNvSpPr>
            <a:spLocks noGrp="1"/>
          </p:cNvSpPr>
          <p:nvPr>
            <p:ph type="dt" sz="half" idx="10"/>
          </p:nvPr>
        </p:nvSpPr>
        <p:spPr/>
        <p:txBody>
          <a:bodyPr/>
          <a:lstStyle/>
          <a:p>
            <a:fld id="{1B5B2125-68AE-4292-BFAC-A6FA3EACBA97}" type="datetimeFigureOut">
              <a:rPr lang="en-IN" smtClean="0"/>
              <a:pPr/>
              <a:t>14-07-2025</a:t>
            </a:fld>
            <a:endParaRPr lang="en-IN"/>
          </a:p>
        </p:txBody>
      </p:sp>
      <p:sp>
        <p:nvSpPr>
          <p:cNvPr id="5" name="Footer Placeholder 4">
            <a:extLst>
              <a:ext uri="{FF2B5EF4-FFF2-40B4-BE49-F238E27FC236}">
                <a16:creationId xmlns:a16="http://schemas.microsoft.com/office/drawing/2014/main" id="{CC65EC76-A22B-411B-A975-3576744FBF2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0D67EA4-5E07-4EFC-B9F0-B3A1C600E4FC}"/>
              </a:ext>
            </a:extLst>
          </p:cNvPr>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2000083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9D5DB5-C2A6-4591-8389-1FAEBAFCB0E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8F0E775-9EB3-4438-8B7C-6F7D4D686B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0ECF901-37F8-47C4-A836-68A436D8F2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56BB749-1032-408B-92BE-03CE2A67F47C}"/>
              </a:ext>
            </a:extLst>
          </p:cNvPr>
          <p:cNvSpPr>
            <a:spLocks noGrp="1"/>
          </p:cNvSpPr>
          <p:nvPr>
            <p:ph type="dt" sz="half" idx="10"/>
          </p:nvPr>
        </p:nvSpPr>
        <p:spPr/>
        <p:txBody>
          <a:bodyPr/>
          <a:lstStyle/>
          <a:p>
            <a:fld id="{1B5B2125-68AE-4292-BFAC-A6FA3EACBA97}" type="datetimeFigureOut">
              <a:rPr lang="en-IN" smtClean="0"/>
              <a:pPr/>
              <a:t>14-07-2025</a:t>
            </a:fld>
            <a:endParaRPr lang="en-IN"/>
          </a:p>
        </p:txBody>
      </p:sp>
      <p:sp>
        <p:nvSpPr>
          <p:cNvPr id="6" name="Footer Placeholder 5">
            <a:extLst>
              <a:ext uri="{FF2B5EF4-FFF2-40B4-BE49-F238E27FC236}">
                <a16:creationId xmlns:a16="http://schemas.microsoft.com/office/drawing/2014/main" id="{79034527-1419-4FC8-96DB-57883AEA19E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9A4235-D99E-4B62-9BB1-2BA603AC6F69}"/>
              </a:ext>
            </a:extLst>
          </p:cNvPr>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5581908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4FF31-72A9-4046-838C-68684AD40CF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F7511AC-42F6-403A-BAF3-72E3D0724EA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AD0D7C2-D9DF-44F6-BFC1-EC2F4676D4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17891F3-11BF-4AC9-BE34-9CBDF5094F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2849BB4-B6F4-44DF-A33A-E30F039134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9773D02-58B4-48DD-AB64-9146FB579072}"/>
              </a:ext>
            </a:extLst>
          </p:cNvPr>
          <p:cNvSpPr>
            <a:spLocks noGrp="1"/>
          </p:cNvSpPr>
          <p:nvPr>
            <p:ph type="dt" sz="half" idx="10"/>
          </p:nvPr>
        </p:nvSpPr>
        <p:spPr/>
        <p:txBody>
          <a:bodyPr/>
          <a:lstStyle/>
          <a:p>
            <a:fld id="{1B5B2125-68AE-4292-BFAC-A6FA3EACBA97}" type="datetimeFigureOut">
              <a:rPr lang="en-IN" smtClean="0"/>
              <a:pPr/>
              <a:t>14-07-2025</a:t>
            </a:fld>
            <a:endParaRPr lang="en-IN"/>
          </a:p>
        </p:txBody>
      </p:sp>
      <p:sp>
        <p:nvSpPr>
          <p:cNvPr id="8" name="Footer Placeholder 7">
            <a:extLst>
              <a:ext uri="{FF2B5EF4-FFF2-40B4-BE49-F238E27FC236}">
                <a16:creationId xmlns:a16="http://schemas.microsoft.com/office/drawing/2014/main" id="{CC6B17FB-E3F1-466C-952D-025D97FA5199}"/>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56D535B-6727-4BA6-9B4F-094B280C2818}"/>
              </a:ext>
            </a:extLst>
          </p:cNvPr>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11378454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AF08B-3EF7-493F-9AD4-1A939745D53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BFF17CE-E64E-42B3-B81A-7DE434EFEEEB}"/>
              </a:ext>
            </a:extLst>
          </p:cNvPr>
          <p:cNvSpPr>
            <a:spLocks noGrp="1"/>
          </p:cNvSpPr>
          <p:nvPr>
            <p:ph type="dt" sz="half" idx="10"/>
          </p:nvPr>
        </p:nvSpPr>
        <p:spPr/>
        <p:txBody>
          <a:bodyPr/>
          <a:lstStyle/>
          <a:p>
            <a:fld id="{1B5B2125-68AE-4292-BFAC-A6FA3EACBA97}" type="datetimeFigureOut">
              <a:rPr lang="en-IN" smtClean="0"/>
              <a:pPr/>
              <a:t>14-07-2025</a:t>
            </a:fld>
            <a:endParaRPr lang="en-IN"/>
          </a:p>
        </p:txBody>
      </p:sp>
      <p:sp>
        <p:nvSpPr>
          <p:cNvPr id="4" name="Footer Placeholder 3">
            <a:extLst>
              <a:ext uri="{FF2B5EF4-FFF2-40B4-BE49-F238E27FC236}">
                <a16:creationId xmlns:a16="http://schemas.microsoft.com/office/drawing/2014/main" id="{7129C903-7D4C-4073-ADF1-99D69F67F22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372F4EB-45F4-4852-A9F5-7DB3B0CE20A8}"/>
              </a:ext>
            </a:extLst>
          </p:cNvPr>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4260130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8DAA34-3FC3-4622-A461-56AD63570C20}"/>
              </a:ext>
            </a:extLst>
          </p:cNvPr>
          <p:cNvSpPr>
            <a:spLocks noGrp="1"/>
          </p:cNvSpPr>
          <p:nvPr>
            <p:ph type="dt" sz="half" idx="10"/>
          </p:nvPr>
        </p:nvSpPr>
        <p:spPr/>
        <p:txBody>
          <a:bodyPr/>
          <a:lstStyle/>
          <a:p>
            <a:fld id="{1B5B2125-68AE-4292-BFAC-A6FA3EACBA97}" type="datetimeFigureOut">
              <a:rPr lang="en-IN" smtClean="0"/>
              <a:pPr/>
              <a:t>14-07-2025</a:t>
            </a:fld>
            <a:endParaRPr lang="en-IN"/>
          </a:p>
        </p:txBody>
      </p:sp>
      <p:sp>
        <p:nvSpPr>
          <p:cNvPr id="3" name="Footer Placeholder 2">
            <a:extLst>
              <a:ext uri="{FF2B5EF4-FFF2-40B4-BE49-F238E27FC236}">
                <a16:creationId xmlns:a16="http://schemas.microsoft.com/office/drawing/2014/main" id="{84377395-33A0-4144-B2D9-6130A6D664D2}"/>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EC6C110-29B1-4CD6-97C7-88B274A7F4E8}"/>
              </a:ext>
            </a:extLst>
          </p:cNvPr>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34553703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ABFF9-2238-4C7D-A52A-5D8CB3D884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CA75592-F4DE-4736-B6D5-76E2AE9AFF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36104C5-0E0B-4C85-9A8E-75C3EBFEE2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718D7C-6235-451E-812F-29B03F6A82F3}"/>
              </a:ext>
            </a:extLst>
          </p:cNvPr>
          <p:cNvSpPr>
            <a:spLocks noGrp="1"/>
          </p:cNvSpPr>
          <p:nvPr>
            <p:ph type="dt" sz="half" idx="10"/>
          </p:nvPr>
        </p:nvSpPr>
        <p:spPr/>
        <p:txBody>
          <a:bodyPr/>
          <a:lstStyle/>
          <a:p>
            <a:fld id="{1B5B2125-68AE-4292-BFAC-A6FA3EACBA97}" type="datetimeFigureOut">
              <a:rPr lang="en-IN" smtClean="0"/>
              <a:pPr/>
              <a:t>14-07-2025</a:t>
            </a:fld>
            <a:endParaRPr lang="en-IN"/>
          </a:p>
        </p:txBody>
      </p:sp>
      <p:sp>
        <p:nvSpPr>
          <p:cNvPr id="6" name="Footer Placeholder 5">
            <a:extLst>
              <a:ext uri="{FF2B5EF4-FFF2-40B4-BE49-F238E27FC236}">
                <a16:creationId xmlns:a16="http://schemas.microsoft.com/office/drawing/2014/main" id="{2E5C5E24-CDAC-4BCE-BA14-8566C9E674F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3AC1D8C-5492-49F7-8494-C5F8702B3BF7}"/>
              </a:ext>
            </a:extLst>
          </p:cNvPr>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1538453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6360B-C513-4620-B031-0814B603A11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E76E684-0A39-40AE-82BE-C702F44633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454FA08-C200-4DD6-88E6-4CAD5F66C0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EE6DD9-604B-4CFA-A3F7-3251FC2FE54B}"/>
              </a:ext>
            </a:extLst>
          </p:cNvPr>
          <p:cNvSpPr>
            <a:spLocks noGrp="1"/>
          </p:cNvSpPr>
          <p:nvPr>
            <p:ph type="dt" sz="half" idx="10"/>
          </p:nvPr>
        </p:nvSpPr>
        <p:spPr/>
        <p:txBody>
          <a:bodyPr/>
          <a:lstStyle/>
          <a:p>
            <a:fld id="{1B5B2125-68AE-4292-BFAC-A6FA3EACBA97}" type="datetimeFigureOut">
              <a:rPr lang="en-IN" smtClean="0"/>
              <a:pPr/>
              <a:t>14-07-2025</a:t>
            </a:fld>
            <a:endParaRPr lang="en-IN"/>
          </a:p>
        </p:txBody>
      </p:sp>
      <p:sp>
        <p:nvSpPr>
          <p:cNvPr id="6" name="Footer Placeholder 5">
            <a:extLst>
              <a:ext uri="{FF2B5EF4-FFF2-40B4-BE49-F238E27FC236}">
                <a16:creationId xmlns:a16="http://schemas.microsoft.com/office/drawing/2014/main" id="{1156310F-6A16-46DC-9018-AA0FD69A30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F102429-BA5A-47C4-97DB-843468799D86}"/>
              </a:ext>
            </a:extLst>
          </p:cNvPr>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483947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3B06D-F275-426D-904B-9F9E46A1F61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2259F3-D7BE-4DC7-8E49-5AA68BE6BDF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503940A-AA9A-4AE8-B642-4370FEFB7F56}"/>
              </a:ext>
            </a:extLst>
          </p:cNvPr>
          <p:cNvSpPr>
            <a:spLocks noGrp="1"/>
          </p:cNvSpPr>
          <p:nvPr>
            <p:ph type="dt" sz="half" idx="10"/>
          </p:nvPr>
        </p:nvSpPr>
        <p:spPr/>
        <p:txBody>
          <a:bodyPr/>
          <a:lstStyle/>
          <a:p>
            <a:fld id="{1B5B2125-68AE-4292-BFAC-A6FA3EACBA97}" type="datetimeFigureOut">
              <a:rPr lang="en-IN" smtClean="0"/>
              <a:pPr/>
              <a:t>14-07-2025</a:t>
            </a:fld>
            <a:endParaRPr lang="en-IN"/>
          </a:p>
        </p:txBody>
      </p:sp>
      <p:sp>
        <p:nvSpPr>
          <p:cNvPr id="5" name="Footer Placeholder 4">
            <a:extLst>
              <a:ext uri="{FF2B5EF4-FFF2-40B4-BE49-F238E27FC236}">
                <a16:creationId xmlns:a16="http://schemas.microsoft.com/office/drawing/2014/main" id="{96C92EB5-D88D-4F57-A93E-8AD0E14D1B5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40D1FF4-7B8E-44D1-B538-A63C87A3E16F}"/>
              </a:ext>
            </a:extLst>
          </p:cNvPr>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33487484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61B64A4-520C-47D6-8AC9-244A94D6AF5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8916A01-7F8E-4467-862A-6B0D53C6FA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A51A3D5-6FDE-4D0A-B9D1-06B3653B6F29}"/>
              </a:ext>
            </a:extLst>
          </p:cNvPr>
          <p:cNvSpPr>
            <a:spLocks noGrp="1"/>
          </p:cNvSpPr>
          <p:nvPr>
            <p:ph type="dt" sz="half" idx="10"/>
          </p:nvPr>
        </p:nvSpPr>
        <p:spPr/>
        <p:txBody>
          <a:bodyPr/>
          <a:lstStyle/>
          <a:p>
            <a:fld id="{1B5B2125-68AE-4292-BFAC-A6FA3EACBA97}" type="datetimeFigureOut">
              <a:rPr lang="en-IN" smtClean="0"/>
              <a:pPr/>
              <a:t>14-07-2025</a:t>
            </a:fld>
            <a:endParaRPr lang="en-IN"/>
          </a:p>
        </p:txBody>
      </p:sp>
      <p:sp>
        <p:nvSpPr>
          <p:cNvPr id="5" name="Footer Placeholder 4">
            <a:extLst>
              <a:ext uri="{FF2B5EF4-FFF2-40B4-BE49-F238E27FC236}">
                <a16:creationId xmlns:a16="http://schemas.microsoft.com/office/drawing/2014/main" id="{242C6618-2BB0-4C8D-80BA-C3F2101264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F05EFC9-CFB5-401F-9F6C-14C58A451C3E}"/>
              </a:ext>
            </a:extLst>
          </p:cNvPr>
          <p:cNvSpPr>
            <a:spLocks noGrp="1"/>
          </p:cNvSpPr>
          <p:nvPr>
            <p:ph type="sldNum" sz="quarter" idx="12"/>
          </p:nvPr>
        </p:nvSpPr>
        <p:spPr/>
        <p:txBody>
          <a:bodyPr/>
          <a:lstStyle/>
          <a:p>
            <a:fld id="{285678DB-EBE9-4DFA-8B86-ED495AE1F12C}" type="slidenum">
              <a:rPr lang="en-IN" smtClean="0"/>
              <a:pPr/>
              <a:t>‹#›</a:t>
            </a:fld>
            <a:endParaRPr lang="en-IN"/>
          </a:p>
        </p:txBody>
      </p:sp>
    </p:spTree>
    <p:extLst>
      <p:ext uri="{BB962C8B-B14F-4D97-AF65-F5344CB8AC3E}">
        <p14:creationId xmlns:p14="http://schemas.microsoft.com/office/powerpoint/2010/main" val="19305514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F4D814FC-E926-4084-8429-4372D9FF5F08}" type="datetimeFigureOut">
              <a:rPr lang="en-IN" smtClean="0"/>
              <a:pPr/>
              <a:t>14-07-2025</a:t>
            </a:fld>
            <a:endParaRPr lang="en-IN"/>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411B506F-014D-4AEE-AB19-7CED1B81311E}" type="slidenum">
              <a:rPr lang="en-IN" smtClean="0"/>
              <a:pPr/>
              <a:t>‹#›</a:t>
            </a:fld>
            <a:endParaRPr lang="en-IN"/>
          </a:p>
        </p:txBody>
      </p:sp>
    </p:spTree>
    <p:extLst>
      <p:ext uri="{BB962C8B-B14F-4D97-AF65-F5344CB8AC3E}">
        <p14:creationId xmlns:p14="http://schemas.microsoft.com/office/powerpoint/2010/main" val="798927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D814FC-E926-4084-8429-4372D9FF5F08}" type="datetimeFigureOut">
              <a:rPr lang="en-IN" smtClean="0"/>
              <a:pPr/>
              <a:t>14-07-2025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558300" y="5956137"/>
            <a:ext cx="1052508" cy="365125"/>
          </a:xfrm>
        </p:spPr>
        <p:txBody>
          <a:bodyPr/>
          <a:lstStyle/>
          <a:p>
            <a:fld id="{411B506F-014D-4AEE-AB19-7CED1B81311E}" type="slidenum">
              <a:rPr lang="en-IN" smtClean="0"/>
              <a:pPr/>
              <a:t>‹#›</a:t>
            </a:fld>
            <a:endParaRPr lang="en-IN"/>
          </a:p>
        </p:txBody>
      </p:sp>
    </p:spTree>
    <p:extLst>
      <p:ext uri="{BB962C8B-B14F-4D97-AF65-F5344CB8AC3E}">
        <p14:creationId xmlns:p14="http://schemas.microsoft.com/office/powerpoint/2010/main" val="31398116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F4D814FC-E926-4084-8429-4372D9FF5F08}" type="datetimeFigureOut">
              <a:rPr lang="en-IN" smtClean="0"/>
              <a:pPr/>
              <a:t>14-07-2025</a:t>
            </a:fld>
            <a:endParaRPr lang="en-IN"/>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411B506F-014D-4AEE-AB19-7CED1B81311E}" type="slidenum">
              <a:rPr lang="en-IN" smtClean="0"/>
              <a:pPr/>
              <a:t>‹#›</a:t>
            </a:fld>
            <a:endParaRPr lang="en-IN"/>
          </a:p>
        </p:txBody>
      </p:sp>
    </p:spTree>
    <p:extLst>
      <p:ext uri="{BB962C8B-B14F-4D97-AF65-F5344CB8AC3E}">
        <p14:creationId xmlns:p14="http://schemas.microsoft.com/office/powerpoint/2010/main" val="24087766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4D814FC-E926-4084-8429-4372D9FF5F08}" type="datetimeFigureOut">
              <a:rPr lang="en-IN" smtClean="0"/>
              <a:pPr/>
              <a:t>14-07-2025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11B506F-014D-4AEE-AB19-7CED1B81311E}" type="slidenum">
              <a:rPr lang="en-IN" smtClean="0"/>
              <a:pPr/>
              <a:t>‹#›</a:t>
            </a:fld>
            <a:endParaRPr lang="en-IN"/>
          </a:p>
        </p:txBody>
      </p:sp>
    </p:spTree>
    <p:extLst>
      <p:ext uri="{BB962C8B-B14F-4D97-AF65-F5344CB8AC3E}">
        <p14:creationId xmlns:p14="http://schemas.microsoft.com/office/powerpoint/2010/main" val="286574741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4D814FC-E926-4084-8429-4372D9FF5F08}" type="datetimeFigureOut">
              <a:rPr lang="en-IN" smtClean="0"/>
              <a:pPr/>
              <a:t>14-07-2025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11B506F-014D-4AEE-AB19-7CED1B81311E}" type="slidenum">
              <a:rPr lang="en-IN" smtClean="0"/>
              <a:pPr/>
              <a:t>‹#›</a:t>
            </a:fld>
            <a:endParaRPr lang="en-IN"/>
          </a:p>
        </p:txBody>
      </p:sp>
    </p:spTree>
    <p:extLst>
      <p:ext uri="{BB962C8B-B14F-4D97-AF65-F5344CB8AC3E}">
        <p14:creationId xmlns:p14="http://schemas.microsoft.com/office/powerpoint/2010/main" val="386560864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4D814FC-E926-4084-8429-4372D9FF5F08}" type="datetimeFigureOut">
              <a:rPr lang="en-IN" smtClean="0"/>
              <a:pPr/>
              <a:t>14-07-2025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11B506F-014D-4AEE-AB19-7CED1B81311E}" type="slidenum">
              <a:rPr lang="en-IN" smtClean="0"/>
              <a:pPr/>
              <a:t>‹#›</a:t>
            </a:fld>
            <a:endParaRPr lang="en-IN"/>
          </a:p>
        </p:txBody>
      </p:sp>
    </p:spTree>
    <p:extLst>
      <p:ext uri="{BB962C8B-B14F-4D97-AF65-F5344CB8AC3E}">
        <p14:creationId xmlns:p14="http://schemas.microsoft.com/office/powerpoint/2010/main" val="31296842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D814FC-E926-4084-8429-4372D9FF5F08}" type="datetimeFigureOut">
              <a:rPr lang="en-IN" smtClean="0"/>
              <a:pPr/>
              <a:t>14-07-2025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11B506F-014D-4AEE-AB19-7CED1B81311E}" type="slidenum">
              <a:rPr lang="en-IN" smtClean="0"/>
              <a:pPr/>
              <a:t>‹#›</a:t>
            </a:fld>
            <a:endParaRPr lang="en-IN"/>
          </a:p>
        </p:txBody>
      </p:sp>
    </p:spTree>
    <p:extLst>
      <p:ext uri="{BB962C8B-B14F-4D97-AF65-F5344CB8AC3E}">
        <p14:creationId xmlns:p14="http://schemas.microsoft.com/office/powerpoint/2010/main" val="7540414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F4D814FC-E926-4084-8429-4372D9FF5F08}" type="datetimeFigureOut">
              <a:rPr lang="en-IN" smtClean="0"/>
              <a:pPr/>
              <a:t>14-07-2025</a:t>
            </a:fld>
            <a:endParaRPr lang="en-IN"/>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411B506F-014D-4AEE-AB19-7CED1B81311E}" type="slidenum">
              <a:rPr lang="en-IN" smtClean="0"/>
              <a:pPr/>
              <a:t>‹#›</a:t>
            </a:fld>
            <a:endParaRPr lang="en-IN"/>
          </a:p>
        </p:txBody>
      </p:sp>
    </p:spTree>
    <p:extLst>
      <p:ext uri="{BB962C8B-B14F-4D97-AF65-F5344CB8AC3E}">
        <p14:creationId xmlns:p14="http://schemas.microsoft.com/office/powerpoint/2010/main" val="21217397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D814FC-E926-4084-8429-4372D9FF5F08}" type="datetimeFigureOut">
              <a:rPr lang="en-IN" smtClean="0"/>
              <a:pPr/>
              <a:t>14-07-2025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11B506F-014D-4AEE-AB19-7CED1B81311E}" type="slidenum">
              <a:rPr lang="en-IN" smtClean="0"/>
              <a:pPr/>
              <a:t>‹#›</a:t>
            </a:fld>
            <a:endParaRPr lang="en-IN"/>
          </a:p>
        </p:txBody>
      </p:sp>
    </p:spTree>
    <p:extLst>
      <p:ext uri="{BB962C8B-B14F-4D97-AF65-F5344CB8AC3E}">
        <p14:creationId xmlns:p14="http://schemas.microsoft.com/office/powerpoint/2010/main" val="12979595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4D814FC-E926-4084-8429-4372D9FF5F08}" type="datetimeFigureOut">
              <a:rPr lang="en-IN" smtClean="0"/>
              <a:pPr/>
              <a:t>14-07-2025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11B506F-014D-4AEE-AB19-7CED1B81311E}" type="slidenum">
              <a:rPr lang="en-IN" smtClean="0"/>
              <a:pPr/>
              <a:t>‹#›</a:t>
            </a:fld>
            <a:endParaRPr lang="en-IN"/>
          </a:p>
        </p:txBody>
      </p:sp>
    </p:spTree>
    <p:extLst>
      <p:ext uri="{BB962C8B-B14F-4D97-AF65-F5344CB8AC3E}">
        <p14:creationId xmlns:p14="http://schemas.microsoft.com/office/powerpoint/2010/main" val="222025602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F4D814FC-E926-4084-8429-4372D9FF5F08}" type="datetimeFigureOut">
              <a:rPr lang="en-IN" smtClean="0"/>
              <a:pPr/>
              <a:t>14-07-2025</a:t>
            </a:fld>
            <a:endParaRPr lang="en-IN"/>
          </a:p>
        </p:txBody>
      </p:sp>
      <p:sp>
        <p:nvSpPr>
          <p:cNvPr id="5" name="Footer Placeholder 4"/>
          <p:cNvSpPr>
            <a:spLocks noGrp="1"/>
          </p:cNvSpPr>
          <p:nvPr>
            <p:ph type="ftr" sz="quarter" idx="11"/>
          </p:nvPr>
        </p:nvSpPr>
        <p:spPr>
          <a:xfrm>
            <a:off x="774923" y="5951811"/>
            <a:ext cx="7896279" cy="365125"/>
          </a:xfrm>
        </p:spPr>
        <p:txBody>
          <a:bodyPr/>
          <a:lstStyle/>
          <a:p>
            <a:endParaRPr lang="en-IN"/>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411B506F-014D-4AEE-AB19-7CED1B81311E}" type="slidenum">
              <a:rPr lang="en-IN" smtClean="0"/>
              <a:pPr/>
              <a:t>‹#›</a:t>
            </a:fld>
            <a:endParaRPr lang="en-IN"/>
          </a:p>
        </p:txBody>
      </p:sp>
    </p:spTree>
    <p:extLst>
      <p:ext uri="{BB962C8B-B14F-4D97-AF65-F5344CB8AC3E}">
        <p14:creationId xmlns:p14="http://schemas.microsoft.com/office/powerpoint/2010/main" val="201970501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obj">
  <p:cSld name="1_Title Slide">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ctrTitle"/>
          </p:nvPr>
        </p:nvSpPr>
        <p:spPr>
          <a:xfrm>
            <a:off x="1646513" y="2032492"/>
            <a:ext cx="8898972" cy="609398"/>
          </a:xfrm>
          <a:prstGeom prst="rect">
            <a:avLst/>
          </a:prstGeom>
        </p:spPr>
        <p:txBody>
          <a:bodyPr wrap="square" lIns="0" tIns="0" rIns="0" bIns="0">
            <a:spAutoFit/>
          </a:bodyPr>
          <a:lstStyle>
            <a:lvl1pPr>
              <a:defRPr b="0" i="0">
                <a:solidFill>
                  <a:schemeClr val="tx1"/>
                </a:solidFill>
              </a:defRPr>
            </a:lvl1pPr>
          </a:lstStyle>
          <a:p>
            <a:endParaRPr/>
          </a:p>
        </p:txBody>
      </p:sp>
      <p:sp>
        <p:nvSpPr>
          <p:cNvPr id="3" name="Holder 3"/>
          <p:cNvSpPr>
            <a:spLocks noGrp="1"/>
          </p:cNvSpPr>
          <p:nvPr>
            <p:ph type="subTitle" idx="4"/>
          </p:nvPr>
        </p:nvSpPr>
        <p:spPr>
          <a:xfrm>
            <a:off x="3136181" y="3497291"/>
            <a:ext cx="5919636" cy="552587"/>
          </a:xfrm>
          <a:prstGeom prst="rect">
            <a:avLst/>
          </a:prstGeom>
        </p:spPr>
        <p:txBody>
          <a:bodyPr wrap="square" lIns="0" tIns="0" rIns="0" bIns="0">
            <a:spAutoFit/>
          </a:bodyPr>
          <a:lstStyle>
            <a:lvl1pPr>
              <a:defRPr sz="3990" b="1"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7/14/2025</a:t>
            </a:fld>
            <a:endParaRPr lang="en-US"/>
          </a:p>
        </p:txBody>
      </p:sp>
      <p:sp>
        <p:nvSpPr>
          <p:cNvPr id="6" name="Holder 6"/>
          <p:cNvSpPr>
            <a:spLocks noGrp="1"/>
          </p:cNvSpPr>
          <p:nvPr>
            <p:ph type="sldNum" sz="quarter" idx="7"/>
          </p:nvPr>
        </p:nvSpPr>
        <p:spPr/>
        <p:txBody>
          <a:bodyPr lIns="0" tIns="0" rIns="0" bIns="0"/>
          <a:lstStyle>
            <a:lvl1pPr>
              <a:defRPr sz="1814" b="1" i="0">
                <a:solidFill>
                  <a:srgbClr val="1B1B1B"/>
                </a:solidFill>
                <a:latin typeface="Arial"/>
                <a:cs typeface="Arial"/>
              </a:defRPr>
            </a:lvl1pPr>
          </a:lstStyle>
          <a:p>
            <a:pPr marL="11516">
              <a:lnSpc>
                <a:spcPts val="2095"/>
              </a:lnSpc>
            </a:pPr>
            <a:r>
              <a:rPr lang="en-IN" spc="-5"/>
              <a:t>19.</a:t>
            </a:r>
            <a:fld id="{81D60167-4931-47E6-BA6A-407CBD079E47}" type="slidenum">
              <a:rPr spc="-5" smtClean="0"/>
              <a:pPr marL="11516">
                <a:lnSpc>
                  <a:spcPts val="2095"/>
                </a:lnSpc>
              </a:pPr>
              <a:t>‹#›</a:t>
            </a:fld>
            <a:endParaRPr spc="-5" dirty="0"/>
          </a:p>
        </p:txBody>
      </p:sp>
    </p:spTree>
    <p:extLst>
      <p:ext uri="{BB962C8B-B14F-4D97-AF65-F5344CB8AC3E}">
        <p14:creationId xmlns:p14="http://schemas.microsoft.com/office/powerpoint/2010/main" val="35204229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97167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22FD3F6B-7404-4646-84C0-AC5BDFFC8711}" type="datetimeFigureOut">
              <a:rPr lang="en-IN" smtClean="0"/>
              <a:pPr/>
              <a:t>14-07-2025</a:t>
            </a:fld>
            <a:endParaRPr lang="en-IN"/>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5E6B12C2-C7BD-4B18-8E75-AF701D5C39C4}" type="slidenum">
              <a:rPr lang="en-IN" smtClean="0"/>
              <a:pPr/>
              <a:t>‹#›</a:t>
            </a:fld>
            <a:endParaRPr lang="en-IN"/>
          </a:p>
        </p:txBody>
      </p:sp>
    </p:spTree>
    <p:extLst>
      <p:ext uri="{BB962C8B-B14F-4D97-AF65-F5344CB8AC3E}">
        <p14:creationId xmlns:p14="http://schemas.microsoft.com/office/powerpoint/2010/main" val="7621962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FD3F6B-7404-4646-84C0-AC5BDFFC8711}" type="datetimeFigureOut">
              <a:rPr lang="en-IN" smtClean="0"/>
              <a:pPr/>
              <a:t>14-07-2025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558300" y="5956137"/>
            <a:ext cx="1052508" cy="365125"/>
          </a:xfrm>
        </p:spPr>
        <p:txBody>
          <a:bodyPr/>
          <a:lstStyle/>
          <a:p>
            <a:fld id="{5E6B12C2-C7BD-4B18-8E75-AF701D5C39C4}" type="slidenum">
              <a:rPr lang="en-IN" smtClean="0"/>
              <a:pPr/>
              <a:t>‹#›</a:t>
            </a:fld>
            <a:endParaRPr lang="en-IN"/>
          </a:p>
        </p:txBody>
      </p:sp>
    </p:spTree>
    <p:extLst>
      <p:ext uri="{BB962C8B-B14F-4D97-AF65-F5344CB8AC3E}">
        <p14:creationId xmlns:p14="http://schemas.microsoft.com/office/powerpoint/2010/main" val="171968638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22FD3F6B-7404-4646-84C0-AC5BDFFC8711}" type="datetimeFigureOut">
              <a:rPr lang="en-IN" smtClean="0"/>
              <a:pPr/>
              <a:t>14-07-2025</a:t>
            </a:fld>
            <a:endParaRPr lang="en-IN"/>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5E6B12C2-C7BD-4B18-8E75-AF701D5C39C4}" type="slidenum">
              <a:rPr lang="en-IN" smtClean="0"/>
              <a:pPr/>
              <a:t>‹#›</a:t>
            </a:fld>
            <a:endParaRPr lang="en-IN"/>
          </a:p>
        </p:txBody>
      </p:sp>
    </p:spTree>
    <p:extLst>
      <p:ext uri="{BB962C8B-B14F-4D97-AF65-F5344CB8AC3E}">
        <p14:creationId xmlns:p14="http://schemas.microsoft.com/office/powerpoint/2010/main" val="43368018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2FD3F6B-7404-4646-84C0-AC5BDFFC8711}" type="datetimeFigureOut">
              <a:rPr lang="en-IN" smtClean="0"/>
              <a:pPr/>
              <a:t>14-07-2025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E6B12C2-C7BD-4B18-8E75-AF701D5C39C4}" type="slidenum">
              <a:rPr lang="en-IN" smtClean="0"/>
              <a:pPr/>
              <a:t>‹#›</a:t>
            </a:fld>
            <a:endParaRPr lang="en-IN"/>
          </a:p>
        </p:txBody>
      </p:sp>
    </p:spTree>
    <p:extLst>
      <p:ext uri="{BB962C8B-B14F-4D97-AF65-F5344CB8AC3E}">
        <p14:creationId xmlns:p14="http://schemas.microsoft.com/office/powerpoint/2010/main" val="36190135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2FD3F6B-7404-4646-84C0-AC5BDFFC8711}" type="datetimeFigureOut">
              <a:rPr lang="en-IN" smtClean="0"/>
              <a:pPr/>
              <a:t>14-07-2025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E6B12C2-C7BD-4B18-8E75-AF701D5C39C4}" type="slidenum">
              <a:rPr lang="en-IN" smtClean="0"/>
              <a:pPr/>
              <a:t>‹#›</a:t>
            </a:fld>
            <a:endParaRPr lang="en-IN"/>
          </a:p>
        </p:txBody>
      </p:sp>
    </p:spTree>
    <p:extLst>
      <p:ext uri="{BB962C8B-B14F-4D97-AF65-F5344CB8AC3E}">
        <p14:creationId xmlns:p14="http://schemas.microsoft.com/office/powerpoint/2010/main" val="318531871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2FD3F6B-7404-4646-84C0-AC5BDFFC8711}" type="datetimeFigureOut">
              <a:rPr lang="en-IN" smtClean="0"/>
              <a:pPr/>
              <a:t>14-07-2025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E6B12C2-C7BD-4B18-8E75-AF701D5C39C4}" type="slidenum">
              <a:rPr lang="en-IN" smtClean="0"/>
              <a:pPr/>
              <a:t>‹#›</a:t>
            </a:fld>
            <a:endParaRPr lang="en-IN"/>
          </a:p>
        </p:txBody>
      </p:sp>
    </p:spTree>
    <p:extLst>
      <p:ext uri="{BB962C8B-B14F-4D97-AF65-F5344CB8AC3E}">
        <p14:creationId xmlns:p14="http://schemas.microsoft.com/office/powerpoint/2010/main" val="280479898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2FD3F6B-7404-4646-84C0-AC5BDFFC8711}" type="datetimeFigureOut">
              <a:rPr lang="en-IN" smtClean="0"/>
              <a:pPr/>
              <a:t>14-07-2025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E6B12C2-C7BD-4B18-8E75-AF701D5C39C4}" type="slidenum">
              <a:rPr lang="en-IN" smtClean="0"/>
              <a:pPr/>
              <a:t>‹#›</a:t>
            </a:fld>
            <a:endParaRPr lang="en-IN"/>
          </a:p>
        </p:txBody>
      </p:sp>
    </p:spTree>
    <p:extLst>
      <p:ext uri="{BB962C8B-B14F-4D97-AF65-F5344CB8AC3E}">
        <p14:creationId xmlns:p14="http://schemas.microsoft.com/office/powerpoint/2010/main" val="17588126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22FD3F6B-7404-4646-84C0-AC5BDFFC8711}" type="datetimeFigureOut">
              <a:rPr lang="en-IN" smtClean="0"/>
              <a:pPr/>
              <a:t>14-07-2025</a:t>
            </a:fld>
            <a:endParaRPr lang="en-IN"/>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IN"/>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5E6B12C2-C7BD-4B18-8E75-AF701D5C39C4}" type="slidenum">
              <a:rPr lang="en-IN" smtClean="0"/>
              <a:pPr/>
              <a:t>‹#›</a:t>
            </a:fld>
            <a:endParaRPr lang="en-IN"/>
          </a:p>
        </p:txBody>
      </p:sp>
    </p:spTree>
    <p:extLst>
      <p:ext uri="{BB962C8B-B14F-4D97-AF65-F5344CB8AC3E}">
        <p14:creationId xmlns:p14="http://schemas.microsoft.com/office/powerpoint/2010/main" val="77484857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2FD3F6B-7404-4646-84C0-AC5BDFFC8711}" type="datetimeFigureOut">
              <a:rPr lang="en-IN" smtClean="0"/>
              <a:pPr/>
              <a:t>14-07-2025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E6B12C2-C7BD-4B18-8E75-AF701D5C39C4}" type="slidenum">
              <a:rPr lang="en-IN" smtClean="0"/>
              <a:pPr/>
              <a:t>‹#›</a:t>
            </a:fld>
            <a:endParaRPr lang="en-IN"/>
          </a:p>
        </p:txBody>
      </p:sp>
    </p:spTree>
    <p:extLst>
      <p:ext uri="{BB962C8B-B14F-4D97-AF65-F5344CB8AC3E}">
        <p14:creationId xmlns:p14="http://schemas.microsoft.com/office/powerpoint/2010/main" val="407923878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2FD3F6B-7404-4646-84C0-AC5BDFFC8711}" type="datetimeFigureOut">
              <a:rPr lang="en-IN" smtClean="0"/>
              <a:pPr/>
              <a:t>14-07-2025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E6B12C2-C7BD-4B18-8E75-AF701D5C39C4}" type="slidenum">
              <a:rPr lang="en-IN" smtClean="0"/>
              <a:pPr/>
              <a:t>‹#›</a:t>
            </a:fld>
            <a:endParaRPr lang="en-IN"/>
          </a:p>
        </p:txBody>
      </p:sp>
    </p:spTree>
    <p:extLst>
      <p:ext uri="{BB962C8B-B14F-4D97-AF65-F5344CB8AC3E}">
        <p14:creationId xmlns:p14="http://schemas.microsoft.com/office/powerpoint/2010/main" val="116870738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22FD3F6B-7404-4646-84C0-AC5BDFFC8711}" type="datetimeFigureOut">
              <a:rPr lang="en-IN" smtClean="0"/>
              <a:pPr/>
              <a:t>14-07-2025</a:t>
            </a:fld>
            <a:endParaRPr lang="en-IN"/>
          </a:p>
        </p:txBody>
      </p:sp>
      <p:sp>
        <p:nvSpPr>
          <p:cNvPr id="5" name="Footer Placeholder 4"/>
          <p:cNvSpPr>
            <a:spLocks noGrp="1"/>
          </p:cNvSpPr>
          <p:nvPr>
            <p:ph type="ftr" sz="quarter" idx="11"/>
          </p:nvPr>
        </p:nvSpPr>
        <p:spPr>
          <a:xfrm>
            <a:off x="774923" y="5951811"/>
            <a:ext cx="7896279" cy="365125"/>
          </a:xfrm>
        </p:spPr>
        <p:txBody>
          <a:bodyPr/>
          <a:lstStyle/>
          <a:p>
            <a:endParaRPr lang="en-IN"/>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5E6B12C2-C7BD-4B18-8E75-AF701D5C39C4}" type="slidenum">
              <a:rPr lang="en-IN" smtClean="0"/>
              <a:pPr/>
              <a:t>‹#›</a:t>
            </a:fld>
            <a:endParaRPr lang="en-IN"/>
          </a:p>
        </p:txBody>
      </p:sp>
    </p:spTree>
    <p:extLst>
      <p:ext uri="{BB962C8B-B14F-4D97-AF65-F5344CB8AC3E}">
        <p14:creationId xmlns:p14="http://schemas.microsoft.com/office/powerpoint/2010/main" val="353982600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27942791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91A32C-EC4C-4A02-86EA-5C9B1A9FBA3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5B53B96-E9E1-40B3-AA53-6614761CD37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30BD98-03E5-4E7A-8180-825F405136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5B2125-68AE-4292-BFAC-A6FA3EACBA97}" type="datetimeFigureOut">
              <a:rPr lang="en-IN" smtClean="0"/>
              <a:pPr/>
              <a:t>14-07-2025</a:t>
            </a:fld>
            <a:endParaRPr lang="en-IN"/>
          </a:p>
        </p:txBody>
      </p:sp>
      <p:sp>
        <p:nvSpPr>
          <p:cNvPr id="5" name="Footer Placeholder 4">
            <a:extLst>
              <a:ext uri="{FF2B5EF4-FFF2-40B4-BE49-F238E27FC236}">
                <a16:creationId xmlns:a16="http://schemas.microsoft.com/office/drawing/2014/main" id="{141414A9-1E7E-4276-BBD6-0F93E9B853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931EEE5-AF60-45D0-BEA6-7F2661D6166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5678DB-EBE9-4DFA-8B86-ED495AE1F12C}" type="slidenum">
              <a:rPr lang="en-IN" smtClean="0"/>
              <a:pPr/>
              <a:t>‹#›</a:t>
            </a:fld>
            <a:endParaRPr lang="en-IN"/>
          </a:p>
        </p:txBody>
      </p:sp>
    </p:spTree>
    <p:extLst>
      <p:ext uri="{BB962C8B-B14F-4D97-AF65-F5344CB8AC3E}">
        <p14:creationId xmlns:p14="http://schemas.microsoft.com/office/powerpoint/2010/main" val="39450044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F4D814FC-E926-4084-8429-4372D9FF5F08}" type="datetimeFigureOut">
              <a:rPr lang="en-IN" smtClean="0"/>
              <a:pPr/>
              <a:t>14-07-2025</a:t>
            </a:fld>
            <a:endParaRPr lang="en-IN"/>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IN"/>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411B506F-014D-4AEE-AB19-7CED1B81311E}" type="slidenum">
              <a:rPr lang="en-IN" smtClean="0"/>
              <a:pPr/>
              <a:t>‹#›</a:t>
            </a:fld>
            <a:endParaRPr lang="en-IN"/>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2092984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86" r:id="rId13"/>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22FD3F6B-7404-4646-84C0-AC5BDFFC8711}" type="datetimeFigureOut">
              <a:rPr lang="en-IN" smtClean="0"/>
              <a:pPr/>
              <a:t>14-07-2025</a:t>
            </a:fld>
            <a:endParaRPr lang="en-IN"/>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IN"/>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5E6B12C2-C7BD-4B18-8E75-AF701D5C39C4}" type="slidenum">
              <a:rPr lang="en-IN" smtClean="0"/>
              <a:pPr/>
              <a:t>‹#›</a:t>
            </a:fld>
            <a:endParaRPr lang="en-IN"/>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3799050900"/>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24.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9525"/>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68540" y="81945"/>
            <a:ext cx="6027459" cy="6623931"/>
          </a:xfrm>
          <a:prstGeom prst="rect">
            <a:avLst/>
          </a:prstGeom>
          <a:noFill/>
          <a:ln>
            <a:noFill/>
          </a:ln>
        </p:spPr>
      </p:pic>
      <p:sp>
        <p:nvSpPr>
          <p:cNvPr id="476" name="Google Shape;476;p16"/>
          <p:cNvSpPr txBox="1"/>
          <p:nvPr/>
        </p:nvSpPr>
        <p:spPr>
          <a:xfrm>
            <a:off x="5394455" y="1933408"/>
            <a:ext cx="6729005" cy="2000507"/>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COMPUTER Networks</a:t>
            </a:r>
          </a:p>
          <a:p>
            <a:pPr marR="0" lvl="0" indent="0" algn="ctr">
              <a:spcBef>
                <a:spcPts val="0"/>
              </a:spcBef>
              <a:spcAft>
                <a:spcPts val="0"/>
              </a:spcAft>
              <a:buNone/>
            </a:pPr>
            <a:r>
              <a:rPr lang="en-US" sz="3200" b="1" cap="all" dirty="0">
                <a:ln/>
                <a:solidFill>
                  <a:srgbClr val="C00000"/>
                </a:solidFill>
                <a:cs typeface="Poppins"/>
                <a:sym typeface="BioRhyme ExtraBold"/>
              </a:rPr>
              <a:t>24CS2202</a:t>
            </a:r>
            <a:endParaRPr lang="en-US" sz="3200" b="1" cap="all" dirty="0">
              <a:ln/>
              <a:solidFill>
                <a:srgbClr val="C00000"/>
              </a:solidFill>
              <a:ea typeface="BioRhyme ExtraBold"/>
              <a:cs typeface="Poppins"/>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cap="all" dirty="0">
                <a:ln/>
                <a:solidFill>
                  <a:srgbClr val="C00000"/>
                </a:solidFill>
                <a:cs typeface="Poppins" panose="00000500000000000000" pitchFamily="2" charset="0"/>
              </a:rPr>
              <a:t>ARP, DHCP, TUNNELING</a:t>
            </a:r>
            <a:endParaRPr lang="en-US" sz="4000" b="1" dirty="0">
              <a:solidFill>
                <a:srgbClr val="C00000"/>
              </a:solidFill>
              <a:effectLst/>
              <a:cs typeface="Poppins" panose="00000500000000000000" pitchFamily="2" charset="0"/>
            </a:endParaRPr>
          </a:p>
        </p:txBody>
      </p:sp>
      <p:sp>
        <p:nvSpPr>
          <p:cNvPr id="8" name="Google Shape;502;p17">
            <a:extLst>
              <a:ext uri="{FF2B5EF4-FFF2-40B4-BE49-F238E27FC236}">
                <a16:creationId xmlns:a16="http://schemas.microsoft.com/office/drawing/2014/main" id="{7153E61F-4441-DBE3-3DFF-6E9EF6C48D23}"/>
              </a:ext>
            </a:extLst>
          </p:cNvPr>
          <p:cNvSpPr/>
          <p:nvPr/>
        </p:nvSpPr>
        <p:spPr>
          <a:xfrm>
            <a:off x="7728171" y="5119524"/>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- 20</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320078"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914400" y="684469"/>
            <a:ext cx="10731286" cy="796115"/>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ARP, DHCP Protocols and Tunneling. </a:t>
            </a:r>
          </a:p>
          <a:p>
            <a:pPr>
              <a:lnSpc>
                <a:spcPct val="150000"/>
              </a:lnSpc>
            </a:pPr>
            <a:endParaRPr lang="en-US" sz="1600" b="0" i="0" dirty="0">
              <a:effectLst/>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3866228" y="1823173"/>
            <a:ext cx="4459543"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b="0" i="0" dirty="0">
                <a:effectLst/>
                <a:latin typeface="Arial" panose="020B0604020202020204" pitchFamily="34" charset="0"/>
              </a:rPr>
              <a:t>Describe the functionality of ARP, DHCP Protocol.</a:t>
            </a:r>
          </a:p>
          <a:p>
            <a:pPr marL="342900" indent="-342900">
              <a:buAutoNum type="arabicPeriod"/>
            </a:pPr>
            <a:r>
              <a:rPr lang="en-US" sz="1600" b="0" i="0" dirty="0">
                <a:effectLst/>
                <a:latin typeface="Arial" panose="020B0604020202020204" pitchFamily="34" charset="0"/>
              </a:rPr>
              <a:t>Describe the functionality of </a:t>
            </a:r>
            <a:r>
              <a:rPr lang="en-US" sz="1600" dirty="0">
                <a:latin typeface="Arial" panose="020B0604020202020204" pitchFamily="34" charset="0"/>
              </a:rPr>
              <a:t>Tunneling</a:t>
            </a:r>
            <a:r>
              <a:rPr lang="en-US" sz="1600" b="0" i="0" dirty="0">
                <a:effectLst/>
                <a:latin typeface="Arial" panose="020B0604020202020204" pitchFamily="34" charset="0"/>
              </a:rPr>
              <a:t>.</a:t>
            </a:r>
            <a:endParaRPr lang="en-US" sz="1600" dirty="0">
              <a:latin typeface="Arial" panose="020B0604020202020204" pitchFamily="34" charset="0"/>
            </a:endParaRP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72230"/>
            <a:ext cx="8791575"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dirty="0">
                <a:latin typeface="Arial" panose="020B0604020202020204" pitchFamily="34" charset="0"/>
              </a:rPr>
              <a:t>Demonstrate the </a:t>
            </a:r>
            <a:r>
              <a:rPr lang="en-US" sz="1600" b="0" i="0" dirty="0">
                <a:effectLst/>
                <a:latin typeface="Arial" panose="020B0604020202020204" pitchFamily="34" charset="0"/>
              </a:rPr>
              <a:t>functionality of ARP and DHCP process. </a:t>
            </a:r>
          </a:p>
          <a:p>
            <a:pPr marL="342900" indent="-342900">
              <a:buAutoNum type="arabicPeriod"/>
            </a:pPr>
            <a:r>
              <a:rPr lang="en-US" sz="1600" b="0" i="0" dirty="0">
                <a:effectLst/>
                <a:latin typeface="Arial" panose="020B0604020202020204" pitchFamily="34" charset="0"/>
              </a:rPr>
              <a:t>Demonstrate the functionality of Tunneling.</a:t>
            </a: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B5AA5E42-D275-3FD9-BF0A-2570C6197103}"/>
              </a:ext>
            </a:extLst>
          </p:cNvPr>
          <p:cNvSpPr>
            <a:spLocks noGrp="1"/>
          </p:cNvSpPr>
          <p:nvPr>
            <p:ph type="sldNum" sz="quarter" idx="12"/>
          </p:nvPr>
        </p:nvSpPr>
        <p:spPr/>
        <p:txBody>
          <a:bodyPr/>
          <a:lstStyle/>
          <a:p>
            <a:fld id="{CBABCCC1-BF11-4F37-963E-1BCD5B23FD72}" type="slidenum">
              <a:rPr lang="en-IN" smtClean="0"/>
              <a:pPr/>
              <a:t>3</a:t>
            </a:fld>
            <a:endParaRPr lang="en-IN"/>
          </a:p>
        </p:txBody>
      </p:sp>
      <p:pic>
        <p:nvPicPr>
          <p:cNvPr id="5" name="Picture 7">
            <a:extLst>
              <a:ext uri="{FF2B5EF4-FFF2-40B4-BE49-F238E27FC236}">
                <a16:creationId xmlns:a16="http://schemas.microsoft.com/office/drawing/2014/main" id="{311F5245-3070-43B8-C129-28E0FFFE774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5747639" y="1828800"/>
            <a:ext cx="6063361" cy="49767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4">
            <a:extLst>
              <a:ext uri="{FF2B5EF4-FFF2-40B4-BE49-F238E27FC236}">
                <a16:creationId xmlns:a16="http://schemas.microsoft.com/office/drawing/2014/main" id="{9E367EFD-AA8C-F3F2-81B9-0B1BCB855338}"/>
              </a:ext>
            </a:extLst>
          </p:cNvPr>
          <p:cNvSpPr txBox="1">
            <a:spLocks noChangeArrowheads="1"/>
          </p:cNvSpPr>
          <p:nvPr/>
        </p:nvSpPr>
        <p:spPr bwMode="auto">
          <a:xfrm>
            <a:off x="698224" y="852906"/>
            <a:ext cx="365702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r>
              <a:rPr lang="en-US" altLang="en-US" sz="3600" b="0" cap="all" dirty="0">
                <a:solidFill>
                  <a:srgbClr val="FFFFFF"/>
                </a:solidFill>
                <a:latin typeface="+mj-lt"/>
                <a:ea typeface="+mj-ea"/>
                <a:cs typeface="+mj-cs"/>
              </a:rPr>
              <a:t>ARP operation</a:t>
            </a:r>
          </a:p>
        </p:txBody>
      </p:sp>
      <p:sp>
        <p:nvSpPr>
          <p:cNvPr id="6" name="TextBox 5">
            <a:extLst>
              <a:ext uri="{FF2B5EF4-FFF2-40B4-BE49-F238E27FC236}">
                <a16:creationId xmlns:a16="http://schemas.microsoft.com/office/drawing/2014/main" id="{A846468C-C29A-B733-A802-84D803062E0C}"/>
              </a:ext>
            </a:extLst>
          </p:cNvPr>
          <p:cNvSpPr txBox="1"/>
          <p:nvPr/>
        </p:nvSpPr>
        <p:spPr>
          <a:xfrm>
            <a:off x="196030" y="3077460"/>
            <a:ext cx="4795069" cy="2246769"/>
          </a:xfrm>
          <a:prstGeom prst="rect">
            <a:avLst/>
          </a:prstGeom>
          <a:noFill/>
        </p:spPr>
        <p:txBody>
          <a:bodyPr wrap="square">
            <a:spAutoFit/>
          </a:bodyPr>
          <a:lstStyle/>
          <a:p>
            <a:pPr algn="just"/>
            <a:r>
              <a:rPr lang="en-US" sz="2800" b="0" i="0" dirty="0">
                <a:solidFill>
                  <a:srgbClr val="333333"/>
                </a:solidFill>
                <a:effectLst/>
                <a:highlight>
                  <a:srgbClr val="FFFFFF"/>
                </a:highlight>
                <a:latin typeface="inter-regular"/>
              </a:rPr>
              <a:t>ARP stands for </a:t>
            </a:r>
            <a:r>
              <a:rPr lang="en-US" sz="2800" b="1" i="0" dirty="0">
                <a:solidFill>
                  <a:srgbClr val="333333"/>
                </a:solidFill>
                <a:effectLst/>
                <a:highlight>
                  <a:srgbClr val="FFFFFF"/>
                </a:highlight>
                <a:latin typeface="inter-bold"/>
              </a:rPr>
              <a:t>Address Resolution Protocol</a:t>
            </a:r>
            <a:r>
              <a:rPr lang="en-US" sz="2800" b="0" i="0" dirty="0">
                <a:solidFill>
                  <a:srgbClr val="333333"/>
                </a:solidFill>
                <a:effectLst/>
                <a:highlight>
                  <a:srgbClr val="FFFFFF"/>
                </a:highlight>
                <a:latin typeface="inter-regular"/>
              </a:rPr>
              <a:t>, which is used to find the MAC address of the device from its known IP address. </a:t>
            </a:r>
            <a:endParaRPr lang="en-IN" sz="2800" dirty="0"/>
          </a:p>
        </p:txBody>
      </p:sp>
    </p:spTree>
    <p:extLst>
      <p:ext uri="{BB962C8B-B14F-4D97-AF65-F5344CB8AC3E}">
        <p14:creationId xmlns:p14="http://schemas.microsoft.com/office/powerpoint/2010/main" val="16505217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B691D59-8F51-4DD8-AD41-D568D29B0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 name="Rectangle 9">
            <a:extLst>
              <a:ext uri="{FF2B5EF4-FFF2-40B4-BE49-F238E27FC236}">
                <a16:creationId xmlns:a16="http://schemas.microsoft.com/office/drawing/2014/main" id="{204AEF18-0627-48F3-9B3D-F7E8F050B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 name="Rectangle 11">
            <a:extLst>
              <a:ext uri="{FF2B5EF4-FFF2-40B4-BE49-F238E27FC236}">
                <a16:creationId xmlns:a16="http://schemas.microsoft.com/office/drawing/2014/main" id="{CEAEE08A-C572-438F-9753-B0D527A51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4" name="Rectangle 13">
            <a:extLst>
              <a:ext uri="{FF2B5EF4-FFF2-40B4-BE49-F238E27FC236}">
                <a16:creationId xmlns:a16="http://schemas.microsoft.com/office/drawing/2014/main" id="{DB93146F-62ED-4C59-844C-0935D0FB50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useBgFill="1">
        <p:nvSpPr>
          <p:cNvPr id="16" name="Rectangle 15">
            <a:extLst>
              <a:ext uri="{FF2B5EF4-FFF2-40B4-BE49-F238E27FC236}">
                <a16:creationId xmlns:a16="http://schemas.microsoft.com/office/drawing/2014/main" id="{BF3D65BA-1C65-40FB-92EF-83951BDC1D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8175"/>
            <a:ext cx="12191999" cy="6219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8" name="Rectangle 17">
            <a:extLst>
              <a:ext uri="{FF2B5EF4-FFF2-40B4-BE49-F238E27FC236}">
                <a16:creationId xmlns:a16="http://schemas.microsoft.com/office/drawing/2014/main" id="{ADF52CCA-FCDD-49A0-BFFC-3BD41F1B82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60900EEB-A2C2-4733-A066-D22A438EA158}"/>
              </a:ext>
            </a:extLst>
          </p:cNvPr>
          <p:cNvSpPr>
            <a:spLocks noGrp="1"/>
          </p:cNvSpPr>
          <p:nvPr>
            <p:ph type="title"/>
          </p:nvPr>
        </p:nvSpPr>
        <p:spPr>
          <a:xfrm>
            <a:off x="8296275" y="1419225"/>
            <a:ext cx="3081576" cy="3124200"/>
          </a:xfrm>
        </p:spPr>
        <p:txBody>
          <a:bodyPr vert="horz" lIns="91440" tIns="45720" rIns="91440" bIns="45720" rtlCol="0" anchor="b">
            <a:normAutofit/>
          </a:bodyPr>
          <a:lstStyle/>
          <a:p>
            <a:pPr algn="ctr"/>
            <a:r>
              <a:rPr lang="en-US" sz="3600" dirty="0">
                <a:solidFill>
                  <a:srgbClr val="FFFF00"/>
                </a:solidFill>
              </a:rPr>
              <a:t>ARP</a:t>
            </a:r>
            <a:br>
              <a:rPr lang="en-US" sz="3600" dirty="0">
                <a:solidFill>
                  <a:srgbClr val="FFFFFF"/>
                </a:solidFill>
              </a:rPr>
            </a:br>
            <a:r>
              <a:rPr lang="en-US" sz="3600" dirty="0">
                <a:solidFill>
                  <a:srgbClr val="FFFFFF"/>
                </a:solidFill>
              </a:rPr>
              <a:t>(Address resolution protocol)</a:t>
            </a:r>
          </a:p>
        </p:txBody>
      </p:sp>
      <p:pic>
        <p:nvPicPr>
          <p:cNvPr id="5" name="Picture 4" descr="A diagram of a network&#10;&#10;Description automatically generated">
            <a:extLst>
              <a:ext uri="{FF2B5EF4-FFF2-40B4-BE49-F238E27FC236}">
                <a16:creationId xmlns:a16="http://schemas.microsoft.com/office/drawing/2014/main" id="{404415F5-AFA8-B130-2C66-C1DDFF7B11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3174" y="1142836"/>
            <a:ext cx="6642441" cy="4889751"/>
          </a:xfrm>
          <a:prstGeom prst="rect">
            <a:avLst/>
          </a:prstGeom>
        </p:spPr>
      </p:pic>
      <p:sp>
        <p:nvSpPr>
          <p:cNvPr id="6" name="object 2">
            <a:extLst>
              <a:ext uri="{FF2B5EF4-FFF2-40B4-BE49-F238E27FC236}">
                <a16:creationId xmlns:a16="http://schemas.microsoft.com/office/drawing/2014/main" id="{001F2C80-8AB3-AB71-A9E2-E754CEA3FEEE}"/>
              </a:ext>
            </a:extLst>
          </p:cNvPr>
          <p:cNvSpPr txBox="1">
            <a:spLocks/>
          </p:cNvSpPr>
          <p:nvPr/>
        </p:nvSpPr>
        <p:spPr>
          <a:xfrm>
            <a:off x="446534" y="59466"/>
            <a:ext cx="3240131" cy="290807"/>
          </a:xfrm>
          <a:prstGeom prst="rect">
            <a:avLst/>
          </a:prstGeom>
        </p:spPr>
        <p:txBody>
          <a:bodyPr vert="horz" wrap="square" lIns="0" tIns="11516" rIns="0" bIns="0" rtlCol="0" anchor="b">
            <a:sp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11516">
              <a:spcBef>
                <a:spcPts val="91"/>
              </a:spcBef>
              <a:tabLst>
                <a:tab pos="1616321" algn="l"/>
              </a:tabLst>
            </a:pPr>
            <a:r>
              <a:rPr lang="en-IN" sz="1814" i="1" spc="-5" dirty="0">
                <a:solidFill>
                  <a:schemeClr val="tx1"/>
                </a:solidFill>
                <a:latin typeface="Times New Roman"/>
                <a:cs typeface="Times New Roman"/>
              </a:rPr>
              <a:t>ARP Operation</a:t>
            </a:r>
            <a:endParaRPr lang="en-IN" sz="1814" dirty="0">
              <a:solidFill>
                <a:schemeClr val="tx1"/>
              </a:solidFill>
              <a:latin typeface="Times New Roman"/>
              <a:cs typeface="Times New Roman"/>
            </a:endParaRPr>
          </a:p>
        </p:txBody>
      </p:sp>
    </p:spTree>
    <p:extLst>
      <p:ext uri="{BB962C8B-B14F-4D97-AF65-F5344CB8AC3E}">
        <p14:creationId xmlns:p14="http://schemas.microsoft.com/office/powerpoint/2010/main" val="31165934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B691D59-8F51-4DD8-AD41-D568D29B08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0" name="Rectangle 9">
            <a:extLst>
              <a:ext uri="{FF2B5EF4-FFF2-40B4-BE49-F238E27FC236}">
                <a16:creationId xmlns:a16="http://schemas.microsoft.com/office/drawing/2014/main" id="{204AEF18-0627-48F3-9B3D-F7E8F050B1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2" name="Rectangle 11">
            <a:extLst>
              <a:ext uri="{FF2B5EF4-FFF2-40B4-BE49-F238E27FC236}">
                <a16:creationId xmlns:a16="http://schemas.microsoft.com/office/drawing/2014/main" id="{CEAEE08A-C572-438F-9753-B0D527A515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4" name="Rectangle 13">
            <a:extLst>
              <a:ext uri="{FF2B5EF4-FFF2-40B4-BE49-F238E27FC236}">
                <a16:creationId xmlns:a16="http://schemas.microsoft.com/office/drawing/2014/main" id="{DB93146F-62ED-4C59-844C-0935D0FB50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useBgFill="1">
        <p:nvSpPr>
          <p:cNvPr id="16" name="Rectangle 15">
            <a:extLst>
              <a:ext uri="{FF2B5EF4-FFF2-40B4-BE49-F238E27FC236}">
                <a16:creationId xmlns:a16="http://schemas.microsoft.com/office/drawing/2014/main" id="{BF3D65BA-1C65-40FB-92EF-83951BDC1D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38175"/>
            <a:ext cx="12191999" cy="621982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ill Sans MT" panose="020B0502020104020203"/>
              <a:ea typeface="+mn-ea"/>
              <a:cs typeface="+mn-cs"/>
            </a:endParaRPr>
          </a:p>
        </p:txBody>
      </p:sp>
      <p:sp>
        <p:nvSpPr>
          <p:cNvPr id="18" name="Rectangle 17">
            <a:extLst>
              <a:ext uri="{FF2B5EF4-FFF2-40B4-BE49-F238E27FC236}">
                <a16:creationId xmlns:a16="http://schemas.microsoft.com/office/drawing/2014/main" id="{ADF52CCA-FCDD-49A0-BFFC-3BD41F1B82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2147" y="723899"/>
            <a:ext cx="3703320" cy="566666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1">
            <a:extLst>
              <a:ext uri="{FF2B5EF4-FFF2-40B4-BE49-F238E27FC236}">
                <a16:creationId xmlns:a16="http://schemas.microsoft.com/office/drawing/2014/main" id="{0A6A9097-F15F-46D0-A1C1-6C1BDC492DB0}"/>
              </a:ext>
            </a:extLst>
          </p:cNvPr>
          <p:cNvSpPr>
            <a:spLocks noGrp="1"/>
          </p:cNvSpPr>
          <p:nvPr>
            <p:ph type="title"/>
          </p:nvPr>
        </p:nvSpPr>
        <p:spPr>
          <a:xfrm>
            <a:off x="8296275" y="1419225"/>
            <a:ext cx="3081576" cy="2085869"/>
          </a:xfrm>
        </p:spPr>
        <p:txBody>
          <a:bodyPr vert="horz" lIns="91440" tIns="45720" rIns="91440" bIns="45720" rtlCol="0" anchor="b">
            <a:normAutofit/>
          </a:bodyPr>
          <a:lstStyle/>
          <a:p>
            <a:pPr algn="ctr"/>
            <a:r>
              <a:rPr lang="en-US" sz="3600" dirty="0">
                <a:solidFill>
                  <a:srgbClr val="FFFFFF"/>
                </a:solidFill>
              </a:rPr>
              <a:t>ARP packet format</a:t>
            </a:r>
          </a:p>
        </p:txBody>
      </p:sp>
      <p:pic>
        <p:nvPicPr>
          <p:cNvPr id="3" name="Picture 6">
            <a:extLst>
              <a:ext uri="{FF2B5EF4-FFF2-40B4-BE49-F238E27FC236}">
                <a16:creationId xmlns:a16="http://schemas.microsoft.com/office/drawing/2014/main" id="{F382C3DA-FE84-A1EF-ABE5-BE19892613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240" y="904018"/>
            <a:ext cx="7591668" cy="5496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75721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5EFA7A3-8A5C-AF27-D9B9-C839376BDEAD}"/>
              </a:ext>
            </a:extLst>
          </p:cNvPr>
          <p:cNvSpPr txBox="1"/>
          <p:nvPr/>
        </p:nvSpPr>
        <p:spPr>
          <a:xfrm>
            <a:off x="449580" y="1280357"/>
            <a:ext cx="11292840" cy="3754874"/>
          </a:xfrm>
          <a:prstGeom prst="rect">
            <a:avLst/>
          </a:prstGeom>
          <a:noFill/>
        </p:spPr>
        <p:txBody>
          <a:bodyPr wrap="square">
            <a:spAutoFit/>
          </a:bodyPr>
          <a:lstStyle/>
          <a:p>
            <a:pPr>
              <a:buFont typeface="Arial" panose="020B0604020202020204" pitchFamily="34" charset="0"/>
              <a:buChar char="•"/>
            </a:pPr>
            <a:r>
              <a:rPr lang="en-US" sz="2000" b="1" dirty="0"/>
              <a:t>Hardware type:</a:t>
            </a:r>
            <a:r>
              <a:rPr lang="en-US" sz="2000" dirty="0"/>
              <a:t> It is a 16-bit field that defines the type of network on which address resolution protocol is running.</a:t>
            </a:r>
          </a:p>
          <a:p>
            <a:pPr>
              <a:buFont typeface="Arial" panose="020B0604020202020204" pitchFamily="34" charset="0"/>
              <a:buChar char="•"/>
            </a:pPr>
            <a:endParaRPr lang="en-US" sz="2000" dirty="0"/>
          </a:p>
          <a:p>
            <a:pPr>
              <a:buFont typeface="Arial" panose="020B0604020202020204" pitchFamily="34" charset="0"/>
              <a:buChar char="•"/>
            </a:pPr>
            <a:r>
              <a:rPr lang="en-US" sz="2000" b="1" dirty="0"/>
              <a:t>Protocol type:</a:t>
            </a:r>
            <a:r>
              <a:rPr lang="en-US" sz="2000" dirty="0"/>
              <a:t> It is a 16-bit field that defines the type of protocol. </a:t>
            </a:r>
            <a:r>
              <a:rPr lang="en-US" sz="2000" dirty="0" err="1"/>
              <a:t>Eg.</a:t>
            </a:r>
            <a:r>
              <a:rPr lang="en-US" sz="2000" dirty="0"/>
              <a:t> IPV4</a:t>
            </a:r>
          </a:p>
          <a:p>
            <a:pPr>
              <a:buFont typeface="Arial" panose="020B0604020202020204" pitchFamily="34" charset="0"/>
              <a:buChar char="•"/>
            </a:pPr>
            <a:endParaRPr lang="en-US" sz="2000" dirty="0"/>
          </a:p>
          <a:p>
            <a:pPr>
              <a:buFont typeface="Arial" panose="020B0604020202020204" pitchFamily="34" charset="0"/>
              <a:buChar char="•"/>
            </a:pPr>
            <a:r>
              <a:rPr lang="en-US" sz="2000" b="1" dirty="0"/>
              <a:t>Hardware length:</a:t>
            </a:r>
            <a:r>
              <a:rPr lang="en-US" sz="2000" dirty="0"/>
              <a:t> It is an 8-bit field that defines the physical address length in bytes.</a:t>
            </a:r>
          </a:p>
          <a:p>
            <a:pPr>
              <a:buFont typeface="Arial" panose="020B0604020202020204" pitchFamily="34" charset="0"/>
              <a:buChar char="•"/>
            </a:pPr>
            <a:endParaRPr lang="en-US" sz="2000" dirty="0"/>
          </a:p>
          <a:p>
            <a:pPr>
              <a:buFont typeface="Arial" panose="020B0604020202020204" pitchFamily="34" charset="0"/>
              <a:buChar char="•"/>
            </a:pPr>
            <a:r>
              <a:rPr lang="en-US" sz="2000" b="1" dirty="0"/>
              <a:t>Protocol length:</a:t>
            </a:r>
            <a:r>
              <a:rPr lang="en-US" sz="2000" dirty="0"/>
              <a:t> It is an 8-bit field that defines the logical address length in bytes.</a:t>
            </a:r>
          </a:p>
          <a:p>
            <a:pPr>
              <a:buFont typeface="Arial" panose="020B0604020202020204" pitchFamily="34" charset="0"/>
              <a:buChar char="•"/>
            </a:pPr>
            <a:endParaRPr lang="en-US" sz="2000" dirty="0"/>
          </a:p>
          <a:p>
            <a:pPr>
              <a:buFont typeface="Arial" panose="020B0604020202020204" pitchFamily="34" charset="0"/>
              <a:buChar char="•"/>
            </a:pPr>
            <a:r>
              <a:rPr lang="en-US" sz="2000" b="1" dirty="0"/>
              <a:t>Operations:</a:t>
            </a:r>
            <a:r>
              <a:rPr lang="en-US" sz="2000" dirty="0"/>
              <a:t> It is a 16-bit field that defines the types of packets. </a:t>
            </a:r>
          </a:p>
          <a:p>
            <a:r>
              <a:rPr lang="en-US" sz="2000" dirty="0"/>
              <a:t>                       There are two types of packets ARP request (1) and ARP reply (2).</a:t>
            </a:r>
          </a:p>
          <a:p>
            <a:pPr>
              <a:buFont typeface="Arial" panose="020B0604020202020204" pitchFamily="34" charset="0"/>
              <a:buChar char="•"/>
            </a:pPr>
            <a:endParaRPr lang="en-US" dirty="0"/>
          </a:p>
        </p:txBody>
      </p:sp>
      <p:sp>
        <p:nvSpPr>
          <p:cNvPr id="8" name="TextBox 7">
            <a:extLst>
              <a:ext uri="{FF2B5EF4-FFF2-40B4-BE49-F238E27FC236}">
                <a16:creationId xmlns:a16="http://schemas.microsoft.com/office/drawing/2014/main" id="{EF16964A-B874-2183-8B4B-0FC9CDB1A9D9}"/>
              </a:ext>
            </a:extLst>
          </p:cNvPr>
          <p:cNvSpPr txBox="1"/>
          <p:nvPr/>
        </p:nvSpPr>
        <p:spPr>
          <a:xfrm>
            <a:off x="4921758" y="363974"/>
            <a:ext cx="6094476" cy="461665"/>
          </a:xfrm>
          <a:prstGeom prst="rect">
            <a:avLst/>
          </a:prstGeom>
          <a:noFill/>
        </p:spPr>
        <p:txBody>
          <a:bodyPr wrap="square">
            <a:spAutoFit/>
          </a:bodyPr>
          <a:lstStyle/>
          <a:p>
            <a:r>
              <a:rPr lang="en-US" sz="2400" b="1" dirty="0"/>
              <a:t>Fields of ARP packet</a:t>
            </a:r>
            <a:endParaRPr lang="en-IN" sz="2400" b="1" dirty="0"/>
          </a:p>
        </p:txBody>
      </p:sp>
    </p:spTree>
    <p:extLst>
      <p:ext uri="{BB962C8B-B14F-4D97-AF65-F5344CB8AC3E}">
        <p14:creationId xmlns:p14="http://schemas.microsoft.com/office/powerpoint/2010/main" val="39893283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9F8E7-B0F9-6EA4-E110-7BC1C32A8510}"/>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63A6D73-F707-51E2-9B2B-D1A67F121EAF}"/>
              </a:ext>
            </a:extLst>
          </p:cNvPr>
          <p:cNvSpPr txBox="1"/>
          <p:nvPr/>
        </p:nvSpPr>
        <p:spPr>
          <a:xfrm>
            <a:off x="449580" y="1280357"/>
            <a:ext cx="11292840" cy="2554545"/>
          </a:xfrm>
          <a:prstGeom prst="rect">
            <a:avLst/>
          </a:prstGeom>
          <a:noFill/>
        </p:spPr>
        <p:txBody>
          <a:bodyPr wrap="square">
            <a:spAutoFit/>
          </a:bodyPr>
          <a:lstStyle/>
          <a:p>
            <a:endParaRPr lang="en-US" sz="2000" dirty="0"/>
          </a:p>
          <a:p>
            <a:pPr>
              <a:buFont typeface="Arial" panose="020B0604020202020204" pitchFamily="34" charset="0"/>
              <a:buChar char="•"/>
            </a:pPr>
            <a:r>
              <a:rPr lang="en-US" sz="2000" b="1" dirty="0"/>
              <a:t>Sender hardware address:</a:t>
            </a:r>
            <a:r>
              <a:rPr lang="en-US" sz="2000" dirty="0"/>
              <a:t> It is a variable-length field that defines the physical address of the sender.</a:t>
            </a:r>
          </a:p>
          <a:p>
            <a:pPr>
              <a:buFont typeface="Arial" panose="020B0604020202020204" pitchFamily="34" charset="0"/>
              <a:buChar char="•"/>
            </a:pPr>
            <a:endParaRPr lang="en-US" sz="2000" dirty="0"/>
          </a:p>
          <a:p>
            <a:pPr>
              <a:buFont typeface="Arial" panose="020B0604020202020204" pitchFamily="34" charset="0"/>
              <a:buChar char="•"/>
            </a:pPr>
            <a:r>
              <a:rPr lang="en-US" sz="2000" b="1" dirty="0"/>
              <a:t>Sender protocol address:</a:t>
            </a:r>
            <a:r>
              <a:rPr lang="en-US" sz="2000" dirty="0"/>
              <a:t> It is a variable-length field that defines the logical address of the sender.</a:t>
            </a:r>
          </a:p>
          <a:p>
            <a:pPr>
              <a:buFont typeface="Arial" panose="020B0604020202020204" pitchFamily="34" charset="0"/>
              <a:buChar char="•"/>
            </a:pPr>
            <a:endParaRPr lang="en-US" sz="2000" dirty="0"/>
          </a:p>
          <a:p>
            <a:pPr>
              <a:buFont typeface="Arial" panose="020B0604020202020204" pitchFamily="34" charset="0"/>
              <a:buChar char="•"/>
            </a:pPr>
            <a:r>
              <a:rPr lang="en-US" sz="2000" b="1" dirty="0"/>
              <a:t>Target hardware address:</a:t>
            </a:r>
            <a:r>
              <a:rPr lang="en-US" sz="2000" dirty="0"/>
              <a:t> It is a variable-length field that defines the physical address of the receiver.</a:t>
            </a:r>
          </a:p>
          <a:p>
            <a:pPr>
              <a:buFont typeface="Arial" panose="020B0604020202020204" pitchFamily="34" charset="0"/>
              <a:buChar char="•"/>
            </a:pPr>
            <a:endParaRPr lang="en-US" sz="2000" dirty="0"/>
          </a:p>
          <a:p>
            <a:pPr>
              <a:buFont typeface="Arial" panose="020B0604020202020204" pitchFamily="34" charset="0"/>
              <a:buChar char="•"/>
            </a:pPr>
            <a:r>
              <a:rPr lang="en-US" sz="2000" b="1" dirty="0"/>
              <a:t>Target protocol address:</a:t>
            </a:r>
            <a:r>
              <a:rPr lang="en-US" sz="2000" dirty="0"/>
              <a:t> It is a variable-length field that defines the logical address of the receiver.</a:t>
            </a:r>
          </a:p>
        </p:txBody>
      </p:sp>
      <p:sp>
        <p:nvSpPr>
          <p:cNvPr id="8" name="TextBox 7">
            <a:extLst>
              <a:ext uri="{FF2B5EF4-FFF2-40B4-BE49-F238E27FC236}">
                <a16:creationId xmlns:a16="http://schemas.microsoft.com/office/drawing/2014/main" id="{9E89E1EE-245D-3FB9-BCC9-5DAC8ECBFD03}"/>
              </a:ext>
            </a:extLst>
          </p:cNvPr>
          <p:cNvSpPr txBox="1"/>
          <p:nvPr/>
        </p:nvSpPr>
        <p:spPr>
          <a:xfrm>
            <a:off x="4921758" y="363974"/>
            <a:ext cx="6094476" cy="461665"/>
          </a:xfrm>
          <a:prstGeom prst="rect">
            <a:avLst/>
          </a:prstGeom>
          <a:noFill/>
        </p:spPr>
        <p:txBody>
          <a:bodyPr wrap="square">
            <a:spAutoFit/>
          </a:bodyPr>
          <a:lstStyle/>
          <a:p>
            <a:r>
              <a:rPr lang="en-US" sz="2400" b="1" dirty="0"/>
              <a:t>Fields of ARP packet</a:t>
            </a:r>
            <a:endParaRPr lang="en-IN" sz="2400" b="1" dirty="0"/>
          </a:p>
        </p:txBody>
      </p:sp>
    </p:spTree>
    <p:extLst>
      <p:ext uri="{BB962C8B-B14F-4D97-AF65-F5344CB8AC3E}">
        <p14:creationId xmlns:p14="http://schemas.microsoft.com/office/powerpoint/2010/main" val="1696463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233DD-A860-4538-B9BE-FC6B21DEF75D}"/>
              </a:ext>
            </a:extLst>
          </p:cNvPr>
          <p:cNvSpPr>
            <a:spLocks noGrp="1"/>
          </p:cNvSpPr>
          <p:nvPr>
            <p:ph type="title"/>
          </p:nvPr>
        </p:nvSpPr>
        <p:spPr/>
        <p:txBody>
          <a:bodyPr/>
          <a:lstStyle/>
          <a:p>
            <a:r>
              <a:rPr lang="en-IN" dirty="0"/>
              <a:t>Arp </a:t>
            </a:r>
            <a:r>
              <a:rPr lang="en-IN" dirty="0" err="1"/>
              <a:t>encaptulation</a:t>
            </a:r>
            <a:endParaRPr lang="en-IN" dirty="0"/>
          </a:p>
        </p:txBody>
      </p:sp>
      <p:pic>
        <p:nvPicPr>
          <p:cNvPr id="5" name="Picture 4" descr="A diagram of a computer code&#10;&#10;Description automatically generated">
            <a:extLst>
              <a:ext uri="{FF2B5EF4-FFF2-40B4-BE49-F238E27FC236}">
                <a16:creationId xmlns:a16="http://schemas.microsoft.com/office/drawing/2014/main" id="{A2DE3EB9-F0DD-D9A5-35E9-1E4992A8A9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65" y="2662948"/>
            <a:ext cx="9908425" cy="2771703"/>
          </a:xfrm>
          <a:prstGeom prst="rect">
            <a:avLst/>
          </a:prstGeom>
        </p:spPr>
      </p:pic>
    </p:spTree>
    <p:extLst>
      <p:ext uri="{BB962C8B-B14F-4D97-AF65-F5344CB8AC3E}">
        <p14:creationId xmlns:p14="http://schemas.microsoft.com/office/powerpoint/2010/main" val="962306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98D6C-D2FF-9E94-84F9-A194FDB890C9}"/>
              </a:ext>
            </a:extLst>
          </p:cNvPr>
          <p:cNvSpPr>
            <a:spLocks noGrp="1"/>
          </p:cNvSpPr>
          <p:nvPr>
            <p:ph type="title"/>
          </p:nvPr>
        </p:nvSpPr>
        <p:spPr>
          <a:xfrm>
            <a:off x="838200" y="0"/>
            <a:ext cx="10515600" cy="396875"/>
          </a:xfrm>
          <a:solidFill>
            <a:srgbClr val="663300"/>
          </a:solidFill>
        </p:spPr>
        <p:txBody>
          <a:bodyPr>
            <a:noAutofit/>
          </a:bodyPr>
          <a:lstStyle/>
          <a:p>
            <a:pPr algn="ctr"/>
            <a:r>
              <a:rPr lang="en-IN" sz="3200" b="1" dirty="0">
                <a:solidFill>
                  <a:schemeClr val="bg1"/>
                </a:solidFill>
              </a:rPr>
              <a:t>ARP Address Mapping Process</a:t>
            </a:r>
          </a:p>
        </p:txBody>
      </p:sp>
      <p:sp>
        <p:nvSpPr>
          <p:cNvPr id="4" name="TextBox 3">
            <a:extLst>
              <a:ext uri="{FF2B5EF4-FFF2-40B4-BE49-F238E27FC236}">
                <a16:creationId xmlns:a16="http://schemas.microsoft.com/office/drawing/2014/main" id="{9E961718-6282-5D7F-F773-7056BD42921F}"/>
              </a:ext>
            </a:extLst>
          </p:cNvPr>
          <p:cNvSpPr txBox="1"/>
          <p:nvPr/>
        </p:nvSpPr>
        <p:spPr>
          <a:xfrm>
            <a:off x="345358" y="1193288"/>
            <a:ext cx="11658600" cy="3447098"/>
          </a:xfrm>
          <a:prstGeom prst="rect">
            <a:avLst/>
          </a:prstGeom>
          <a:noFill/>
        </p:spPr>
        <p:txBody>
          <a:bodyPr wrap="square">
            <a:spAutoFit/>
          </a:bodyPr>
          <a:lstStyle/>
          <a:p>
            <a:pPr algn="just"/>
            <a:r>
              <a:rPr lang="en-US" sz="2000" b="1" dirty="0"/>
              <a:t>Below is a list of steps involved in the ARP process:</a:t>
            </a:r>
          </a:p>
          <a:p>
            <a:pPr algn="just"/>
            <a:endParaRPr lang="en-US" sz="2000" dirty="0"/>
          </a:p>
          <a:p>
            <a:pPr algn="just"/>
            <a:r>
              <a:rPr lang="en-US" sz="2000" b="1" dirty="0"/>
              <a:t>Step 1: </a:t>
            </a:r>
            <a:r>
              <a:rPr lang="en-US" sz="2000" dirty="0"/>
              <a:t>The sender knows the </a:t>
            </a:r>
            <a:r>
              <a:rPr lang="en-US" sz="2000" dirty="0">
                <a:solidFill>
                  <a:srgbClr val="C00000"/>
                </a:solidFill>
              </a:rPr>
              <a:t>IP address of the receiver.</a:t>
            </a:r>
          </a:p>
          <a:p>
            <a:pPr algn="just"/>
            <a:endParaRPr lang="en-US" sz="2000" dirty="0"/>
          </a:p>
          <a:p>
            <a:pPr algn="just"/>
            <a:r>
              <a:rPr lang="en-US" sz="2000" b="1" dirty="0"/>
              <a:t>Step 2: </a:t>
            </a:r>
            <a:r>
              <a:rPr lang="en-US" sz="2000" dirty="0"/>
              <a:t>The IP asks ARP to create an ARP request message that contains information like </a:t>
            </a:r>
            <a:r>
              <a:rPr lang="en-US" sz="2000" dirty="0">
                <a:solidFill>
                  <a:srgbClr val="C00000"/>
                </a:solidFill>
              </a:rPr>
              <a:t>sender physical address, receiver physical address field is filled with 0s, the sender IP address and receiver IP address.</a:t>
            </a:r>
          </a:p>
          <a:p>
            <a:pPr algn="just"/>
            <a:endParaRPr lang="en-US" sz="2000" dirty="0"/>
          </a:p>
          <a:p>
            <a:pPr algn="just"/>
            <a:r>
              <a:rPr lang="en-US" sz="2000" b="1" dirty="0"/>
              <a:t>Step 3: </a:t>
            </a:r>
            <a:r>
              <a:rPr lang="en-US" sz="2000" dirty="0"/>
              <a:t>ARP </a:t>
            </a:r>
            <a:r>
              <a:rPr lang="en-US" sz="2000" dirty="0">
                <a:solidFill>
                  <a:srgbClr val="C00000"/>
                </a:solidFill>
              </a:rPr>
              <a:t>request message is sent</a:t>
            </a:r>
            <a:r>
              <a:rPr lang="en-US" sz="2000" dirty="0"/>
              <a:t> to the data link layer where the message is encapsulated in the frame using the sender’s physical address as a source address and </a:t>
            </a:r>
            <a:r>
              <a:rPr lang="en-US" sz="2000" dirty="0">
                <a:solidFill>
                  <a:srgbClr val="C00000"/>
                </a:solidFill>
              </a:rPr>
              <a:t>broadcast</a:t>
            </a:r>
            <a:r>
              <a:rPr lang="en-US" sz="2000" dirty="0"/>
              <a:t> address as a destination address.</a:t>
            </a:r>
          </a:p>
          <a:p>
            <a:pPr algn="just"/>
            <a:endParaRPr lang="en-US" sz="2000" dirty="0"/>
          </a:p>
          <a:p>
            <a:endParaRPr lang="en-US" dirty="0"/>
          </a:p>
        </p:txBody>
      </p:sp>
    </p:spTree>
    <p:extLst>
      <p:ext uri="{BB962C8B-B14F-4D97-AF65-F5344CB8AC3E}">
        <p14:creationId xmlns:p14="http://schemas.microsoft.com/office/powerpoint/2010/main" val="1024343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233AE5-3D7B-B28B-23F1-1C03306918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71CEF5-7B12-53CA-E75F-9D82EBB10F10}"/>
              </a:ext>
            </a:extLst>
          </p:cNvPr>
          <p:cNvSpPr>
            <a:spLocks noGrp="1"/>
          </p:cNvSpPr>
          <p:nvPr>
            <p:ph type="title"/>
          </p:nvPr>
        </p:nvSpPr>
        <p:spPr>
          <a:xfrm>
            <a:off x="838200" y="0"/>
            <a:ext cx="10515600" cy="396875"/>
          </a:xfrm>
          <a:solidFill>
            <a:srgbClr val="663300"/>
          </a:solidFill>
        </p:spPr>
        <p:txBody>
          <a:bodyPr>
            <a:noAutofit/>
          </a:bodyPr>
          <a:lstStyle/>
          <a:p>
            <a:pPr algn="ctr"/>
            <a:r>
              <a:rPr lang="en-IN" sz="3200" b="1" dirty="0">
                <a:solidFill>
                  <a:schemeClr val="bg1"/>
                </a:solidFill>
              </a:rPr>
              <a:t>ARP Address Mapping Process</a:t>
            </a:r>
          </a:p>
        </p:txBody>
      </p:sp>
      <p:sp>
        <p:nvSpPr>
          <p:cNvPr id="4" name="TextBox 3">
            <a:extLst>
              <a:ext uri="{FF2B5EF4-FFF2-40B4-BE49-F238E27FC236}">
                <a16:creationId xmlns:a16="http://schemas.microsoft.com/office/drawing/2014/main" id="{AD2EBB55-06A0-F0D5-0A8E-D5AD663D4D95}"/>
              </a:ext>
            </a:extLst>
          </p:cNvPr>
          <p:cNvSpPr txBox="1"/>
          <p:nvPr/>
        </p:nvSpPr>
        <p:spPr>
          <a:xfrm>
            <a:off x="266700" y="809829"/>
            <a:ext cx="11658600" cy="4062651"/>
          </a:xfrm>
          <a:prstGeom prst="rect">
            <a:avLst/>
          </a:prstGeom>
          <a:noFill/>
        </p:spPr>
        <p:txBody>
          <a:bodyPr wrap="square">
            <a:spAutoFit/>
          </a:bodyPr>
          <a:lstStyle/>
          <a:p>
            <a:pPr algn="just"/>
            <a:endParaRPr lang="en-US" sz="2000" dirty="0"/>
          </a:p>
          <a:p>
            <a:pPr algn="just"/>
            <a:r>
              <a:rPr lang="en-US" sz="2000" b="1" dirty="0"/>
              <a:t>Step 4: </a:t>
            </a:r>
            <a:r>
              <a:rPr lang="en-US" sz="2000" dirty="0"/>
              <a:t>Each and every host receives the frame because the frame contains a broadcast destination address. All hosts check the address with their address. If the match founds, the packet is dropped to that host; otherwise, it passes to the address resolution protocol.</a:t>
            </a:r>
          </a:p>
          <a:p>
            <a:pPr algn="just"/>
            <a:endParaRPr lang="en-US" sz="2000" dirty="0"/>
          </a:p>
          <a:p>
            <a:pPr algn="just"/>
            <a:r>
              <a:rPr lang="en-US" sz="2000" b="1" dirty="0"/>
              <a:t>Step 5: </a:t>
            </a:r>
            <a:r>
              <a:rPr lang="en-US" sz="2000" dirty="0"/>
              <a:t>After receiving the packet, target host will </a:t>
            </a:r>
            <a:r>
              <a:rPr lang="en-US" sz="2000" dirty="0">
                <a:solidFill>
                  <a:srgbClr val="C00000"/>
                </a:solidFill>
              </a:rPr>
              <a:t>reply with an ARP reply message that contains the target physical address</a:t>
            </a:r>
            <a:r>
              <a:rPr lang="en-US" sz="2000" dirty="0"/>
              <a:t>. The message in this step is </a:t>
            </a:r>
            <a:r>
              <a:rPr lang="en-US" sz="2000" dirty="0">
                <a:solidFill>
                  <a:srgbClr val="C00000"/>
                </a:solidFill>
              </a:rPr>
              <a:t>unicast.</a:t>
            </a:r>
          </a:p>
          <a:p>
            <a:pPr algn="just"/>
            <a:endParaRPr lang="en-US" sz="2000" dirty="0"/>
          </a:p>
          <a:p>
            <a:pPr algn="just"/>
            <a:r>
              <a:rPr lang="en-US" sz="2000" b="1" dirty="0"/>
              <a:t>Step 6: </a:t>
            </a:r>
            <a:r>
              <a:rPr lang="en-US" sz="2000" dirty="0"/>
              <a:t>When the sender receives a reply message from the target, it </a:t>
            </a:r>
            <a:r>
              <a:rPr lang="en-US" sz="2000" dirty="0">
                <a:solidFill>
                  <a:srgbClr val="C00000"/>
                </a:solidFill>
              </a:rPr>
              <a:t>knows the target’s physical address</a:t>
            </a:r>
            <a:r>
              <a:rPr lang="en-US" sz="2000" dirty="0"/>
              <a:t>.</a:t>
            </a:r>
          </a:p>
          <a:p>
            <a:pPr algn="just"/>
            <a:endParaRPr lang="en-US" sz="2000" dirty="0"/>
          </a:p>
          <a:p>
            <a:pPr algn="just"/>
            <a:r>
              <a:rPr lang="en-US" sz="2000" b="1" dirty="0"/>
              <a:t>Step 7: </a:t>
            </a:r>
            <a:r>
              <a:rPr lang="en-US" sz="2000" dirty="0"/>
              <a:t>Now, the </a:t>
            </a:r>
            <a:r>
              <a:rPr lang="en-US" sz="2000" dirty="0">
                <a:solidFill>
                  <a:srgbClr val="C00000"/>
                </a:solidFill>
              </a:rPr>
              <a:t>IP Datagram carries data for the target machine </a:t>
            </a:r>
            <a:r>
              <a:rPr lang="en-US" sz="2000" dirty="0"/>
              <a:t>encapsulated and sent in the </a:t>
            </a:r>
            <a:r>
              <a:rPr lang="en-US" sz="2000" dirty="0">
                <a:solidFill>
                  <a:srgbClr val="C00000"/>
                </a:solidFill>
              </a:rPr>
              <a:t>unicast form</a:t>
            </a:r>
            <a:r>
              <a:rPr lang="en-US" sz="2000" dirty="0"/>
              <a:t> to the destination.</a:t>
            </a:r>
          </a:p>
          <a:p>
            <a:endParaRPr lang="en-US" dirty="0"/>
          </a:p>
        </p:txBody>
      </p:sp>
    </p:spTree>
    <p:extLst>
      <p:ext uri="{BB962C8B-B14F-4D97-AF65-F5344CB8AC3E}">
        <p14:creationId xmlns:p14="http://schemas.microsoft.com/office/powerpoint/2010/main" val="10854042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038C402-6EAA-4DAB-8721-9A8FDDD8DCAB}"/>
              </a:ext>
            </a:extLst>
          </p:cNvPr>
          <p:cNvSpPr txBox="1"/>
          <p:nvPr/>
        </p:nvSpPr>
        <p:spPr>
          <a:xfrm>
            <a:off x="838199" y="1266497"/>
            <a:ext cx="10515601" cy="5078313"/>
          </a:xfrm>
          <a:prstGeom prst="rect">
            <a:avLst/>
          </a:prstGeom>
          <a:noFill/>
        </p:spPr>
        <p:txBody>
          <a:bodyPr wrap="square">
            <a:spAutoFit/>
          </a:bodyPr>
          <a:lstStyle/>
          <a:p>
            <a:pPr marL="285750" indent="-285750" algn="just">
              <a:buFont typeface="Wingdings" panose="05000000000000000000" pitchFamily="2" charset="2"/>
              <a:buChar char="Ø"/>
            </a:pPr>
            <a:r>
              <a:rPr lang="en-US" b="0" i="0" dirty="0">
                <a:solidFill>
                  <a:srgbClr val="202122"/>
                </a:solidFill>
                <a:effectLst/>
                <a:latin typeface="Arial" panose="020B0604020202020204" pitchFamily="34" charset="0"/>
              </a:rPr>
              <a:t>The Dynamic Host Configuration Protocol (DHCP) is a </a:t>
            </a:r>
            <a:r>
              <a:rPr lang="en-US" b="0" i="0" dirty="0">
                <a:solidFill>
                  <a:srgbClr val="C00000"/>
                </a:solidFill>
                <a:effectLst/>
                <a:latin typeface="Arial" panose="020B0604020202020204" pitchFamily="34" charset="0"/>
              </a:rPr>
              <a:t>network management protocol </a:t>
            </a:r>
            <a:r>
              <a:rPr lang="en-US" b="0" i="0" dirty="0">
                <a:solidFill>
                  <a:srgbClr val="202122"/>
                </a:solidFill>
                <a:effectLst/>
                <a:latin typeface="Arial" panose="020B0604020202020204" pitchFamily="34" charset="0"/>
              </a:rPr>
              <a:t>used on Internet Protocol (IP) networks.</a:t>
            </a:r>
          </a:p>
          <a:p>
            <a:pPr marL="285750" indent="-285750" algn="just">
              <a:buFont typeface="Wingdings" panose="05000000000000000000" pitchFamily="2" charset="2"/>
              <a:buChar char="Ø"/>
            </a:pPr>
            <a:endParaRPr lang="en-US" b="0" i="0" dirty="0">
              <a:solidFill>
                <a:srgbClr val="202122"/>
              </a:solidFill>
              <a:effectLst/>
              <a:latin typeface="Arial" panose="020B0604020202020204" pitchFamily="34" charset="0"/>
            </a:endParaRPr>
          </a:p>
          <a:p>
            <a:pPr marL="285750" indent="-285750" algn="just">
              <a:buFont typeface="Wingdings" panose="05000000000000000000" pitchFamily="2" charset="2"/>
              <a:buChar char="Ø"/>
            </a:pPr>
            <a:endParaRPr lang="en-US" b="0" i="0" dirty="0">
              <a:solidFill>
                <a:srgbClr val="202122"/>
              </a:solidFill>
              <a:effectLst/>
              <a:latin typeface="Arial" panose="020B0604020202020204" pitchFamily="34" charset="0"/>
            </a:endParaRPr>
          </a:p>
          <a:p>
            <a:pPr marL="285750" indent="-285750" algn="just">
              <a:buFont typeface="Wingdings" panose="05000000000000000000" pitchFamily="2" charset="2"/>
              <a:buChar char="Ø"/>
            </a:pPr>
            <a:r>
              <a:rPr lang="en-US" dirty="0">
                <a:solidFill>
                  <a:srgbClr val="202122"/>
                </a:solidFill>
                <a:latin typeface="Arial" panose="020B0604020202020204" pitchFamily="34" charset="0"/>
              </a:rPr>
              <a:t>D</a:t>
            </a:r>
            <a:r>
              <a:rPr lang="en-US" b="0" i="0" dirty="0">
                <a:solidFill>
                  <a:srgbClr val="202122"/>
                </a:solidFill>
                <a:effectLst/>
                <a:latin typeface="Arial" panose="020B0604020202020204" pitchFamily="34" charset="0"/>
              </a:rPr>
              <a:t>HCP server </a:t>
            </a:r>
            <a:r>
              <a:rPr lang="en-US" b="0" i="0" dirty="0">
                <a:solidFill>
                  <a:srgbClr val="C00000"/>
                </a:solidFill>
                <a:effectLst/>
                <a:latin typeface="Arial" panose="020B0604020202020204" pitchFamily="34" charset="0"/>
              </a:rPr>
              <a:t>dynamically assigns an IP address </a:t>
            </a:r>
            <a:r>
              <a:rPr lang="en-US" b="0" i="0" dirty="0">
                <a:solidFill>
                  <a:srgbClr val="202122"/>
                </a:solidFill>
                <a:effectLst/>
                <a:latin typeface="Arial" panose="020B0604020202020204" pitchFamily="34" charset="0"/>
              </a:rPr>
              <a:t>and other network configuration parameters to each device on the network, so they can communicate with other IP networks.</a:t>
            </a:r>
          </a:p>
          <a:p>
            <a:pPr marL="285750" indent="-285750" algn="just">
              <a:buFont typeface="Wingdings" panose="05000000000000000000" pitchFamily="2" charset="2"/>
              <a:buChar char="Ø"/>
            </a:pPr>
            <a:endParaRPr lang="en-US" b="0" i="0" dirty="0">
              <a:solidFill>
                <a:srgbClr val="202122"/>
              </a:solidFill>
              <a:effectLst/>
              <a:latin typeface="Arial" panose="020B0604020202020204" pitchFamily="34" charset="0"/>
            </a:endParaRPr>
          </a:p>
          <a:p>
            <a:pPr marL="285750" indent="-285750" algn="just">
              <a:buFont typeface="Wingdings" panose="05000000000000000000" pitchFamily="2" charset="2"/>
              <a:buChar char="Ø"/>
            </a:pPr>
            <a:endParaRPr lang="en-US" b="0" i="0" dirty="0">
              <a:solidFill>
                <a:srgbClr val="202122"/>
              </a:solidFill>
              <a:effectLst/>
              <a:latin typeface="Arial" panose="020B0604020202020204" pitchFamily="34" charset="0"/>
            </a:endParaRPr>
          </a:p>
          <a:p>
            <a:pPr marL="285750" indent="-285750" algn="just">
              <a:buFont typeface="Wingdings" panose="05000000000000000000" pitchFamily="2" charset="2"/>
              <a:buChar char="Ø"/>
            </a:pPr>
            <a:r>
              <a:rPr lang="en-US" b="0" i="0" dirty="0">
                <a:solidFill>
                  <a:srgbClr val="202122"/>
                </a:solidFill>
                <a:effectLst/>
                <a:latin typeface="Arial" panose="020B0604020202020204" pitchFamily="34" charset="0"/>
              </a:rPr>
              <a:t>A DHCP server enables computers to </a:t>
            </a:r>
            <a:r>
              <a:rPr lang="en-US" i="0" dirty="0">
                <a:solidFill>
                  <a:srgbClr val="C00000"/>
                </a:solidFill>
                <a:effectLst/>
                <a:latin typeface="Arial" panose="020B0604020202020204" pitchFamily="34" charset="0"/>
              </a:rPr>
              <a:t>request IP addresses and networking parameters automatically</a:t>
            </a:r>
            <a:r>
              <a:rPr lang="en-US" b="0" i="0" dirty="0">
                <a:solidFill>
                  <a:srgbClr val="202122"/>
                </a:solidFill>
                <a:effectLst/>
                <a:latin typeface="Arial" panose="020B0604020202020204" pitchFamily="34" charset="0"/>
              </a:rPr>
              <a:t> from the Internet service provider (ISP).</a:t>
            </a:r>
          </a:p>
          <a:p>
            <a:pPr marL="285750" indent="-285750" algn="just">
              <a:buFont typeface="Wingdings" panose="05000000000000000000" pitchFamily="2" charset="2"/>
              <a:buChar char="Ø"/>
            </a:pPr>
            <a:endParaRPr lang="en-US" b="0" i="0" dirty="0">
              <a:solidFill>
                <a:srgbClr val="202122"/>
              </a:solidFill>
              <a:effectLst/>
              <a:latin typeface="Arial" panose="020B0604020202020204" pitchFamily="34" charset="0"/>
            </a:endParaRPr>
          </a:p>
          <a:p>
            <a:pPr marL="285750" indent="-285750" algn="just">
              <a:buFont typeface="Wingdings" panose="05000000000000000000" pitchFamily="2" charset="2"/>
              <a:buChar char="Ø"/>
            </a:pPr>
            <a:endParaRPr lang="en-US" b="0" i="0" dirty="0">
              <a:solidFill>
                <a:srgbClr val="202122"/>
              </a:solidFill>
              <a:effectLst/>
              <a:latin typeface="Arial" panose="020B0604020202020204" pitchFamily="34" charset="0"/>
            </a:endParaRPr>
          </a:p>
          <a:p>
            <a:pPr marL="285750" indent="-285750" algn="just">
              <a:buFont typeface="Wingdings" panose="05000000000000000000" pitchFamily="2" charset="2"/>
              <a:buChar char="Ø"/>
            </a:pPr>
            <a:r>
              <a:rPr lang="en-US" dirty="0">
                <a:solidFill>
                  <a:srgbClr val="202122"/>
                </a:solidFill>
                <a:latin typeface="Arial" panose="020B0604020202020204" pitchFamily="34" charset="0"/>
              </a:rPr>
              <a:t>This </a:t>
            </a:r>
            <a:r>
              <a:rPr lang="en-US" b="0" i="0" dirty="0">
                <a:solidFill>
                  <a:srgbClr val="C00000"/>
                </a:solidFill>
                <a:effectLst/>
                <a:latin typeface="Arial" panose="020B0604020202020204" pitchFamily="34" charset="0"/>
              </a:rPr>
              <a:t>reduces the need for a network administrator or a user to manually assign IP addresses </a:t>
            </a:r>
            <a:r>
              <a:rPr lang="en-US" b="0" i="0" dirty="0">
                <a:solidFill>
                  <a:srgbClr val="202122"/>
                </a:solidFill>
                <a:effectLst/>
                <a:latin typeface="Arial" panose="020B0604020202020204" pitchFamily="34" charset="0"/>
              </a:rPr>
              <a:t>to all network devices.</a:t>
            </a:r>
          </a:p>
          <a:p>
            <a:pPr marL="285750" indent="-285750" algn="just">
              <a:buFont typeface="Wingdings" panose="05000000000000000000" pitchFamily="2" charset="2"/>
              <a:buChar char="Ø"/>
            </a:pPr>
            <a:endParaRPr lang="en-US" b="0" i="0" dirty="0">
              <a:solidFill>
                <a:srgbClr val="202122"/>
              </a:solidFill>
              <a:effectLst/>
              <a:latin typeface="Arial" panose="020B0604020202020204" pitchFamily="34" charset="0"/>
            </a:endParaRPr>
          </a:p>
          <a:p>
            <a:pPr marL="285750" indent="-285750" algn="just">
              <a:buFont typeface="Wingdings" panose="05000000000000000000" pitchFamily="2" charset="2"/>
              <a:buChar char="Ø"/>
            </a:pPr>
            <a:endParaRPr lang="en-US" b="0" i="0" dirty="0">
              <a:solidFill>
                <a:srgbClr val="202122"/>
              </a:solidFill>
              <a:effectLst/>
              <a:latin typeface="Arial" panose="020B0604020202020204" pitchFamily="34" charset="0"/>
            </a:endParaRPr>
          </a:p>
          <a:p>
            <a:pPr marL="285750" indent="-285750" algn="just">
              <a:buFont typeface="Wingdings" panose="05000000000000000000" pitchFamily="2" charset="2"/>
              <a:buChar char="Ø"/>
            </a:pPr>
            <a:r>
              <a:rPr lang="en-US" b="0" i="0" dirty="0">
                <a:solidFill>
                  <a:srgbClr val="202122"/>
                </a:solidFill>
                <a:effectLst/>
                <a:latin typeface="Arial" panose="020B0604020202020204" pitchFamily="34" charset="0"/>
              </a:rPr>
              <a:t>In the </a:t>
            </a:r>
            <a:r>
              <a:rPr lang="en-US" b="0" i="0" dirty="0">
                <a:solidFill>
                  <a:srgbClr val="C00000"/>
                </a:solidFill>
                <a:effectLst/>
                <a:latin typeface="Arial" panose="020B0604020202020204" pitchFamily="34" charset="0"/>
              </a:rPr>
              <a:t>absence of a DHCP server</a:t>
            </a:r>
            <a:r>
              <a:rPr lang="en-US" b="0" i="0" dirty="0">
                <a:solidFill>
                  <a:srgbClr val="202122"/>
                </a:solidFill>
                <a:effectLst/>
                <a:latin typeface="Arial" panose="020B0604020202020204" pitchFamily="34" charset="0"/>
              </a:rPr>
              <a:t>, a computer or other device on the network needs to be </a:t>
            </a:r>
            <a:r>
              <a:rPr lang="en-US" b="0" i="0" dirty="0">
                <a:solidFill>
                  <a:srgbClr val="C00000"/>
                </a:solidFill>
                <a:effectLst/>
                <a:latin typeface="Arial" panose="020B0604020202020204" pitchFamily="34" charset="0"/>
              </a:rPr>
              <a:t>manually assigned an IP address</a:t>
            </a:r>
            <a:r>
              <a:rPr lang="en-US" b="0" i="0" dirty="0">
                <a:solidFill>
                  <a:srgbClr val="202122"/>
                </a:solidFill>
                <a:effectLst/>
                <a:latin typeface="Arial" panose="020B0604020202020204" pitchFamily="34" charset="0"/>
              </a:rPr>
              <a:t>.</a:t>
            </a:r>
          </a:p>
        </p:txBody>
      </p:sp>
      <p:sp>
        <p:nvSpPr>
          <p:cNvPr id="3" name="Title 1">
            <a:extLst>
              <a:ext uri="{FF2B5EF4-FFF2-40B4-BE49-F238E27FC236}">
                <a16:creationId xmlns:a16="http://schemas.microsoft.com/office/drawing/2014/main" id="{595F376A-8AB2-FF73-2EBF-CCE23A5F96F6}"/>
              </a:ext>
            </a:extLst>
          </p:cNvPr>
          <p:cNvSpPr txBox="1">
            <a:spLocks/>
          </p:cNvSpPr>
          <p:nvPr/>
        </p:nvSpPr>
        <p:spPr>
          <a:xfrm>
            <a:off x="838200" y="0"/>
            <a:ext cx="10515600" cy="809625"/>
          </a:xfrm>
          <a:prstGeom prst="rect">
            <a:avLst/>
          </a:prstGeom>
          <a:solidFill>
            <a:srgbClr val="663300"/>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200" b="1" dirty="0">
                <a:solidFill>
                  <a:schemeClr val="bg1"/>
                </a:solidFill>
              </a:rPr>
              <a:t>Dynamic Host Configuration Protocol (DHCP)</a:t>
            </a:r>
          </a:p>
        </p:txBody>
      </p:sp>
    </p:spTree>
    <p:extLst>
      <p:ext uri="{BB962C8B-B14F-4D97-AF65-F5344CB8AC3E}">
        <p14:creationId xmlns:p14="http://schemas.microsoft.com/office/powerpoint/2010/main" val="4009237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C8848E-5037-43BB-A723-6B42A6DB5BAA}"/>
              </a:ext>
            </a:extLst>
          </p:cNvPr>
          <p:cNvPicPr>
            <a:picLocks noChangeAspect="1"/>
          </p:cNvPicPr>
          <p:nvPr/>
        </p:nvPicPr>
        <p:blipFill>
          <a:blip r:embed="rId2"/>
          <a:stretch>
            <a:fillRect/>
          </a:stretch>
        </p:blipFill>
        <p:spPr>
          <a:xfrm>
            <a:off x="2359742" y="1159284"/>
            <a:ext cx="5637742" cy="5067300"/>
          </a:xfrm>
          <a:prstGeom prst="rect">
            <a:avLst/>
          </a:prstGeom>
        </p:spPr>
      </p:pic>
      <p:sp>
        <p:nvSpPr>
          <p:cNvPr id="5" name="Title 1">
            <a:extLst>
              <a:ext uri="{FF2B5EF4-FFF2-40B4-BE49-F238E27FC236}">
                <a16:creationId xmlns:a16="http://schemas.microsoft.com/office/drawing/2014/main" id="{82E2693C-060A-9875-A86C-4E7B64031861}"/>
              </a:ext>
            </a:extLst>
          </p:cNvPr>
          <p:cNvSpPr txBox="1">
            <a:spLocks/>
          </p:cNvSpPr>
          <p:nvPr/>
        </p:nvSpPr>
        <p:spPr>
          <a:xfrm>
            <a:off x="838200" y="0"/>
            <a:ext cx="10515600" cy="809625"/>
          </a:xfrm>
          <a:prstGeom prst="rect">
            <a:avLst/>
          </a:prstGeom>
          <a:solidFill>
            <a:srgbClr val="663300"/>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200" b="1" dirty="0">
                <a:solidFill>
                  <a:schemeClr val="bg1"/>
                </a:solidFill>
              </a:rPr>
              <a:t>DHCP Message Format</a:t>
            </a:r>
          </a:p>
        </p:txBody>
      </p:sp>
    </p:spTree>
    <p:extLst>
      <p:ext uri="{BB962C8B-B14F-4D97-AF65-F5344CB8AC3E}">
        <p14:creationId xmlns:p14="http://schemas.microsoft.com/office/powerpoint/2010/main" val="270177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A3A82-B6C1-4D84-1D96-A4DA8598C564}"/>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E359399-1E0E-8FD1-5B69-750ECCA20C34}"/>
              </a:ext>
            </a:extLst>
          </p:cNvPr>
          <p:cNvSpPr txBox="1">
            <a:spLocks/>
          </p:cNvSpPr>
          <p:nvPr/>
        </p:nvSpPr>
        <p:spPr>
          <a:xfrm>
            <a:off x="838200" y="0"/>
            <a:ext cx="10515600" cy="809625"/>
          </a:xfrm>
          <a:prstGeom prst="rect">
            <a:avLst/>
          </a:prstGeom>
          <a:solidFill>
            <a:srgbClr val="663300"/>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200" b="1" dirty="0">
                <a:solidFill>
                  <a:schemeClr val="bg1"/>
                </a:solidFill>
              </a:rPr>
              <a:t>DHCP Message Format</a:t>
            </a:r>
          </a:p>
        </p:txBody>
      </p:sp>
      <p:sp>
        <p:nvSpPr>
          <p:cNvPr id="4" name="TextBox 3">
            <a:extLst>
              <a:ext uri="{FF2B5EF4-FFF2-40B4-BE49-F238E27FC236}">
                <a16:creationId xmlns:a16="http://schemas.microsoft.com/office/drawing/2014/main" id="{D42E711C-4617-C23D-DACA-A243D03A0501}"/>
              </a:ext>
            </a:extLst>
          </p:cNvPr>
          <p:cNvSpPr txBox="1"/>
          <p:nvPr/>
        </p:nvSpPr>
        <p:spPr>
          <a:xfrm>
            <a:off x="3048000" y="2969793"/>
            <a:ext cx="6096000" cy="369332"/>
          </a:xfrm>
          <a:prstGeom prst="rect">
            <a:avLst/>
          </a:prstGeom>
          <a:noFill/>
        </p:spPr>
        <p:txBody>
          <a:bodyPr wrap="square">
            <a:spAutoFit/>
          </a:bodyPr>
          <a:lstStyle/>
          <a:p>
            <a:r>
              <a:rPr lang="en-US" sz="1800" dirty="0"/>
              <a:t>Operation code: one byte field defines type of DHCP packet </a:t>
            </a:r>
            <a:endParaRPr lang="en-IN" dirty="0"/>
          </a:p>
        </p:txBody>
      </p:sp>
    </p:spTree>
    <p:extLst>
      <p:ext uri="{BB962C8B-B14F-4D97-AF65-F5344CB8AC3E}">
        <p14:creationId xmlns:p14="http://schemas.microsoft.com/office/powerpoint/2010/main" val="42586267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BED31B-0A8B-0D6C-7573-8B4A40D0CB14}"/>
              </a:ext>
            </a:extLst>
          </p:cNvPr>
          <p:cNvSpPr>
            <a:spLocks noGrp="1"/>
          </p:cNvSpPr>
          <p:nvPr>
            <p:ph type="title"/>
          </p:nvPr>
        </p:nvSpPr>
        <p:spPr/>
        <p:txBody>
          <a:bodyPr>
            <a:normAutofit fontScale="90000"/>
          </a:bodyPr>
          <a:lstStyle/>
          <a:p>
            <a:r>
              <a:rPr lang="en-IN" sz="4400" b="1" dirty="0">
                <a:solidFill>
                  <a:schemeClr val="bg1"/>
                </a:solidFill>
              </a:rPr>
              <a:t>DHCP Message Format</a:t>
            </a:r>
            <a:br>
              <a:rPr lang="en-IN" sz="4400" b="1" dirty="0">
                <a:solidFill>
                  <a:schemeClr val="bg1"/>
                </a:solidFill>
              </a:rPr>
            </a:br>
            <a:r>
              <a:rPr lang="en-IN" sz="4400" b="1" dirty="0">
                <a:solidFill>
                  <a:schemeClr val="bg1"/>
                </a:solidFill>
              </a:rPr>
              <a:t>DHCP Message Format</a:t>
            </a:r>
            <a:br>
              <a:rPr lang="en-IN" sz="4400" b="1" dirty="0">
                <a:solidFill>
                  <a:schemeClr val="bg1"/>
                </a:solidFill>
              </a:rPr>
            </a:br>
            <a:endParaRPr lang="en-IN" dirty="0"/>
          </a:p>
        </p:txBody>
      </p:sp>
    </p:spTree>
    <p:extLst>
      <p:ext uri="{BB962C8B-B14F-4D97-AF65-F5344CB8AC3E}">
        <p14:creationId xmlns:p14="http://schemas.microsoft.com/office/powerpoint/2010/main" val="10961125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C96DE-2459-1D08-5A70-D8FB6F9CB00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419F8D4-713C-0CE9-3FB5-DEAEC8FD1814}"/>
              </a:ext>
            </a:extLst>
          </p:cNvPr>
          <p:cNvPicPr>
            <a:picLocks noChangeAspect="1"/>
          </p:cNvPicPr>
          <p:nvPr/>
        </p:nvPicPr>
        <p:blipFill>
          <a:blip r:embed="rId2"/>
          <a:stretch>
            <a:fillRect/>
          </a:stretch>
        </p:blipFill>
        <p:spPr>
          <a:xfrm>
            <a:off x="2796221" y="1036291"/>
            <a:ext cx="6430432" cy="5821709"/>
          </a:xfrm>
          <a:prstGeom prst="rect">
            <a:avLst/>
          </a:prstGeom>
        </p:spPr>
      </p:pic>
      <p:sp>
        <p:nvSpPr>
          <p:cNvPr id="5" name="Title 1">
            <a:extLst>
              <a:ext uri="{FF2B5EF4-FFF2-40B4-BE49-F238E27FC236}">
                <a16:creationId xmlns:a16="http://schemas.microsoft.com/office/drawing/2014/main" id="{4096475B-9AAE-88B9-23BE-F04577C1CB2C}"/>
              </a:ext>
            </a:extLst>
          </p:cNvPr>
          <p:cNvSpPr txBox="1">
            <a:spLocks/>
          </p:cNvSpPr>
          <p:nvPr/>
        </p:nvSpPr>
        <p:spPr>
          <a:xfrm>
            <a:off x="838200" y="0"/>
            <a:ext cx="10515600" cy="809625"/>
          </a:xfrm>
          <a:prstGeom prst="rect">
            <a:avLst/>
          </a:prstGeom>
          <a:solidFill>
            <a:srgbClr val="663300"/>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200" b="1" dirty="0">
                <a:solidFill>
                  <a:schemeClr val="bg1"/>
                </a:solidFill>
              </a:rPr>
              <a:t>DHCP Message Format</a:t>
            </a:r>
          </a:p>
        </p:txBody>
      </p:sp>
    </p:spTree>
    <p:extLst>
      <p:ext uri="{BB962C8B-B14F-4D97-AF65-F5344CB8AC3E}">
        <p14:creationId xmlns:p14="http://schemas.microsoft.com/office/powerpoint/2010/main" val="3461380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FA46681-A4C5-806C-153D-1C811B95D316}"/>
              </a:ext>
            </a:extLst>
          </p:cNvPr>
          <p:cNvPicPr>
            <a:picLocks noChangeAspect="1"/>
          </p:cNvPicPr>
          <p:nvPr/>
        </p:nvPicPr>
        <p:blipFill>
          <a:blip r:embed="rId2"/>
          <a:stretch>
            <a:fillRect/>
          </a:stretch>
        </p:blipFill>
        <p:spPr>
          <a:xfrm>
            <a:off x="838200" y="733424"/>
            <a:ext cx="10128771" cy="6010275"/>
          </a:xfrm>
          <a:prstGeom prst="rect">
            <a:avLst/>
          </a:prstGeom>
        </p:spPr>
      </p:pic>
      <p:sp>
        <p:nvSpPr>
          <p:cNvPr id="5" name="Title 1">
            <a:extLst>
              <a:ext uri="{FF2B5EF4-FFF2-40B4-BE49-F238E27FC236}">
                <a16:creationId xmlns:a16="http://schemas.microsoft.com/office/drawing/2014/main" id="{591974D7-8ABA-4A2E-F88B-2E10B62F5EAC}"/>
              </a:ext>
            </a:extLst>
          </p:cNvPr>
          <p:cNvSpPr txBox="1">
            <a:spLocks/>
          </p:cNvSpPr>
          <p:nvPr/>
        </p:nvSpPr>
        <p:spPr>
          <a:xfrm>
            <a:off x="838200" y="0"/>
            <a:ext cx="10515600" cy="542925"/>
          </a:xfrm>
          <a:prstGeom prst="rect">
            <a:avLst/>
          </a:prstGeom>
          <a:solidFill>
            <a:srgbClr val="663300"/>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200" b="1" dirty="0">
                <a:solidFill>
                  <a:schemeClr val="bg1"/>
                </a:solidFill>
              </a:rPr>
              <a:t>DHCP Message Format…</a:t>
            </a:r>
          </a:p>
        </p:txBody>
      </p:sp>
    </p:spTree>
    <p:extLst>
      <p:ext uri="{BB962C8B-B14F-4D97-AF65-F5344CB8AC3E}">
        <p14:creationId xmlns:p14="http://schemas.microsoft.com/office/powerpoint/2010/main" val="35349786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874A79-789C-A1EC-7B7F-17AC6FEDEA47}"/>
              </a:ext>
            </a:extLst>
          </p:cNvPr>
          <p:cNvPicPr>
            <a:picLocks noChangeAspect="1"/>
          </p:cNvPicPr>
          <p:nvPr/>
        </p:nvPicPr>
        <p:blipFill>
          <a:blip r:embed="rId2"/>
          <a:stretch>
            <a:fillRect/>
          </a:stretch>
        </p:blipFill>
        <p:spPr>
          <a:xfrm>
            <a:off x="2690648" y="851665"/>
            <a:ext cx="7189076" cy="5946406"/>
          </a:xfrm>
          <a:prstGeom prst="rect">
            <a:avLst/>
          </a:prstGeom>
        </p:spPr>
      </p:pic>
      <p:sp>
        <p:nvSpPr>
          <p:cNvPr id="4" name="Title 1">
            <a:extLst>
              <a:ext uri="{FF2B5EF4-FFF2-40B4-BE49-F238E27FC236}">
                <a16:creationId xmlns:a16="http://schemas.microsoft.com/office/drawing/2014/main" id="{43F25C7A-11EC-C085-366F-63428C4FD205}"/>
              </a:ext>
            </a:extLst>
          </p:cNvPr>
          <p:cNvSpPr txBox="1">
            <a:spLocks/>
          </p:cNvSpPr>
          <p:nvPr/>
        </p:nvSpPr>
        <p:spPr>
          <a:xfrm>
            <a:off x="838200" y="0"/>
            <a:ext cx="10515600" cy="809625"/>
          </a:xfrm>
          <a:prstGeom prst="rect">
            <a:avLst/>
          </a:prstGeom>
          <a:solidFill>
            <a:srgbClr val="663300"/>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200" b="1" dirty="0">
                <a:solidFill>
                  <a:schemeClr val="bg1"/>
                </a:solidFill>
              </a:rPr>
              <a:t>DHCP Operation</a:t>
            </a:r>
          </a:p>
        </p:txBody>
      </p:sp>
    </p:spTree>
    <p:extLst>
      <p:ext uri="{BB962C8B-B14F-4D97-AF65-F5344CB8AC3E}">
        <p14:creationId xmlns:p14="http://schemas.microsoft.com/office/powerpoint/2010/main" val="5814373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054100"/>
            <a:ext cx="10515600" cy="5213350"/>
          </a:xfrm>
        </p:spPr>
        <p:txBody>
          <a:bodyPr>
            <a:noAutofit/>
          </a:bodyPr>
          <a:lstStyle/>
          <a:p>
            <a:pPr marL="0" indent="0" algn="just">
              <a:buNone/>
            </a:pPr>
            <a:r>
              <a:rPr lang="en-US" sz="1800" b="1" dirty="0">
                <a:solidFill>
                  <a:srgbClr val="C00000"/>
                </a:solidFill>
              </a:rPr>
              <a:t>DHCPDISCOVER</a:t>
            </a:r>
          </a:p>
          <a:p>
            <a:pPr algn="just"/>
            <a:r>
              <a:rPr lang="en-US" sz="1800" dirty="0"/>
              <a:t>The first time a DHCP client computer attempts to log on to the network, it requests IP address information from a DHCP server by broadcasting a DHCP Discover packet.</a:t>
            </a:r>
          </a:p>
          <a:p>
            <a:pPr algn="just"/>
            <a:r>
              <a:rPr lang="en-US" sz="1800" dirty="0"/>
              <a:t>It is a broadcast message where the source IP address in the packet is 0.0.0.0 because the client does not yet have an IP address and the destination address is 255.255.255.255.</a:t>
            </a:r>
          </a:p>
          <a:p>
            <a:pPr algn="just"/>
            <a:endParaRPr lang="en-US" sz="1800" dirty="0"/>
          </a:p>
          <a:p>
            <a:pPr marL="0" indent="0" algn="just">
              <a:buNone/>
            </a:pPr>
            <a:r>
              <a:rPr lang="en-US" sz="1800" b="1" dirty="0">
                <a:solidFill>
                  <a:srgbClr val="C00000"/>
                </a:solidFill>
              </a:rPr>
              <a:t>DHCPOFFER</a:t>
            </a:r>
          </a:p>
          <a:p>
            <a:pPr algn="just"/>
            <a:r>
              <a:rPr lang="en-US" sz="1800" dirty="0"/>
              <a:t>Each DHCP server that receives the client DHCP Discover packet responds with a DHCP Offer packet containing an </a:t>
            </a:r>
            <a:r>
              <a:rPr lang="en-US" sz="1800" dirty="0" err="1"/>
              <a:t>unleased</a:t>
            </a:r>
            <a:r>
              <a:rPr lang="en-US" sz="1800" dirty="0"/>
              <a:t> IP address and additional network configuration information, such as the subnet mask and default gateway.</a:t>
            </a:r>
          </a:p>
          <a:p>
            <a:pPr algn="just"/>
            <a:r>
              <a:rPr lang="en-US" sz="1800" dirty="0"/>
              <a:t>More than one DHCP server can respond with a DHCP Offer packet. The client will accept the first DHCP Offer packet it receives.</a:t>
            </a:r>
          </a:p>
          <a:p>
            <a:pPr algn="just"/>
            <a:endParaRPr lang="en-US" sz="1800" dirty="0"/>
          </a:p>
          <a:p>
            <a:pPr marL="0" indent="0" algn="just">
              <a:buNone/>
            </a:pPr>
            <a:r>
              <a:rPr lang="en-US" sz="1800" b="1" dirty="0">
                <a:solidFill>
                  <a:srgbClr val="C00000"/>
                </a:solidFill>
              </a:rPr>
              <a:t>DHCPREQUEST</a:t>
            </a:r>
          </a:p>
          <a:p>
            <a:pPr algn="just"/>
            <a:r>
              <a:rPr lang="en-US" sz="1800" dirty="0"/>
              <a:t>When a DHCP client receives a DHCP Offer packet, it responds by sending a DHCP Request packet that contains the offered IP address, and shows acceptance of the offered IP address</a:t>
            </a:r>
          </a:p>
          <a:p>
            <a:pPr marL="0" indent="0">
              <a:buNone/>
            </a:pPr>
            <a:endParaRPr lang="en-US" sz="1700" dirty="0"/>
          </a:p>
          <a:p>
            <a:endParaRPr lang="en-US" sz="1700" dirty="0"/>
          </a:p>
        </p:txBody>
      </p:sp>
      <p:sp>
        <p:nvSpPr>
          <p:cNvPr id="4" name="Slide Number Placeholder 3"/>
          <p:cNvSpPr>
            <a:spLocks noGrp="1"/>
          </p:cNvSpPr>
          <p:nvPr>
            <p:ph type="sldNum" sz="quarter" idx="12"/>
          </p:nvPr>
        </p:nvSpPr>
        <p:spPr/>
        <p:txBody>
          <a:bodyPr/>
          <a:lstStyle/>
          <a:p>
            <a:fld id="{56693B4B-36E0-40EA-BD24-5FA98D4B3C74}" type="slidenum">
              <a:rPr lang="en-SG" smtClean="0"/>
              <a:pPr/>
              <a:t>18</a:t>
            </a:fld>
            <a:endParaRPr lang="en-SG" dirty="0"/>
          </a:p>
        </p:txBody>
      </p:sp>
      <p:sp>
        <p:nvSpPr>
          <p:cNvPr id="5" name="Title 1">
            <a:extLst>
              <a:ext uri="{FF2B5EF4-FFF2-40B4-BE49-F238E27FC236}">
                <a16:creationId xmlns:a16="http://schemas.microsoft.com/office/drawing/2014/main" id="{FDC04296-CC15-2A3E-901F-58ADE25222E2}"/>
              </a:ext>
            </a:extLst>
          </p:cNvPr>
          <p:cNvSpPr txBox="1">
            <a:spLocks/>
          </p:cNvSpPr>
          <p:nvPr/>
        </p:nvSpPr>
        <p:spPr>
          <a:xfrm>
            <a:off x="838200" y="0"/>
            <a:ext cx="10515600" cy="809625"/>
          </a:xfrm>
          <a:prstGeom prst="rect">
            <a:avLst/>
          </a:prstGeom>
          <a:solidFill>
            <a:srgbClr val="663300"/>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200" b="1" dirty="0">
                <a:solidFill>
                  <a:schemeClr val="bg1"/>
                </a:solidFill>
              </a:rPr>
              <a:t>DHCP Messages</a:t>
            </a:r>
          </a:p>
        </p:txBody>
      </p:sp>
    </p:spTree>
    <p:extLst>
      <p:ext uri="{BB962C8B-B14F-4D97-AF65-F5344CB8AC3E}">
        <p14:creationId xmlns:p14="http://schemas.microsoft.com/office/powerpoint/2010/main" val="27225982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90600"/>
            <a:ext cx="10515600" cy="5524500"/>
          </a:xfrm>
        </p:spPr>
        <p:txBody>
          <a:bodyPr>
            <a:normAutofit/>
          </a:bodyPr>
          <a:lstStyle/>
          <a:p>
            <a:pPr marL="0" indent="0" algn="just">
              <a:buNone/>
            </a:pPr>
            <a:endParaRPr lang="en-US" sz="1800" b="1" dirty="0">
              <a:latin typeface="+mn-lt"/>
            </a:endParaRPr>
          </a:p>
          <a:p>
            <a:pPr marL="0" indent="0" algn="just">
              <a:buNone/>
            </a:pPr>
            <a:r>
              <a:rPr lang="en-US" sz="1800" b="1" dirty="0">
                <a:solidFill>
                  <a:srgbClr val="C00000"/>
                </a:solidFill>
              </a:rPr>
              <a:t>DHCP Acknowledge (</a:t>
            </a:r>
            <a:r>
              <a:rPr lang="en-US" sz="1800" b="1" dirty="0" err="1">
                <a:solidFill>
                  <a:srgbClr val="C00000"/>
                </a:solidFill>
              </a:rPr>
              <a:t>DHCPAck</a:t>
            </a:r>
            <a:r>
              <a:rPr lang="en-US" sz="1800" b="1" dirty="0">
                <a:solidFill>
                  <a:srgbClr val="C00000"/>
                </a:solidFill>
              </a:rPr>
              <a:t>)</a:t>
            </a:r>
          </a:p>
          <a:p>
            <a:pPr marL="0" indent="0" algn="just">
              <a:buNone/>
            </a:pPr>
            <a:r>
              <a:rPr lang="en-US" sz="1800" dirty="0"/>
              <a:t>The DHCPACK message is an acknowledgement by the DHCP server that authorizes the DHCP client to start using the network configuration it received from the DHCP server earlier.</a:t>
            </a:r>
          </a:p>
          <a:p>
            <a:pPr marL="0" indent="0" algn="just">
              <a:buNone/>
            </a:pPr>
            <a:endParaRPr lang="en-US" sz="1800" dirty="0"/>
          </a:p>
          <a:p>
            <a:pPr marL="0" indent="0" algn="just">
              <a:buNone/>
            </a:pPr>
            <a:r>
              <a:rPr lang="en-US" sz="1800" b="1" dirty="0">
                <a:solidFill>
                  <a:srgbClr val="C00000"/>
                </a:solidFill>
                <a:latin typeface="+mn-lt"/>
              </a:rPr>
              <a:t>DHCPNAK</a:t>
            </a:r>
          </a:p>
          <a:p>
            <a:pPr algn="just"/>
            <a:r>
              <a:rPr lang="en-US" sz="1800" dirty="0">
                <a:latin typeface="+mn-lt"/>
              </a:rPr>
              <a:t>This message is the exact opposite to DHCPACK described above. This message is sent by the DHCP server when it is not able to satisfy the DHCPREQUEST message from the client.</a:t>
            </a:r>
          </a:p>
          <a:p>
            <a:pPr algn="just"/>
            <a:endParaRPr lang="en-US" sz="1800" dirty="0">
              <a:latin typeface="+mn-lt"/>
            </a:endParaRPr>
          </a:p>
          <a:p>
            <a:pPr marL="0" indent="0" algn="just">
              <a:buNone/>
            </a:pPr>
            <a:r>
              <a:rPr lang="en-US" sz="1800" b="1" dirty="0">
                <a:solidFill>
                  <a:srgbClr val="C00000"/>
                </a:solidFill>
                <a:latin typeface="+mn-lt"/>
              </a:rPr>
              <a:t>DHCPDECLINE</a:t>
            </a:r>
          </a:p>
          <a:p>
            <a:pPr algn="just"/>
            <a:r>
              <a:rPr lang="en-US" sz="1800" dirty="0">
                <a:latin typeface="+mn-lt"/>
              </a:rPr>
              <a:t>This message is sent from the DHCP client to the server in case the client finds that the IP address assigned by DHCP server is already in use.</a:t>
            </a:r>
          </a:p>
          <a:p>
            <a:pPr algn="just"/>
            <a:endParaRPr lang="en-US" sz="1800" dirty="0">
              <a:latin typeface="+mn-lt"/>
            </a:endParaRPr>
          </a:p>
          <a:p>
            <a:pPr marL="0" indent="0" algn="just">
              <a:buNone/>
            </a:pPr>
            <a:r>
              <a:rPr lang="en-US" sz="1800" b="1" dirty="0">
                <a:solidFill>
                  <a:srgbClr val="C00000"/>
                </a:solidFill>
                <a:latin typeface="+mn-lt"/>
              </a:rPr>
              <a:t>DHCPRELEASE</a:t>
            </a:r>
          </a:p>
          <a:p>
            <a:pPr algn="just"/>
            <a:r>
              <a:rPr lang="en-US" sz="1800" dirty="0">
                <a:latin typeface="+mn-lt"/>
              </a:rPr>
              <a:t>A DHCP client sends a DHCP Release packet to the server to release the IP address and cancel any remaining lease.</a:t>
            </a:r>
          </a:p>
          <a:p>
            <a:endParaRPr lang="en-US" sz="1800" dirty="0">
              <a:latin typeface="+mn-lt"/>
            </a:endParaRPr>
          </a:p>
          <a:p>
            <a:endParaRPr lang="en-US" sz="1800" dirty="0">
              <a:latin typeface="+mn-lt"/>
            </a:endParaRPr>
          </a:p>
          <a:p>
            <a:pPr marL="0" indent="0">
              <a:buNone/>
            </a:pPr>
            <a:endParaRPr lang="en-US" sz="1800" dirty="0">
              <a:latin typeface="+mn-lt"/>
            </a:endParaRPr>
          </a:p>
          <a:p>
            <a:endParaRPr lang="en-US" sz="1800" dirty="0">
              <a:latin typeface="+mn-lt"/>
            </a:endParaRPr>
          </a:p>
        </p:txBody>
      </p:sp>
      <p:sp>
        <p:nvSpPr>
          <p:cNvPr id="4" name="Slide Number Placeholder 3"/>
          <p:cNvSpPr>
            <a:spLocks noGrp="1"/>
          </p:cNvSpPr>
          <p:nvPr>
            <p:ph type="sldNum" sz="quarter" idx="12"/>
          </p:nvPr>
        </p:nvSpPr>
        <p:spPr/>
        <p:txBody>
          <a:bodyPr/>
          <a:lstStyle/>
          <a:p>
            <a:fld id="{56693B4B-36E0-40EA-BD24-5FA98D4B3C74}" type="slidenum">
              <a:rPr lang="en-SG" smtClean="0"/>
              <a:pPr/>
              <a:t>19</a:t>
            </a:fld>
            <a:endParaRPr lang="en-SG" dirty="0"/>
          </a:p>
        </p:txBody>
      </p:sp>
      <p:sp>
        <p:nvSpPr>
          <p:cNvPr id="6" name="Title 1">
            <a:extLst>
              <a:ext uri="{FF2B5EF4-FFF2-40B4-BE49-F238E27FC236}">
                <a16:creationId xmlns:a16="http://schemas.microsoft.com/office/drawing/2014/main" id="{FEACD66E-FC70-DD42-441C-5DFFC619EDF7}"/>
              </a:ext>
            </a:extLst>
          </p:cNvPr>
          <p:cNvSpPr txBox="1">
            <a:spLocks/>
          </p:cNvSpPr>
          <p:nvPr/>
        </p:nvSpPr>
        <p:spPr>
          <a:xfrm>
            <a:off x="838200" y="0"/>
            <a:ext cx="10515600" cy="809625"/>
          </a:xfrm>
          <a:prstGeom prst="rect">
            <a:avLst/>
          </a:prstGeom>
          <a:solidFill>
            <a:srgbClr val="663300"/>
          </a:solidFill>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200" b="1" dirty="0">
                <a:solidFill>
                  <a:schemeClr val="bg1"/>
                </a:solidFill>
              </a:rPr>
              <a:t>DHCP Messages…</a:t>
            </a:r>
          </a:p>
        </p:txBody>
      </p:sp>
    </p:spTree>
    <p:extLst>
      <p:ext uri="{BB962C8B-B14F-4D97-AF65-F5344CB8AC3E}">
        <p14:creationId xmlns:p14="http://schemas.microsoft.com/office/powerpoint/2010/main" val="587304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BEC6D-6805-1F12-B781-FF977E21AA97}"/>
              </a:ext>
            </a:extLst>
          </p:cNvPr>
          <p:cNvSpPr>
            <a:spLocks noGrp="1"/>
          </p:cNvSpPr>
          <p:nvPr>
            <p:ph type="title"/>
          </p:nvPr>
        </p:nvSpPr>
        <p:spPr>
          <a:xfrm>
            <a:off x="838200" y="180459"/>
            <a:ext cx="10515600" cy="705367"/>
          </a:xfrm>
        </p:spPr>
        <p:txBody>
          <a:bodyPr/>
          <a:lstStyle/>
          <a:p>
            <a:pPr algn="ctr"/>
            <a:r>
              <a:rPr lang="en-US" sz="4400" b="1" i="0" dirty="0">
                <a:solidFill>
                  <a:srgbClr val="FF0000"/>
                </a:solidFill>
                <a:effectLst/>
                <a:latin typeface="Times New Roman" panose="02020603050405020304" pitchFamily="18" charset="0"/>
                <a:cs typeface="Times New Roman" panose="02020603050405020304" pitchFamily="18" charset="0"/>
              </a:rPr>
              <a:t>TUNNELING</a:t>
            </a:r>
            <a:endParaRPr lang="en-IN" dirty="0"/>
          </a:p>
        </p:txBody>
      </p:sp>
      <p:sp>
        <p:nvSpPr>
          <p:cNvPr id="3" name="Content Placeholder 2">
            <a:extLst>
              <a:ext uri="{FF2B5EF4-FFF2-40B4-BE49-F238E27FC236}">
                <a16:creationId xmlns:a16="http://schemas.microsoft.com/office/drawing/2014/main" id="{20C2F771-6118-6429-5C95-5625788EEB22}"/>
              </a:ext>
            </a:extLst>
          </p:cNvPr>
          <p:cNvSpPr>
            <a:spLocks noGrp="1"/>
          </p:cNvSpPr>
          <p:nvPr>
            <p:ph idx="1"/>
          </p:nvPr>
        </p:nvSpPr>
        <p:spPr>
          <a:xfrm>
            <a:off x="685800" y="1543050"/>
            <a:ext cx="10820400" cy="4910138"/>
          </a:xfrm>
        </p:spPr>
        <p:txBody>
          <a:bodyPr/>
          <a:lstStyle/>
          <a:p>
            <a:pPr algn="just"/>
            <a:r>
              <a:rPr lang="en-US" sz="2400" dirty="0">
                <a:effectLst/>
              </a:rPr>
              <a:t>Tunneling is a technique of inter-networking used when source and destination networks of the same type are to be connected through a network of different types. </a:t>
            </a:r>
          </a:p>
          <a:p>
            <a:pPr algn="just"/>
            <a:endParaRPr lang="en-US" sz="2400" dirty="0">
              <a:effectLst/>
            </a:endParaRPr>
          </a:p>
          <a:p>
            <a:pPr algn="just"/>
            <a:r>
              <a:rPr lang="en-US" sz="2400" dirty="0">
                <a:effectLst/>
              </a:rPr>
              <a:t>Tunneling uses a layered protocol model such as those of the OSI or TCP/IP protocol suite. </a:t>
            </a:r>
          </a:p>
          <a:p>
            <a:pPr algn="just"/>
            <a:endParaRPr lang="en-US" sz="2400" dirty="0">
              <a:effectLst/>
            </a:endParaRPr>
          </a:p>
          <a:p>
            <a:pPr algn="just"/>
            <a:r>
              <a:rPr lang="en-US" sz="2400" dirty="0">
                <a:effectLst/>
              </a:rPr>
              <a:t>Tunneling </a:t>
            </a:r>
            <a:r>
              <a:rPr lang="en-US" sz="2400" dirty="0"/>
              <a:t>is dealing with </a:t>
            </a:r>
            <a:r>
              <a:rPr lang="en-US" sz="2400" dirty="0">
                <a:effectLst/>
              </a:rPr>
              <a:t>different levels of the specified protocol while moving between different layers and data conversion (Encapsulation) to suit different interfaces of a particular layer.</a:t>
            </a:r>
          </a:p>
          <a:p>
            <a:endParaRPr lang="en-IN" dirty="0"/>
          </a:p>
        </p:txBody>
      </p:sp>
    </p:spTree>
    <p:extLst>
      <p:ext uri="{BB962C8B-B14F-4D97-AF65-F5344CB8AC3E}">
        <p14:creationId xmlns:p14="http://schemas.microsoft.com/office/powerpoint/2010/main" val="175547743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41477-1CF4-8FA1-2504-BB9B258F9F0B}"/>
              </a:ext>
            </a:extLst>
          </p:cNvPr>
          <p:cNvSpPr>
            <a:spLocks noGrp="1"/>
          </p:cNvSpPr>
          <p:nvPr>
            <p:ph type="title"/>
          </p:nvPr>
        </p:nvSpPr>
        <p:spPr>
          <a:xfrm>
            <a:off x="838200" y="190233"/>
            <a:ext cx="10515600" cy="463550"/>
          </a:xfrm>
        </p:spPr>
        <p:txBody>
          <a:bodyPr>
            <a:normAutofit fontScale="90000"/>
          </a:bodyPr>
          <a:lstStyle/>
          <a:p>
            <a:r>
              <a:rPr lang="en-US" sz="3600" b="1" i="0" dirty="0">
                <a:solidFill>
                  <a:srgbClr val="FF0000"/>
                </a:solidFill>
                <a:effectLst/>
                <a:latin typeface="Times New Roman" panose="02020603050405020304" pitchFamily="18" charset="0"/>
                <a:cs typeface="Times New Roman" panose="02020603050405020304" pitchFamily="18" charset="0"/>
              </a:rPr>
              <a:t>TUNNELING…</a:t>
            </a:r>
            <a:endParaRPr lang="en-IN" sz="3600" dirty="0"/>
          </a:p>
        </p:txBody>
      </p:sp>
      <p:sp>
        <p:nvSpPr>
          <p:cNvPr id="3" name="Content Placeholder 2">
            <a:extLst>
              <a:ext uri="{FF2B5EF4-FFF2-40B4-BE49-F238E27FC236}">
                <a16:creationId xmlns:a16="http://schemas.microsoft.com/office/drawing/2014/main" id="{5275D674-17B8-5FFC-1B8E-4569D6431DAD}"/>
              </a:ext>
            </a:extLst>
          </p:cNvPr>
          <p:cNvSpPr>
            <a:spLocks noGrp="1"/>
          </p:cNvSpPr>
          <p:nvPr>
            <p:ph idx="1"/>
          </p:nvPr>
        </p:nvSpPr>
        <p:spPr>
          <a:xfrm>
            <a:off x="838200" y="1019175"/>
            <a:ext cx="10744200" cy="5024438"/>
          </a:xfrm>
        </p:spPr>
        <p:txBody>
          <a:bodyPr/>
          <a:lstStyle/>
          <a:p>
            <a:pPr marL="0" indent="0">
              <a:buNone/>
            </a:pPr>
            <a:r>
              <a:rPr lang="en-US" sz="2400" b="1" dirty="0"/>
              <a:t>Example: </a:t>
            </a:r>
            <a:r>
              <a:rPr lang="en-US" sz="2400" dirty="0"/>
              <a:t>Co</a:t>
            </a:r>
            <a:r>
              <a:rPr lang="en-US" sz="2400" dirty="0">
                <a:effectLst/>
              </a:rPr>
              <a:t>nsider an Ethernet to be connected to another Ethernet through a WAN. </a:t>
            </a:r>
          </a:p>
          <a:p>
            <a:endParaRPr lang="en-IN" dirty="0"/>
          </a:p>
        </p:txBody>
      </p:sp>
      <p:pic>
        <p:nvPicPr>
          <p:cNvPr id="5" name="Picture 4">
            <a:extLst>
              <a:ext uri="{FF2B5EF4-FFF2-40B4-BE49-F238E27FC236}">
                <a16:creationId xmlns:a16="http://schemas.microsoft.com/office/drawing/2014/main" id="{8CCB31EC-232A-00EF-E4F8-D642C341CDD6}"/>
              </a:ext>
            </a:extLst>
          </p:cNvPr>
          <p:cNvPicPr>
            <a:picLocks noChangeAspect="1"/>
          </p:cNvPicPr>
          <p:nvPr/>
        </p:nvPicPr>
        <p:blipFill>
          <a:blip r:embed="rId2"/>
          <a:stretch>
            <a:fillRect/>
          </a:stretch>
        </p:blipFill>
        <p:spPr>
          <a:xfrm>
            <a:off x="2149343" y="1657350"/>
            <a:ext cx="8141661" cy="4014787"/>
          </a:xfrm>
          <a:prstGeom prst="rect">
            <a:avLst/>
          </a:prstGeom>
        </p:spPr>
      </p:pic>
      <p:sp>
        <p:nvSpPr>
          <p:cNvPr id="7" name="TextBox 6">
            <a:extLst>
              <a:ext uri="{FF2B5EF4-FFF2-40B4-BE49-F238E27FC236}">
                <a16:creationId xmlns:a16="http://schemas.microsoft.com/office/drawing/2014/main" id="{567F4268-3CC1-E85E-F6A2-EE4062C68DDF}"/>
              </a:ext>
            </a:extLst>
          </p:cNvPr>
          <p:cNvSpPr txBox="1"/>
          <p:nvPr/>
        </p:nvSpPr>
        <p:spPr>
          <a:xfrm>
            <a:off x="1162049" y="5836770"/>
            <a:ext cx="10610851" cy="830997"/>
          </a:xfrm>
          <a:prstGeom prst="rect">
            <a:avLst/>
          </a:prstGeom>
          <a:noFill/>
        </p:spPr>
        <p:txBody>
          <a:bodyPr wrap="square">
            <a:spAutoFit/>
          </a:bodyPr>
          <a:lstStyle/>
          <a:p>
            <a:pPr marL="342900" indent="-342900">
              <a:buFont typeface="Wingdings" panose="05000000000000000000" pitchFamily="2" charset="2"/>
              <a:buChar char="Ø"/>
            </a:pPr>
            <a:r>
              <a:rPr lang="en-US" sz="2400" dirty="0"/>
              <a:t>The task is sent on an IP packet from </a:t>
            </a:r>
            <a:r>
              <a:rPr lang="en-US" sz="2400" b="1" dirty="0"/>
              <a:t>host A of Ethernet-1 to host B of Ethernet-2 via a WAN.</a:t>
            </a:r>
            <a:endParaRPr lang="en-IN" sz="2400" b="1" dirty="0"/>
          </a:p>
        </p:txBody>
      </p:sp>
    </p:spTree>
    <p:extLst>
      <p:ext uri="{BB962C8B-B14F-4D97-AF65-F5344CB8AC3E}">
        <p14:creationId xmlns:p14="http://schemas.microsoft.com/office/powerpoint/2010/main" val="29992821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EDE31-76B5-24E6-03DB-61030A5CAE76}"/>
              </a:ext>
            </a:extLst>
          </p:cNvPr>
          <p:cNvSpPr>
            <a:spLocks noGrp="1"/>
          </p:cNvSpPr>
          <p:nvPr>
            <p:ph type="title"/>
          </p:nvPr>
        </p:nvSpPr>
        <p:spPr>
          <a:xfrm>
            <a:off x="323850" y="109537"/>
            <a:ext cx="10515600" cy="492125"/>
          </a:xfrm>
        </p:spPr>
        <p:txBody>
          <a:bodyPr>
            <a:normAutofit fontScale="90000"/>
          </a:bodyPr>
          <a:lstStyle/>
          <a:p>
            <a:r>
              <a:rPr lang="en-US" sz="3600" b="1" i="0" dirty="0">
                <a:solidFill>
                  <a:srgbClr val="FF0000"/>
                </a:solidFill>
                <a:effectLst/>
                <a:latin typeface="Times New Roman" panose="02020603050405020304" pitchFamily="18" charset="0"/>
                <a:cs typeface="Times New Roman" panose="02020603050405020304" pitchFamily="18" charset="0"/>
              </a:rPr>
              <a:t>TUNNELING…</a:t>
            </a:r>
            <a:endParaRPr lang="en-IN" sz="3600" dirty="0"/>
          </a:p>
        </p:txBody>
      </p:sp>
      <p:sp>
        <p:nvSpPr>
          <p:cNvPr id="3" name="Content Placeholder 2">
            <a:extLst>
              <a:ext uri="{FF2B5EF4-FFF2-40B4-BE49-F238E27FC236}">
                <a16:creationId xmlns:a16="http://schemas.microsoft.com/office/drawing/2014/main" id="{7A91FBF4-4480-E18E-AD99-92471E2B5D26}"/>
              </a:ext>
            </a:extLst>
          </p:cNvPr>
          <p:cNvSpPr>
            <a:spLocks noGrp="1"/>
          </p:cNvSpPr>
          <p:nvPr>
            <p:ph idx="1"/>
          </p:nvPr>
        </p:nvSpPr>
        <p:spPr>
          <a:xfrm>
            <a:off x="419100" y="758031"/>
            <a:ext cx="11601450" cy="4351338"/>
          </a:xfrm>
        </p:spPr>
        <p:txBody>
          <a:bodyPr>
            <a:normAutofit lnSpcReduction="10000"/>
          </a:bodyPr>
          <a:lstStyle/>
          <a:p>
            <a:pPr marL="0" indent="0">
              <a:buNone/>
            </a:pPr>
            <a:r>
              <a:rPr lang="en-IN" b="1" dirty="0"/>
              <a:t>Steps Involved:</a:t>
            </a:r>
          </a:p>
          <a:p>
            <a:pPr marL="895350" indent="-352425" algn="just">
              <a:buFont typeface="+mj-lt"/>
              <a:buAutoNum type="arabicPeriod"/>
            </a:pPr>
            <a:r>
              <a:rPr lang="en-US" sz="2000" dirty="0">
                <a:effectLst/>
              </a:rPr>
              <a:t>Host A constructs a packet that contains the IP address of Host B.</a:t>
            </a:r>
          </a:p>
          <a:p>
            <a:pPr marL="895350" indent="-352425" algn="just">
              <a:buFont typeface="+mj-lt"/>
              <a:buAutoNum type="arabicPeriod"/>
            </a:pPr>
            <a:endParaRPr lang="en-US" sz="2000" dirty="0">
              <a:effectLst/>
            </a:endParaRPr>
          </a:p>
          <a:p>
            <a:pPr marL="895350" indent="-352425" algn="just">
              <a:buFont typeface="+mj-lt"/>
              <a:buAutoNum type="arabicPeriod"/>
            </a:pPr>
            <a:r>
              <a:rPr lang="en-US" sz="2000" dirty="0">
                <a:effectLst/>
              </a:rPr>
              <a:t>It then inserts this IP packet into an Ethernet frame and this frame is addressed to the multiprotocol router M1</a:t>
            </a:r>
          </a:p>
          <a:p>
            <a:pPr marL="895350" indent="-352425" algn="just">
              <a:buFont typeface="+mj-lt"/>
              <a:buAutoNum type="arabicPeriod"/>
            </a:pPr>
            <a:endParaRPr lang="en-US" sz="2000" dirty="0">
              <a:effectLst/>
            </a:endParaRPr>
          </a:p>
          <a:p>
            <a:pPr marL="895350" indent="-352425" algn="just">
              <a:buFont typeface="+mj-lt"/>
              <a:buAutoNum type="arabicPeriod"/>
            </a:pPr>
            <a:r>
              <a:rPr lang="en-US" sz="2000" dirty="0">
                <a:effectLst/>
              </a:rPr>
              <a:t>Host A then puts this frame on Ethernet.</a:t>
            </a:r>
          </a:p>
          <a:p>
            <a:pPr marL="895350" indent="-352425" algn="just">
              <a:buFont typeface="+mj-lt"/>
              <a:buAutoNum type="arabicPeriod"/>
            </a:pPr>
            <a:endParaRPr lang="en-US" sz="2000" dirty="0"/>
          </a:p>
          <a:p>
            <a:pPr marL="895350" indent="-352425" algn="just">
              <a:buFont typeface="+mj-lt"/>
              <a:buAutoNum type="arabicPeriod"/>
            </a:pPr>
            <a:r>
              <a:rPr lang="en-US" sz="2000" dirty="0">
                <a:effectLst/>
              </a:rPr>
              <a:t>When M1 receives this frame, it removes the IP packet, inserts it in the payload packet of the WAN network layer packet, and addresses the WAN packet to M2. This process is called encapsulation.</a:t>
            </a:r>
          </a:p>
          <a:p>
            <a:pPr marL="895350" indent="-352425" algn="just">
              <a:buFont typeface="+mj-lt"/>
              <a:buAutoNum type="arabicPeriod"/>
            </a:pPr>
            <a:endParaRPr lang="en-US" sz="2000" dirty="0"/>
          </a:p>
          <a:p>
            <a:pPr marL="895350" indent="-352425" algn="just">
              <a:buFont typeface="+mj-lt"/>
              <a:buAutoNum type="arabicPeriod"/>
            </a:pPr>
            <a:r>
              <a:rPr lang="en-US" sz="2000" dirty="0">
                <a:effectLst/>
              </a:rPr>
              <a:t>The multiprotocol router M2 removes the IP packet and sends it to host B in an Ethernet frame.</a:t>
            </a:r>
          </a:p>
          <a:p>
            <a:endParaRPr lang="en-IN" dirty="0"/>
          </a:p>
        </p:txBody>
      </p:sp>
      <p:sp>
        <p:nvSpPr>
          <p:cNvPr id="5" name="Rectangle: Rounded Corners 4">
            <a:extLst>
              <a:ext uri="{FF2B5EF4-FFF2-40B4-BE49-F238E27FC236}">
                <a16:creationId xmlns:a16="http://schemas.microsoft.com/office/drawing/2014/main" id="{7FD439EC-AE2D-98E3-C689-8E42B7ABC5EE}"/>
              </a:ext>
            </a:extLst>
          </p:cNvPr>
          <p:cNvSpPr/>
          <p:nvPr/>
        </p:nvSpPr>
        <p:spPr>
          <a:xfrm>
            <a:off x="2390774" y="5695950"/>
            <a:ext cx="7315201" cy="82867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400" b="1" i="1" dirty="0">
                <a:solidFill>
                  <a:srgbClr val="FFFF00"/>
                </a:solidFill>
              </a:rPr>
              <a:t>Encapsulation</a:t>
            </a:r>
            <a:r>
              <a:rPr lang="en-US" sz="2400" i="1" dirty="0"/>
              <a:t> is the process of adding a new packet within the existing packet or a packet inside a packet. </a:t>
            </a:r>
            <a:endParaRPr lang="en-IN" sz="2400" i="1" dirty="0"/>
          </a:p>
        </p:txBody>
      </p:sp>
      <p:cxnSp>
        <p:nvCxnSpPr>
          <p:cNvPr id="7" name="Connector: Curved 6">
            <a:extLst>
              <a:ext uri="{FF2B5EF4-FFF2-40B4-BE49-F238E27FC236}">
                <a16:creationId xmlns:a16="http://schemas.microsoft.com/office/drawing/2014/main" id="{DBA401F8-9640-D8D6-F8CC-5B5460563A4E}"/>
              </a:ext>
            </a:extLst>
          </p:cNvPr>
          <p:cNvCxnSpPr>
            <a:cxnSpLocks/>
          </p:cNvCxnSpPr>
          <p:nvPr/>
        </p:nvCxnSpPr>
        <p:spPr>
          <a:xfrm rot="10800000" flipV="1">
            <a:off x="9791700" y="4571999"/>
            <a:ext cx="1466850" cy="1381123"/>
          </a:xfrm>
          <a:prstGeom prst="curvedConnector3">
            <a:avLst>
              <a:gd name="adj1" fmla="val -20130"/>
            </a:avLst>
          </a:prstGeom>
          <a:ln w="28575">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59803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00916-32B7-F7B4-5D64-ECD09D323203}"/>
              </a:ext>
            </a:extLst>
          </p:cNvPr>
          <p:cNvSpPr>
            <a:spLocks noGrp="1"/>
          </p:cNvSpPr>
          <p:nvPr>
            <p:ph type="title"/>
          </p:nvPr>
        </p:nvSpPr>
        <p:spPr>
          <a:xfrm>
            <a:off x="838200" y="365125"/>
            <a:ext cx="10515600" cy="568325"/>
          </a:xfrm>
        </p:spPr>
        <p:txBody>
          <a:bodyPr>
            <a:normAutofit fontScale="90000"/>
          </a:bodyPr>
          <a:lstStyle/>
          <a:p>
            <a:r>
              <a:rPr lang="en-US" sz="3600" b="1" i="0" dirty="0">
                <a:solidFill>
                  <a:srgbClr val="FF0000"/>
                </a:solidFill>
                <a:effectLst/>
                <a:latin typeface="Times New Roman" panose="02020603050405020304" pitchFamily="18" charset="0"/>
                <a:cs typeface="Times New Roman" panose="02020603050405020304" pitchFamily="18" charset="0"/>
              </a:rPr>
              <a:t>TUNNELING…</a:t>
            </a:r>
            <a:endParaRPr lang="en-IN" sz="3600" dirty="0"/>
          </a:p>
        </p:txBody>
      </p:sp>
      <p:sp>
        <p:nvSpPr>
          <p:cNvPr id="3" name="Content Placeholder 2">
            <a:extLst>
              <a:ext uri="{FF2B5EF4-FFF2-40B4-BE49-F238E27FC236}">
                <a16:creationId xmlns:a16="http://schemas.microsoft.com/office/drawing/2014/main" id="{322C2746-CE9C-A3E2-A1FB-273CB928E7A8}"/>
              </a:ext>
            </a:extLst>
          </p:cNvPr>
          <p:cNvSpPr>
            <a:spLocks noGrp="1"/>
          </p:cNvSpPr>
          <p:nvPr>
            <p:ph idx="1"/>
          </p:nvPr>
        </p:nvSpPr>
        <p:spPr>
          <a:xfrm>
            <a:off x="838200" y="1447800"/>
            <a:ext cx="10515600" cy="4351338"/>
          </a:xfrm>
        </p:spPr>
        <p:txBody>
          <a:bodyPr/>
          <a:lstStyle/>
          <a:p>
            <a:pPr marL="0" indent="0" algn="just">
              <a:buNone/>
            </a:pPr>
            <a:r>
              <a:rPr lang="en-US" b="1" dirty="0">
                <a:effectLst/>
              </a:rPr>
              <a:t>Why is this Technique Called Tunneling?</a:t>
            </a:r>
          </a:p>
          <a:p>
            <a:pPr marL="0" indent="0" algn="just">
              <a:buNone/>
            </a:pPr>
            <a:endParaRPr lang="en-US" sz="1000" b="1" dirty="0">
              <a:effectLst/>
            </a:endParaRPr>
          </a:p>
          <a:p>
            <a:pPr algn="just"/>
            <a:r>
              <a:rPr lang="en-US" sz="2400" dirty="0"/>
              <a:t>In this particular example, the IP packet does not have to deal with WAN, and the host’s A and B also do not have to deal with the WAN.</a:t>
            </a:r>
          </a:p>
          <a:p>
            <a:pPr algn="just"/>
            <a:endParaRPr lang="en-US" sz="2400" dirty="0"/>
          </a:p>
          <a:p>
            <a:pPr algn="just"/>
            <a:r>
              <a:rPr lang="en-US" sz="2400" dirty="0"/>
              <a:t> The multiprotocol routers M1 and M2 will have to understand IP and WAN packets. </a:t>
            </a:r>
          </a:p>
          <a:p>
            <a:pPr algn="just"/>
            <a:endParaRPr lang="en-US" sz="2400" dirty="0"/>
          </a:p>
          <a:p>
            <a:pPr algn="just"/>
            <a:r>
              <a:rPr lang="en-US" sz="2400" dirty="0"/>
              <a:t>Therefore, the WAN can be imagined to be equivalent to a big tunnel extending between multiprotocol routers M1 and M2 and the technique is called Tunneling.</a:t>
            </a:r>
            <a:endParaRPr lang="en-IN" sz="2400" dirty="0"/>
          </a:p>
        </p:txBody>
      </p:sp>
    </p:spTree>
    <p:extLst>
      <p:ext uri="{BB962C8B-B14F-4D97-AF65-F5344CB8AC3E}">
        <p14:creationId xmlns:p14="http://schemas.microsoft.com/office/powerpoint/2010/main" val="3526732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00BC72CD-0E64-4837-A23F-71719B051DFB}"/>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00487" y="1379529"/>
            <a:ext cx="4098941" cy="4098941"/>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51E0631B-1888-44A3-956F-2018E4A03155}"/>
              </a:ext>
            </a:extLst>
          </p:cNvPr>
          <p:cNvSpPr>
            <a:spLocks noGrp="1"/>
          </p:cNvSpPr>
          <p:nvPr>
            <p:ph idx="1"/>
          </p:nvPr>
        </p:nvSpPr>
        <p:spPr>
          <a:xfrm>
            <a:off x="5210469" y="1797587"/>
            <a:ext cx="6654018" cy="4731434"/>
          </a:xfrm>
        </p:spPr>
        <p:txBody>
          <a:bodyPr>
            <a:normAutofit/>
          </a:bodyPr>
          <a:lstStyle/>
          <a:p>
            <a:endParaRPr lang="en-US" dirty="0"/>
          </a:p>
          <a:p>
            <a:pPr>
              <a:buFont typeface="Wingdings" panose="05000000000000000000" pitchFamily="2" charset="2"/>
              <a:buChar char="Ø"/>
            </a:pPr>
            <a:r>
              <a:rPr lang="en-US" dirty="0"/>
              <a:t>ARP Protocol</a:t>
            </a:r>
          </a:p>
          <a:p>
            <a:pPr>
              <a:buFont typeface="Wingdings" panose="05000000000000000000" pitchFamily="2" charset="2"/>
              <a:buChar char="Ø"/>
            </a:pPr>
            <a:endParaRPr lang="en-US" dirty="0"/>
          </a:p>
          <a:p>
            <a:pPr>
              <a:buFont typeface="Wingdings" panose="05000000000000000000" pitchFamily="2" charset="2"/>
              <a:buChar char="Ø"/>
            </a:pPr>
            <a:r>
              <a:rPr lang="en-US" dirty="0"/>
              <a:t>DHCP Protocol</a:t>
            </a:r>
          </a:p>
          <a:p>
            <a:pPr>
              <a:buFont typeface="Wingdings" panose="05000000000000000000" pitchFamily="2" charset="2"/>
              <a:buChar char="Ø"/>
            </a:pPr>
            <a:endParaRPr lang="en-US" dirty="0"/>
          </a:p>
          <a:p>
            <a:pPr>
              <a:buFont typeface="Wingdings" panose="05000000000000000000" pitchFamily="2" charset="2"/>
              <a:buChar char="Ø"/>
            </a:pPr>
            <a:r>
              <a:rPr lang="en-US" dirty="0"/>
              <a:t>Tunneling</a:t>
            </a:r>
          </a:p>
          <a:p>
            <a:pPr>
              <a:buFont typeface="Wingdings" panose="05000000000000000000" pitchFamily="2" charset="2"/>
              <a:buChar char="Ø"/>
            </a:pPr>
            <a:endParaRPr lang="en-US" dirty="0"/>
          </a:p>
          <a:p>
            <a:endParaRPr lang="en-US" dirty="0"/>
          </a:p>
        </p:txBody>
      </p:sp>
      <p:pic>
        <p:nvPicPr>
          <p:cNvPr id="2" name="Picture 2" descr="KL Deemed to be University Logo">
            <a:extLst>
              <a:ext uri="{FF2B5EF4-FFF2-40B4-BE49-F238E27FC236}">
                <a16:creationId xmlns:a16="http://schemas.microsoft.com/office/drawing/2014/main" id="{1A6E623D-BF52-6CE8-7DF9-98E41C00CDDC}"/>
              </a:ext>
            </a:extLst>
          </p:cNvPr>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4" name="Rounded Rectangle 17">
            <a:extLst>
              <a:ext uri="{FF2B5EF4-FFF2-40B4-BE49-F238E27FC236}">
                <a16:creationId xmlns:a16="http://schemas.microsoft.com/office/drawing/2014/main" id="{BF5AC92A-328E-35D9-8A83-66295DF01654}"/>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spTree>
    <p:extLst>
      <p:ext uri="{BB962C8B-B14F-4D97-AF65-F5344CB8AC3E}">
        <p14:creationId xmlns:p14="http://schemas.microsoft.com/office/powerpoint/2010/main" val="1752832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858129" y="2194816"/>
            <a:ext cx="10818056" cy="2468368"/>
          </a:xfrm>
          <a:prstGeom prst="rect">
            <a:avLst/>
          </a:prstGeom>
          <a:noFill/>
        </p:spPr>
        <p:txBody>
          <a:bodyPr wrap="square" rtlCol="0">
            <a:spAutoFit/>
          </a:bodyPr>
          <a:lstStyle/>
          <a:p>
            <a:pPr marL="457200" indent="-457200">
              <a:lnSpc>
                <a:spcPct val="200000"/>
              </a:lnSpc>
              <a:buAutoNum type="arabicPeriod"/>
            </a:pPr>
            <a:r>
              <a:rPr lang="en-US" sz="2000" dirty="0"/>
              <a:t>With a neat sketch demonstrate the functioning of ARP and RARP protocols.</a:t>
            </a:r>
          </a:p>
          <a:p>
            <a:pPr marL="457200" indent="-457200">
              <a:lnSpc>
                <a:spcPct val="200000"/>
              </a:lnSpc>
              <a:buAutoNum type="arabicPeriod"/>
            </a:pPr>
            <a:r>
              <a:rPr lang="en-US" sz="2000" dirty="0"/>
              <a:t>With a neat sketch demonstrate the functioning of DHCP protocol. </a:t>
            </a:r>
          </a:p>
          <a:p>
            <a:pPr marL="457200" indent="-457200">
              <a:lnSpc>
                <a:spcPct val="200000"/>
              </a:lnSpc>
              <a:buAutoNum type="arabicPeriod"/>
            </a:pPr>
            <a:r>
              <a:rPr lang="en-US" sz="2000" dirty="0"/>
              <a:t>Discuss in detail the messages communication in DHCP process.</a:t>
            </a:r>
          </a:p>
          <a:p>
            <a:pPr marL="457200" indent="-457200">
              <a:lnSpc>
                <a:spcPct val="200000"/>
              </a:lnSpc>
              <a:buAutoNum type="arabicPeriod"/>
            </a:pPr>
            <a:r>
              <a:rPr lang="en-US" sz="2000" dirty="0"/>
              <a:t>Discuss in detail the IP tunneling. </a:t>
            </a: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0332" y="1167618"/>
            <a:ext cx="9608234" cy="1711366"/>
          </a:xfrm>
          <a:prstGeom prst="rect">
            <a:avLst/>
          </a:prstGeom>
          <a:noFill/>
        </p:spPr>
        <p:txBody>
          <a:bodyPr wrap="square" rtlCol="0">
            <a:spAutoFit/>
          </a:bodyPr>
          <a:lstStyle/>
          <a:p>
            <a:pPr>
              <a:lnSpc>
                <a:spcPct val="150000"/>
              </a:lnSpc>
            </a:pPr>
            <a:r>
              <a:rPr lang="en-US" b="1" dirty="0"/>
              <a:t>Reference Books:</a:t>
            </a:r>
            <a:endParaRPr lang="en-US" dirty="0"/>
          </a:p>
          <a:p>
            <a:pPr marL="342900" indent="-342900">
              <a:lnSpc>
                <a:spcPct val="150000"/>
              </a:lnSpc>
              <a:buAutoNum type="arabicPeriod"/>
            </a:pPr>
            <a:r>
              <a:rPr lang="en-US" dirty="0"/>
              <a:t>Behrouz A. </a:t>
            </a:r>
            <a:r>
              <a:rPr lang="en-US" dirty="0" err="1"/>
              <a:t>Forouzan</a:t>
            </a:r>
            <a:r>
              <a:rPr lang="en-US" dirty="0"/>
              <a:t> , “Data Communication and Networking”, TMH, 5th Edition, 2012.</a:t>
            </a:r>
          </a:p>
          <a:p>
            <a:pPr marL="342900" indent="-342900">
              <a:lnSpc>
                <a:spcPct val="150000"/>
              </a:lnSpc>
              <a:buAutoNum type="arabicPeriod"/>
            </a:pPr>
            <a:r>
              <a:rPr lang="en-US" dirty="0"/>
              <a:t>A.S. Tanenbaum, David J. </a:t>
            </a:r>
            <a:r>
              <a:rPr lang="en-US" dirty="0" err="1"/>
              <a:t>Wetheral</a:t>
            </a:r>
            <a:r>
              <a:rPr lang="en-US" dirty="0"/>
              <a:t> “Computer Networks” Pearson, 5th Edition.</a:t>
            </a:r>
          </a:p>
          <a:p>
            <a:pPr>
              <a:lnSpc>
                <a:spcPct val="150000"/>
              </a:lnSpc>
            </a:pPr>
            <a:endParaRPr lang="en-US" dirty="0"/>
          </a:p>
        </p:txBody>
      </p:sp>
      <p:pic>
        <p:nvPicPr>
          <p:cNvPr id="5"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401045802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050073" y="1987061"/>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Computer Networks</a:t>
            </a: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4990659" y="2887393"/>
            <a:ext cx="3235570" cy="1083212"/>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3.xml><?xml version="1.0" encoding="utf-8"?>
<a:theme xmlns:a="http://schemas.openxmlformats.org/drawingml/2006/main" name="1_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200</TotalTime>
  <Words>1428</Words>
  <Application>Microsoft Office PowerPoint</Application>
  <PresentationFormat>Widescreen</PresentationFormat>
  <Paragraphs>162</Paragraphs>
  <Slides>27</Slides>
  <Notes>1</Notes>
  <HiddenSlides>0</HiddenSlides>
  <MMClips>0</MMClips>
  <ScaleCrop>false</ScaleCrop>
  <HeadingPairs>
    <vt:vector size="4" baseType="variant">
      <vt:variant>
        <vt:lpstr>Theme</vt:lpstr>
      </vt:variant>
      <vt:variant>
        <vt:i4>3</vt:i4>
      </vt:variant>
      <vt:variant>
        <vt:lpstr>Slide Titles</vt:lpstr>
      </vt:variant>
      <vt:variant>
        <vt:i4>27</vt:i4>
      </vt:variant>
    </vt:vector>
  </HeadingPairs>
  <TitlesOfParts>
    <vt:vector size="30" baseType="lpstr">
      <vt:lpstr>Office Theme</vt:lpstr>
      <vt:lpstr>Dividend</vt:lpstr>
      <vt:lpstr>1_Dividend</vt:lpstr>
      <vt:lpstr>PowerPoint Presentation</vt:lpstr>
      <vt:lpstr>PowerPoint Presentation</vt:lpstr>
      <vt:lpstr>PowerPoint Presentation</vt:lpstr>
      <vt:lpstr>ARP (Address resolution protocol)</vt:lpstr>
      <vt:lpstr>ARP packet format</vt:lpstr>
      <vt:lpstr>PowerPoint Presentation</vt:lpstr>
      <vt:lpstr>PowerPoint Presentation</vt:lpstr>
      <vt:lpstr>Arp encaptulation</vt:lpstr>
      <vt:lpstr>ARP Address Mapping Process</vt:lpstr>
      <vt:lpstr>ARP Address Mapping Process</vt:lpstr>
      <vt:lpstr>PowerPoint Presentation</vt:lpstr>
      <vt:lpstr>PowerPoint Presentation</vt:lpstr>
      <vt:lpstr>PowerPoint Presentation</vt:lpstr>
      <vt:lpstr>DHCP Message Format DHCP Message Format </vt:lpstr>
      <vt:lpstr>PowerPoint Presentation</vt:lpstr>
      <vt:lpstr>PowerPoint Presentation</vt:lpstr>
      <vt:lpstr>PowerPoint Presentation</vt:lpstr>
      <vt:lpstr>PowerPoint Presentation</vt:lpstr>
      <vt:lpstr>PowerPoint Presentation</vt:lpstr>
      <vt:lpstr>TUNNELING</vt:lpstr>
      <vt:lpstr>TUNNELING…</vt:lpstr>
      <vt:lpstr>TUNNELING…</vt:lpstr>
      <vt:lpstr>TUNNELING…</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NAT implementation</dc:title>
  <dc:creator>preetham chiramana</dc:creator>
  <cp:lastModifiedBy>K Swetha</cp:lastModifiedBy>
  <cp:revision>33</cp:revision>
  <dcterms:created xsi:type="dcterms:W3CDTF">2020-11-27T17:03:30Z</dcterms:created>
  <dcterms:modified xsi:type="dcterms:W3CDTF">2025-07-15T05:02:58Z</dcterms:modified>
</cp:coreProperties>
</file>