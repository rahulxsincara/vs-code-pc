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1" r:id="rId2"/>
    <p:sldId id="300" r:id="rId3"/>
    <p:sldId id="294" r:id="rId4"/>
    <p:sldId id="318" r:id="rId5"/>
    <p:sldId id="317" r:id="rId6"/>
    <p:sldId id="295" r:id="rId7"/>
    <p:sldId id="296" r:id="rId8"/>
    <p:sldId id="305" r:id="rId9"/>
    <p:sldId id="297" r:id="rId10"/>
    <p:sldId id="298" r:id="rId11"/>
    <p:sldId id="302" r:id="rId12"/>
    <p:sldId id="306" r:id="rId13"/>
    <p:sldId id="319" r:id="rId14"/>
    <p:sldId id="321" r:id="rId15"/>
    <p:sldId id="323" r:id="rId16"/>
    <p:sldId id="322" r:id="rId17"/>
    <p:sldId id="320" r:id="rId18"/>
    <p:sldId id="299" r:id="rId19"/>
    <p:sldId id="303" r:id="rId20"/>
    <p:sldId id="307" r:id="rId21"/>
    <p:sldId id="301" r:id="rId22"/>
    <p:sldId id="304" r:id="rId23"/>
    <p:sldId id="308" r:id="rId24"/>
    <p:sldId id="315" r:id="rId25"/>
    <p:sldId id="316" r:id="rId26"/>
    <p:sldId id="310" r:id="rId27"/>
    <p:sldId id="311" r:id="rId28"/>
    <p:sldId id="275" r:id="rId29"/>
    <p:sldId id="312" r:id="rId30"/>
    <p:sldId id="313" r:id="rId31"/>
    <p:sldId id="276" r:id="rId32"/>
    <p:sldId id="31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0000"/>
    <a:srgbClr val="C00000"/>
    <a:srgbClr val="A4088E"/>
    <a:srgbClr val="FF0066"/>
    <a:srgbClr val="760000"/>
    <a:srgbClr val="500445"/>
    <a:srgbClr val="700661"/>
    <a:srgbClr val="FF5D5D"/>
    <a:srgbClr val="00FF00"/>
    <a:srgbClr val="00C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114" y="9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C7D5F-1927-4CA2-9E0B-8AE9700A5541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6CEC0-58C8-46F0-918D-FA68B9F902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043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0EBDB3-411B-424B-8F21-327AFE5F0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B6A6B3-4551-4A64-B042-2615788C6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ECCF5B1-E26D-440B-BF9F-A4391D8E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DC070A-C594-4022-BE63-D77BC704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FF1248-B201-484C-A256-52CB7B24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7903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91ED3B-3A4B-4B2F-96CE-224AE500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6A6EDB-FC85-4DE0-B255-BAF0F0EB1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607E4D-E208-4F18-A325-0046F90C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A8288D-4D65-4E1F-99DB-4CFDA978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F003AC-4B0C-4AB6-8D94-278FFC0F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8207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7D5E73-8B09-4F82-9823-5E9D38A9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CCBDCA3-935F-41D8-A964-D74D9DF36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211E68-3F7D-40A4-A64B-580953A8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717469-561A-4E58-9A7C-E163683C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2CBF18-9642-4A69-9E18-599343A9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40885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016207-650B-4768-94E9-FBB9FCE1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6A1EED-A3B0-4533-9B41-E67C65A54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5689B0B-6214-419E-A1AE-0D1AFA4CC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8C947C-69D0-4554-AEBB-5789807A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9BC2AE8-3204-4299-A049-7790E07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70600D6-060E-4D9E-B636-D0EBAC8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70067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071867-8CE9-4CB1-803D-C2F2FDC8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ABECE-E9A1-4BB9-884C-02314AE0E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3C9DD78-0BBC-4A11-B140-5A578E144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5247D19-7E80-4F0A-8740-DA1B3C74A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860C0B5-7A67-4ED9-9972-2ECD7F765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96AFB81-E9E7-4BAD-9C0C-7CF1B1D3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D1AEA8A-AFB7-4C6D-B171-26375E0A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31A0C2A-75B1-4481-86F8-D95AD675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6878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DDD417-7684-4B83-85C4-F52DC746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69D31B-71F4-4F5D-B95B-996C7AC9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A9311D2-D0DC-4550-997B-7D87430C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A9CF427-CFE1-4298-B161-190303B0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4693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54CBD0C-B561-477C-A95A-FCF36FE4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26DF8D9-320B-4D17-9AE4-EE5C683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FE013E-E2DF-4029-9A6F-867F4D6D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9714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10A323-A971-47A0-9393-4394F91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293B33-773B-4722-80F2-AB06071D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A6B0AC2-A3BB-4291-A1EF-F4D8FD34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61E8EE-53A7-4054-9FD5-B93BDB22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B1F8B4-6C3E-4315-AD37-8EB27351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17B45D-B689-4425-ADF1-AEC5F122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1128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2851B8-57CA-4638-8D73-3A834383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E7139C6-E11D-4B00-B6FE-9A049CE05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D273010-7C47-40FC-9889-E788AAB6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870F3CF-C307-41EA-981B-5BC94448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1D4B05-ECF3-488A-8517-9498AEB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E8DAB0-FCB9-4623-AC9B-F6C8E230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3015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E1D1F1-0656-4CD3-8929-A979378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773A506-CEA4-47E6-9D63-6093D17FC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7868C7-AAEF-4F68-8E1A-6765015A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0B0D9A1-285B-4986-9FBC-BA995AF9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5B265B-5412-4AE5-8FC0-CC169106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288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421FECD-4B0E-4D7C-B207-E901F4685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6DDA511-F0E7-4104-8FE2-1F41241B9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661A42-6695-4F01-B865-0674A529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1A9BE0-6652-4F28-98E3-D14F8939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9C3E57-A49A-4FB4-A270-CE517DAE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6898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61205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C48399-0EAB-4A89-935B-44397CE2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09EF6B-85B4-43FF-BEC5-16010E8C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E7F7FC-0140-47E7-A890-EEEF08B3F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1F45E-E8AD-465C-9B1F-0B808005F3EE}" type="datetimeFigureOut">
              <a:rPr lang="en-US" smtClean="0"/>
              <a:pPr/>
              <a:t>16-May-25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468FAF-A787-4ECE-A745-66A40562B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0D6308-3922-4E3E-BAA7-CC5BF456E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44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6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eeksforgeeks.org/various-kind-of-framing-in-data-link-layer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223889"/>
            <a:ext cx="6902548" cy="37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ea typeface="BioRhyme ExtraBold"/>
                <a:cs typeface="Times New Roman" pitchFamily="18" charset="0"/>
                <a:sym typeface="BioRhyme ExtraBold"/>
              </a:rPr>
              <a:t>Computer Networks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ea typeface="BioRhyme ExtraBold"/>
                <a:cs typeface="Times New Roman" pitchFamily="18" charset="0"/>
                <a:sym typeface="BioRhyme ExtraBold"/>
              </a:rPr>
              <a:t>24CS2202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ea typeface="BioRhyme ExtraBold"/>
              <a:cs typeface="Times New Roman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ea typeface="BioRhyme ExtraBold"/>
                <a:cs typeface="Times New Roman" pitchFamily="18" charset="0"/>
                <a:sym typeface="BioRhyme ExtraBold"/>
              </a:rPr>
              <a:t>Session 9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ea typeface="BioRhyme ExtraBold"/>
              <a:cs typeface="Times New Roman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>
                <a:solidFill>
                  <a:srgbClr val="C00000"/>
                </a:solidFill>
              </a:rPr>
              <a:t>Data </a:t>
            </a:r>
            <a:r>
              <a:rPr lang="en-US" sz="4000" dirty="0" smtClean="0">
                <a:solidFill>
                  <a:srgbClr val="C00000"/>
                </a:solidFill>
              </a:rPr>
              <a:t>link layer </a:t>
            </a:r>
            <a:r>
              <a:rPr lang="en-US" sz="4000" dirty="0" smtClean="0">
                <a:solidFill>
                  <a:srgbClr val="C00000"/>
                </a:solidFill>
              </a:rPr>
              <a:t>services:</a:t>
            </a:r>
          </a:p>
          <a:p>
            <a:r>
              <a:rPr lang="en-US" sz="24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        Framing </a:t>
            </a:r>
            <a:r>
              <a:rPr lang="en-US" sz="24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Methods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Byte Count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Byte Stuffing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Bit Stuffing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="1" cap="all" dirty="0">
              <a:ln/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7659027" y="511952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design issues of Data link layer and framing methods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</a:t>
            </a:r>
            <a:r>
              <a:rPr lang="en-US" sz="1600" dirty="0" smtClean="0">
                <a:latin typeface="Arial" panose="020B0604020202020204" pitchFamily="34" charset="0"/>
              </a:rPr>
              <a:t>services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of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data link layer.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</a:t>
            </a:r>
            <a:r>
              <a:rPr lang="en-US" sz="1600" dirty="0">
                <a:latin typeface="Arial" panose="020B0604020202020204" pitchFamily="34" charset="0"/>
              </a:rPr>
              <a:t>different framing methods.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the </a:t>
            </a:r>
            <a:r>
              <a:rPr lang="en-US" sz="1600" dirty="0">
                <a:latin typeface="Arial" panose="020B0604020202020204" pitchFamily="34" charset="0"/>
              </a:rPr>
              <a:t>responsibilities of datalink layer.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Apply different framing methods to </a:t>
            </a:r>
            <a:r>
              <a:rPr lang="en-US" sz="1600" dirty="0">
                <a:latin typeface="Arial" panose="020B0604020202020204" pitchFamily="34" charset="0"/>
              </a:rPr>
              <a:t>form the packets into frames.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Discuss the pros and cons of framing methods.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886079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181" y="0"/>
            <a:ext cx="8785380" cy="59084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Data 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Link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88" y="703385"/>
            <a:ext cx="10604584" cy="5769987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en-US" b="1" dirty="0" smtClean="0">
                <a:latin typeface="Goudy Old Style" pitchFamily="18" charset="0"/>
              </a:rPr>
              <a:t>Recap of OSI Reference Model</a:t>
            </a:r>
            <a:endParaRPr lang="en-US" b="1" dirty="0" smtClean="0">
              <a:latin typeface="Goudy Old Style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Application Layer (Layer 7</a:t>
            </a:r>
            <a:r>
              <a:rPr lang="en-US" sz="2400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Presentation Layer (Layer 6)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Session Layer (Layer 5</a:t>
            </a:r>
            <a:r>
              <a:rPr lang="en-US" sz="2400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Transport Layer (Layer 4</a:t>
            </a:r>
            <a:r>
              <a:rPr lang="en-US" sz="2400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Network Layer (Layer 3</a:t>
            </a:r>
            <a:r>
              <a:rPr lang="en-US" sz="2400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/>
              <a:t>Data Link Layer (Layer 2</a:t>
            </a:r>
            <a:r>
              <a:rPr lang="en-US" sz="2400" b="1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Physical Layer (Layer 1</a:t>
            </a:r>
            <a:r>
              <a:rPr lang="en-US" sz="2400" dirty="0" smtClean="0"/>
              <a:t>)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Goudy Old Style" pitchFamily="18" charset="0"/>
              </a:rPr>
              <a:t>The Data Link Layer is Layer </a:t>
            </a:r>
            <a:r>
              <a:rPr lang="en-US" sz="2400" b="1" dirty="0" smtClean="0">
                <a:latin typeface="Goudy Old Style" pitchFamily="18" charset="0"/>
              </a:rPr>
              <a:t>2of </a:t>
            </a:r>
            <a:r>
              <a:rPr lang="en-US" sz="2400" b="1" dirty="0" smtClean="0">
                <a:latin typeface="Goudy Old Style" pitchFamily="18" charset="0"/>
              </a:rPr>
              <a:t>the OSI (Open Systems Interconnection) model.</a:t>
            </a:r>
            <a:br>
              <a:rPr lang="en-US" sz="2400" b="1" dirty="0" smtClean="0">
                <a:latin typeface="Goudy Old Style" pitchFamily="18" charset="0"/>
              </a:rPr>
            </a:br>
            <a:r>
              <a:rPr lang="en-US" sz="2400" b="1" dirty="0" smtClean="0">
                <a:latin typeface="Goudy Old Style" pitchFamily="18" charset="0"/>
              </a:rPr>
              <a:t>It is responsible for reliable data transfer between two devices that are directly connected (like two computers connected by a wire or Wi-Fi).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2181" y="0"/>
            <a:ext cx="8785380" cy="59084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Data 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Link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88" y="703385"/>
            <a:ext cx="10604584" cy="5769987"/>
          </a:xfrm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Goudy Old Style" pitchFamily="18" charset="0"/>
              </a:rPr>
              <a:t>The </a:t>
            </a:r>
            <a:r>
              <a:rPr lang="en-US" sz="2000" b="1" dirty="0" smtClean="0">
                <a:latin typeface="Goudy Old Style" pitchFamily="18" charset="0"/>
              </a:rPr>
              <a:t>Data Link Layer is Layer 2 of the OSI (Open Systems Interconnection) model.</a:t>
            </a:r>
            <a:br>
              <a:rPr lang="en-US" sz="2000" b="1" dirty="0" smtClean="0">
                <a:latin typeface="Goudy Old Style" pitchFamily="18" charset="0"/>
              </a:rPr>
            </a:br>
            <a:r>
              <a:rPr lang="en-US" sz="2000" b="1" dirty="0" smtClean="0">
                <a:latin typeface="Goudy Old Style" pitchFamily="18" charset="0"/>
              </a:rPr>
              <a:t>It is responsible for reliable data transfer between two devices that are directly connected (like two computers connected by a wire or Wi-Fi</a:t>
            </a:r>
            <a:r>
              <a:rPr lang="en-US" sz="2000" b="1" dirty="0" smtClean="0">
                <a:latin typeface="Goudy Old Style" pitchFamily="18" charset="0"/>
              </a:rPr>
              <a:t>).</a:t>
            </a:r>
          </a:p>
          <a:p>
            <a:pPr algn="just">
              <a:buNone/>
            </a:pPr>
            <a:endParaRPr lang="en-US" sz="2000" b="1" dirty="0" smtClean="0">
              <a:latin typeface="Goudy Old Style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itchFamily="18" charset="0"/>
              </a:rPr>
              <a:t>The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data link layer uses the services of the physical layer to send and receive bits over communication channels. </a:t>
            </a:r>
            <a:endParaRPr 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None/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Provides a well-defined service interface to the network layer</a:t>
            </a:r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.</a:t>
            </a:r>
          </a:p>
          <a:p>
            <a:pPr algn="just">
              <a:buNone/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responsibilities of Datalink layer include: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Framing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Addressing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Flow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Error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Media Access Control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04" y="201750"/>
            <a:ext cx="8785380" cy="95180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Services of 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Data Link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88" y="1294228"/>
            <a:ext cx="10604584" cy="5179143"/>
          </a:xfrm>
        </p:spPr>
        <p:txBody>
          <a:bodyPr anchor="ctr"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Frames the Data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It takes raw bits from the Physical Layer and </a:t>
            </a:r>
            <a:r>
              <a:rPr lang="en-US" sz="2000" b="1" dirty="0" smtClean="0"/>
              <a:t>groups them into frames</a:t>
            </a:r>
            <a:r>
              <a:rPr lang="en-US" sz="2000" dirty="0" smtClean="0"/>
              <a:t> (organized chunks of data).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Error Detection &amp; Correction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It adds checks (like CRC - Cyclic Redundancy Check) to make sure the data isn’t corrupted during transfer.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MAC Addressing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It uses </a:t>
            </a:r>
            <a:r>
              <a:rPr lang="en-US" sz="2000" b="1" dirty="0" smtClean="0"/>
              <a:t>MAC addresses</a:t>
            </a:r>
            <a:r>
              <a:rPr lang="en-US" sz="2000" dirty="0" smtClean="0"/>
              <a:t> (unique hardware IDs) to identify devices on the same local network.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Flow Control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It manages the speed so the sender doesn’t overwhelm the receiver.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smtClean="0"/>
              <a:t>Access Control</a:t>
            </a:r>
            <a:r>
              <a:rPr lang="en-US" sz="2000" dirty="0" smtClean="0"/>
              <a:t>:</a:t>
            </a:r>
            <a:br>
              <a:rPr lang="en-US" sz="2000" dirty="0" smtClean="0"/>
            </a:br>
            <a:r>
              <a:rPr lang="en-US" sz="2000" dirty="0" smtClean="0"/>
              <a:t>In networks like Wi-Fi or Ethernet, it decides </a:t>
            </a:r>
            <a:r>
              <a:rPr lang="en-US" sz="2000" b="1" dirty="0" smtClean="0"/>
              <a:t>who gets to use the network</a:t>
            </a:r>
            <a:r>
              <a:rPr lang="en-US" sz="2000" dirty="0" smtClean="0"/>
              <a:t> (to avoid "everyone talking at once").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B566528-1B12-4246-9431-5C2D7D0811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05154"/>
            <a:ext cx="10673890" cy="78598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Data </a:t>
            </a:r>
            <a:r>
              <a:rPr lang="en-US" sz="36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Link </a:t>
            </a:r>
            <a:r>
              <a:rPr lang="en-US" sz="3600" b="1" i="0" u="none" strike="noStrike" baseline="0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Layer</a:t>
            </a:r>
            <a:r>
              <a:rPr lang="en-US" sz="3600" b="1" i="0" u="none" strike="noStrike" dirty="0" smtClean="0">
                <a:solidFill>
                  <a:srgbClr val="C00000"/>
                </a:solidFill>
                <a:latin typeface="Goudy Old Style" panose="02020502050305020303" pitchFamily="18" charset="0"/>
              </a:rPr>
              <a:t> services</a:t>
            </a:r>
            <a:endParaRPr lang="en-US" sz="36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164004"/>
            <a:ext cx="6226629" cy="260613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Framing:</a:t>
            </a:r>
            <a:r>
              <a:rPr lang="en-US" sz="1800" b="1" dirty="0">
                <a:latin typeface="Goudy Old Style" panose="02020502050305020303" pitchFamily="18" charset="0"/>
              </a:rPr>
              <a:t> The data link layer divides the stream of bits received from network layer into manageable data units called Frames.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Addressing:</a:t>
            </a:r>
            <a:r>
              <a:rPr lang="en-US" sz="1800" b="1" dirty="0">
                <a:latin typeface="Goudy Old Style" panose="02020502050305020303" pitchFamily="18" charset="0"/>
              </a:rPr>
              <a:t> The data link layer adds a header to the frame to define the addresses of the sender and receiver of the frame.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Flow Control: </a:t>
            </a:r>
            <a:r>
              <a:rPr lang="en-US" sz="1800" b="1" dirty="0">
                <a:latin typeface="Goudy Old Style" panose="02020502050305020303" pitchFamily="18" charset="0"/>
              </a:rPr>
              <a:t>Regulating the flow of data so that slow receivers are not swamped by fast senders. 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xmlns="" id="{D3F51FEB-38FB-4F6C-9F7B-2F2AFAB65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E547BA6-BAE0-43BB-A7CA-60F69CE25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5E7D9D1-B333-4063-93A9-B2A552072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71" y="960695"/>
            <a:ext cx="5551882" cy="302068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15CBE6EC-46EF-45D9-8E16-DCDC5917CA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xmlns="" id="{DEEDCD65-9740-4F34-BDF1-9C068E0532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4B3DA7FD-5CC0-46D1-9DFB-5BAF6BE249C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1D7F39A-BF30-4D65-B557-C6877A5ED222}"/>
              </a:ext>
            </a:extLst>
          </p:cNvPr>
          <p:cNvSpPr txBox="1">
            <a:spLocks/>
          </p:cNvSpPr>
          <p:nvPr/>
        </p:nvSpPr>
        <p:spPr>
          <a:xfrm>
            <a:off x="5500468" y="4220307"/>
            <a:ext cx="6364183" cy="2398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en-US" sz="9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Error Control: </a:t>
            </a:r>
            <a:r>
              <a:rPr lang="en-US" sz="1700" b="1" dirty="0">
                <a:latin typeface="Goudy Old Style" panose="02020502050305020303" pitchFamily="18" charset="0"/>
              </a:rPr>
              <a:t>The data link layer also adds reliability to the physical layer by adding mechanisms to detect, retransmit damaged, duplicated or lost frames.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7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Media Access Control: </a:t>
            </a:r>
            <a:r>
              <a:rPr lang="en-US" sz="1700" b="1" dirty="0">
                <a:latin typeface="Goudy Old Style" panose="02020502050305020303" pitchFamily="18" charset="0"/>
              </a:rPr>
              <a:t>When two or more devices are connected to the same link, data link layer protocols are necessary to determine which device has control over the link at any given time.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2E39475E-BCBE-867D-23A7-58C9F785E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33580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2" y="103275"/>
            <a:ext cx="11523888" cy="951802"/>
          </a:xfrm>
        </p:spPr>
        <p:txBody>
          <a:bodyPr>
            <a:normAutofit/>
          </a:bodyPr>
          <a:lstStyle/>
          <a:p>
            <a:pPr algn="ctr"/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Services provided to Network 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1533378"/>
            <a:ext cx="6591257" cy="4939993"/>
          </a:xfrm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function of the data link layer is to provide services to the network layer.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principal service is transferring data from the network layer on the source machine to the network layer on the destination machine.</a:t>
            </a:r>
          </a:p>
          <a:p>
            <a:pPr marL="0" indent="0" algn="just">
              <a:buNone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1. Unacknowledged connectionless service.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2. Acknowledged connectionless service.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3. Acknowledged connection-oriented service.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B0D4B52-4815-47E1-AA34-1B308DE8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21" y="1678249"/>
            <a:ext cx="5303080" cy="4171950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CCA0A8E1-A82C-0D78-1808-5DBCBAF37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3918350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CF7DC-E548-B117-F56C-3E37EFCD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751"/>
            <a:ext cx="10515600" cy="1325563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xmlns="" val="3832824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887" y="103275"/>
            <a:ext cx="7547830" cy="9518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/>
            </a:r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2415939"/>
            <a:ext cx="9763346" cy="405743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Breaking up the bit stream into portions is called Framing.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Each frame contains HEADER and TRAILER.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A good design must make it easy for a receiver to find the start of new frames.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Framing Methods: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1. Byte count /Character count.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2. Flag bytes with Byte stuffing.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3. Flag bits with Bit stuffing.</a:t>
            </a:r>
          </a:p>
          <a:p>
            <a:pPr marL="0" indent="0">
              <a:buNone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01788A-E637-46FF-B4AB-E4EA50DD7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433" y="2398513"/>
            <a:ext cx="3731309" cy="76821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D3700E2D-045C-4018-4666-89CEF61FF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365244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974" y="103275"/>
            <a:ext cx="7017743" cy="9518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/>
            </a:r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count / Character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2415939"/>
            <a:ext cx="5415600" cy="40574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Uses a field in the header to specify the number of bytes in the frame.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When the data link layer at the destination sees the byte count, it knows how many bytes follow and hence where the end of the frame is.</a:t>
            </a:r>
          </a:p>
          <a:p>
            <a:pPr algn="just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A5C1724-A491-45BA-8BE6-3DE0FE2E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175" y="1983545"/>
            <a:ext cx="6601729" cy="4220307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781273-70DF-AE1B-ECD8-8FB39958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43905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3930A4-FCC6-40F4-88A0-CCCE73BA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CD77AC-C43B-4E3B-9008-A1E3DC78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Given Message P = 1 2 3 4 5 6 7 8 9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Payload size of frames: F1 =3, F2 = 2, F3 = 4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Perform byte count method and write the final byte sequence.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 =  ?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 ?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 ?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Final Byte Sequence = ?</a:t>
            </a: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F449DC3-5327-0B13-B18D-1581BBCA4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8163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3930A4-FCC6-40F4-88A0-CCCE73BA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CD77AC-C43B-4E3B-9008-A1E3DC78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Given Message P = 1 2 3 4 5 6 7 8 9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Payload size of frames: F1 =3, F2 = 2, F3 = 4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Sol: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F1 =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F2 =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F3 =  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Final Byte Sequence =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142D1842-F438-1885-EA9B-0F6FA6858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40830864"/>
              </p:ext>
            </p:extLst>
          </p:nvPr>
        </p:nvGraphicFramePr>
        <p:xfrm>
          <a:off x="1766957" y="3896139"/>
          <a:ext cx="232796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91">
                  <a:extLst>
                    <a:ext uri="{9D8B030D-6E8A-4147-A177-3AD203B41FA5}">
                      <a16:colId xmlns:a16="http://schemas.microsoft.com/office/drawing/2014/main" xmlns="" val="1728225255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xmlns="" val="3232739642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xmlns="" val="1817849130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xmlns="" val="3316623810"/>
                    </a:ext>
                  </a:extLst>
                </a:gridCol>
              </a:tblGrid>
              <a:tr h="3691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72232071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xmlns="" id="{BC0B6274-36DF-8863-07D2-F5C0EF922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42193440"/>
              </p:ext>
            </p:extLst>
          </p:nvPr>
        </p:nvGraphicFramePr>
        <p:xfrm>
          <a:off x="1766956" y="4958493"/>
          <a:ext cx="287130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91">
                  <a:extLst>
                    <a:ext uri="{9D8B030D-6E8A-4147-A177-3AD203B41FA5}">
                      <a16:colId xmlns:a16="http://schemas.microsoft.com/office/drawing/2014/main" xmlns="" val="1728225255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xmlns="" val="3232739642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xmlns="" val="1817849130"/>
                    </a:ext>
                  </a:extLst>
                </a:gridCol>
                <a:gridCol w="568741">
                  <a:extLst>
                    <a:ext uri="{9D8B030D-6E8A-4147-A177-3AD203B41FA5}">
                      <a16:colId xmlns:a16="http://schemas.microsoft.com/office/drawing/2014/main" xmlns="" val="3316623810"/>
                    </a:ext>
                  </a:extLst>
                </a:gridCol>
                <a:gridCol w="556591">
                  <a:extLst>
                    <a:ext uri="{9D8B030D-6E8A-4147-A177-3AD203B41FA5}">
                      <a16:colId xmlns:a16="http://schemas.microsoft.com/office/drawing/2014/main" xmlns="" val="4148207991"/>
                    </a:ext>
                  </a:extLst>
                </a:gridCol>
              </a:tblGrid>
              <a:tr h="3691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72232071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xmlns="" id="{959FD0CA-E393-D65F-7CC0-FB25E19A6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48455022"/>
              </p:ext>
            </p:extLst>
          </p:nvPr>
        </p:nvGraphicFramePr>
        <p:xfrm>
          <a:off x="1766957" y="4416962"/>
          <a:ext cx="1758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041">
                  <a:extLst>
                    <a:ext uri="{9D8B030D-6E8A-4147-A177-3AD203B41FA5}">
                      <a16:colId xmlns:a16="http://schemas.microsoft.com/office/drawing/2014/main" xmlns="" val="1576112072"/>
                    </a:ext>
                  </a:extLst>
                </a:gridCol>
                <a:gridCol w="586041">
                  <a:extLst>
                    <a:ext uri="{9D8B030D-6E8A-4147-A177-3AD203B41FA5}">
                      <a16:colId xmlns:a16="http://schemas.microsoft.com/office/drawing/2014/main" xmlns="" val="4198169570"/>
                    </a:ext>
                  </a:extLst>
                </a:gridCol>
                <a:gridCol w="586041">
                  <a:extLst>
                    <a:ext uri="{9D8B030D-6E8A-4147-A177-3AD203B41FA5}">
                      <a16:colId xmlns:a16="http://schemas.microsoft.com/office/drawing/2014/main" xmlns="" val="3116228672"/>
                    </a:ext>
                  </a:extLst>
                </a:gridCol>
              </a:tblGrid>
              <a:tr h="35540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3731590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xmlns="" id="{40C52CBD-E918-A036-33C4-CF778FF61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83942155"/>
              </p:ext>
            </p:extLst>
          </p:nvPr>
        </p:nvGraphicFramePr>
        <p:xfrm>
          <a:off x="4262482" y="5928743"/>
          <a:ext cx="72503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79">
                  <a:extLst>
                    <a:ext uri="{9D8B030D-6E8A-4147-A177-3AD203B41FA5}">
                      <a16:colId xmlns:a16="http://schemas.microsoft.com/office/drawing/2014/main" xmlns="" val="4218784339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3556820721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4107199269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3830419310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2296081230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3708000372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3036896508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1626044852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xmlns="" val="534469248"/>
                    </a:ext>
                  </a:extLst>
                </a:gridCol>
                <a:gridCol w="615483">
                  <a:extLst>
                    <a:ext uri="{9D8B030D-6E8A-4147-A177-3AD203B41FA5}">
                      <a16:colId xmlns:a16="http://schemas.microsoft.com/office/drawing/2014/main" xmlns="" val="1108454943"/>
                    </a:ext>
                  </a:extLst>
                </a:gridCol>
                <a:gridCol w="639497">
                  <a:extLst>
                    <a:ext uri="{9D8B030D-6E8A-4147-A177-3AD203B41FA5}">
                      <a16:colId xmlns:a16="http://schemas.microsoft.com/office/drawing/2014/main" xmlns="" val="2453380991"/>
                    </a:ext>
                  </a:extLst>
                </a:gridCol>
                <a:gridCol w="604553">
                  <a:extLst>
                    <a:ext uri="{9D8B030D-6E8A-4147-A177-3AD203B41FA5}">
                      <a16:colId xmlns:a16="http://schemas.microsoft.com/office/drawing/2014/main" xmlns="" val="412655114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90344769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xmlns="" id="{FE1863C8-C221-1EC5-7288-965BA52C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854011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CF7DC-E548-B117-F56C-3E37EFCD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751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Physical </a:t>
            </a:r>
            <a:r>
              <a:rPr lang="en-US" dirty="0" smtClean="0">
                <a:solidFill>
                  <a:srgbClr val="C00000"/>
                </a:solidFill>
              </a:rPr>
              <a:t>layer coding violations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2824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04" y="201750"/>
            <a:ext cx="8785380" cy="95180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Physical layer coding violations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142" y="1194318"/>
            <a:ext cx="10604584" cy="3282302"/>
          </a:xfrm>
        </p:spPr>
        <p:txBody>
          <a:bodyPr anchor="ctr">
            <a:normAutofit/>
          </a:bodyPr>
          <a:lstStyle/>
          <a:p>
            <a:r>
              <a:rPr lang="en-US" sz="1800" b="1" dirty="0" smtClean="0"/>
              <a:t>Coding violations</a:t>
            </a:r>
            <a:r>
              <a:rPr lang="en-US" sz="1800" dirty="0" smtClean="0"/>
              <a:t> at the </a:t>
            </a:r>
            <a:r>
              <a:rPr lang="en-US" sz="1800" b="1" dirty="0" smtClean="0"/>
              <a:t>Physical Layer</a:t>
            </a:r>
            <a:r>
              <a:rPr lang="en-US" sz="1800" dirty="0" smtClean="0"/>
              <a:t> often impact the </a:t>
            </a:r>
            <a:r>
              <a:rPr lang="en-US" sz="1800" b="1" dirty="0" smtClean="0"/>
              <a:t>Data Link Layer</a:t>
            </a:r>
            <a:r>
              <a:rPr lang="en-US" sz="1800" dirty="0" smtClean="0"/>
              <a:t>, especially in protocols that rely on specific encoding schemes for synchronization and error detection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What Are Coding Violations?</a:t>
            </a:r>
          </a:p>
          <a:p>
            <a:r>
              <a:rPr lang="en-US" sz="1800" dirty="0" smtClean="0"/>
              <a:t>At the </a:t>
            </a:r>
            <a:r>
              <a:rPr lang="en-US" sz="1800" b="1" dirty="0" smtClean="0"/>
              <a:t>Physical Layer</a:t>
            </a:r>
            <a:r>
              <a:rPr lang="en-US" sz="1800" dirty="0" smtClean="0"/>
              <a:t>, data is transmitted as electrical signals, light pulses, or radio waves. These signals follow certain </a:t>
            </a:r>
            <a:r>
              <a:rPr lang="en-US" sz="1800" b="1" dirty="0" smtClean="0"/>
              <a:t>encoding rules</a:t>
            </a:r>
            <a:r>
              <a:rPr lang="en-US" sz="1800" dirty="0" smtClean="0"/>
              <a:t> (e.g., NRZ, Manchester, 4B/5B). A </a:t>
            </a:r>
            <a:r>
              <a:rPr lang="en-US" sz="1800" b="1" dirty="0" smtClean="0"/>
              <a:t>coding violation</a:t>
            </a:r>
            <a:r>
              <a:rPr lang="en-US" sz="1800" dirty="0" smtClean="0"/>
              <a:t> occurs when the received signal does </a:t>
            </a:r>
            <a:r>
              <a:rPr lang="en-US" sz="1800" b="1" dirty="0" smtClean="0"/>
              <a:t>not match the expected pattern</a:t>
            </a:r>
            <a:r>
              <a:rPr lang="en-US" sz="1800" dirty="0" smtClean="0"/>
              <a:t>, indicating potential errors</a:t>
            </a:r>
            <a:r>
              <a:rPr lang="en-US" sz="1800" dirty="0" smtClean="0"/>
              <a:t>.</a:t>
            </a:r>
            <a:endParaRPr lang="en-US" sz="1800" dirty="0" smtClean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04" y="201750"/>
            <a:ext cx="8785380" cy="95180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Physical layer coding violations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142" y="1194318"/>
            <a:ext cx="10604584" cy="3282302"/>
          </a:xfrm>
        </p:spPr>
        <p:txBody>
          <a:bodyPr anchor="ctr">
            <a:normAutofit/>
          </a:bodyPr>
          <a:lstStyle/>
          <a:p>
            <a:r>
              <a:rPr lang="en-US" sz="1800" b="1" dirty="0" smtClean="0"/>
              <a:t>How This Affects the Data Link Layer</a:t>
            </a:r>
          </a:p>
          <a:p>
            <a:r>
              <a:rPr lang="en-US" sz="1800" dirty="0" smtClean="0"/>
              <a:t>The </a:t>
            </a:r>
            <a:r>
              <a:rPr lang="en-US" sz="1800" b="1" dirty="0" smtClean="0"/>
              <a:t>Data Link Layer</a:t>
            </a:r>
            <a:r>
              <a:rPr lang="en-US" sz="1800" dirty="0" smtClean="0"/>
              <a:t> (Layer 2) depends on the Physical Layer to deliver bits correctly. If the Physical Layer detects a </a:t>
            </a:r>
            <a:r>
              <a:rPr lang="en-US" sz="1800" b="1" dirty="0" smtClean="0"/>
              <a:t>violation of encoding rules</a:t>
            </a:r>
            <a:r>
              <a:rPr lang="en-US" sz="1800" dirty="0" smtClean="0"/>
              <a:t>, the Data Link Layer may take the following actions:</a:t>
            </a:r>
          </a:p>
          <a:p>
            <a:r>
              <a:rPr lang="en-US" sz="1800" b="1" dirty="0" smtClean="0"/>
              <a:t>1. Error Detection</a:t>
            </a:r>
          </a:p>
          <a:p>
            <a:r>
              <a:rPr lang="en-US" sz="1800" dirty="0" smtClean="0"/>
              <a:t>Many Layer 2 protocols (like Ethernet) rely on the Physical Layer to report coding errors.</a:t>
            </a:r>
          </a:p>
          <a:p>
            <a:r>
              <a:rPr lang="en-US" sz="1800" dirty="0" smtClean="0"/>
              <a:t>CRC (Cyclic Redundancy Check) at Layer 2 can detect if a coding violation resulted in corrupted data.</a:t>
            </a:r>
          </a:p>
          <a:p>
            <a:r>
              <a:rPr lang="en-US" sz="1800" b="1" dirty="0" smtClean="0"/>
              <a:t>2. Frame Discarding</a:t>
            </a:r>
          </a:p>
          <a:p>
            <a:r>
              <a:rPr lang="en-US" sz="1800" dirty="0" smtClean="0"/>
              <a:t>A frame with a coding violation might be discarded entirely by Layer 2.</a:t>
            </a:r>
          </a:p>
          <a:p>
            <a:r>
              <a:rPr lang="en-US" sz="1800" dirty="0" smtClean="0"/>
              <a:t>Ethernet NICs often drop such frames silently or flag them as errors.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04" y="201750"/>
            <a:ext cx="8785380" cy="95180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Physical layer coding violations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142" y="1194318"/>
            <a:ext cx="10604584" cy="3282302"/>
          </a:xfrm>
        </p:spPr>
        <p:txBody>
          <a:bodyPr anchor="ctr">
            <a:normAutofit fontScale="77500" lnSpcReduction="20000"/>
          </a:bodyPr>
          <a:lstStyle/>
          <a:p>
            <a:pPr>
              <a:buNone/>
            </a:pPr>
            <a:r>
              <a:rPr lang="en-US" sz="1800" b="1" dirty="0" smtClean="0"/>
              <a:t>3</a:t>
            </a:r>
            <a:r>
              <a:rPr lang="en-US" sz="1800" b="1" dirty="0" smtClean="0"/>
              <a:t>. Link Diagnostics</a:t>
            </a:r>
          </a:p>
          <a:p>
            <a:r>
              <a:rPr lang="en-US" sz="1800" dirty="0" smtClean="0"/>
              <a:t>Excessive coding violations can trigger alarms or </a:t>
            </a:r>
            <a:r>
              <a:rPr lang="en-US" sz="1800" b="1" dirty="0" smtClean="0"/>
              <a:t>link fault indicators</a:t>
            </a:r>
            <a:r>
              <a:rPr lang="en-US" sz="1800" dirty="0" smtClean="0"/>
              <a:t> (e.g., in Fiber Channel or SONET).</a:t>
            </a:r>
          </a:p>
          <a:p>
            <a:r>
              <a:rPr lang="en-US" sz="1800" dirty="0" smtClean="0"/>
              <a:t>Useful for identifying bad cables, connectors, or transceivers.</a:t>
            </a:r>
          </a:p>
          <a:p>
            <a:pPr>
              <a:buNone/>
            </a:pPr>
            <a:r>
              <a:rPr lang="en-US" sz="1800" b="1" dirty="0" smtClean="0"/>
              <a:t> </a:t>
            </a:r>
            <a:r>
              <a:rPr lang="en-US" sz="1800" b="1" dirty="0" smtClean="0"/>
              <a:t>Common Causes of Physical Layer Coding Violations</a:t>
            </a:r>
          </a:p>
          <a:p>
            <a:r>
              <a:rPr lang="en-US" sz="1800" dirty="0" smtClean="0"/>
              <a:t>Faulty or misaligned transceivers</a:t>
            </a:r>
          </a:p>
          <a:p>
            <a:r>
              <a:rPr lang="en-US" sz="1800" dirty="0" smtClean="0"/>
              <a:t>Electrical noise or signal degradation</a:t>
            </a:r>
          </a:p>
          <a:p>
            <a:r>
              <a:rPr lang="en-US" sz="1800" dirty="0" smtClean="0"/>
              <a:t>Mismatched encoding schemes between devices</a:t>
            </a:r>
          </a:p>
          <a:p>
            <a:r>
              <a:rPr lang="en-US" sz="1800" dirty="0" smtClean="0"/>
              <a:t>Damaged or low-quality cabling</a:t>
            </a:r>
          </a:p>
          <a:p>
            <a:pPr>
              <a:buNone/>
            </a:pPr>
            <a:r>
              <a:rPr lang="en-US" sz="1800" b="1" dirty="0" smtClean="0"/>
              <a:t> </a:t>
            </a:r>
            <a:r>
              <a:rPr lang="en-US" sz="1800" b="1" dirty="0" smtClean="0"/>
              <a:t>Example: Ethernet &amp; 4B/5B Encoding</a:t>
            </a:r>
          </a:p>
          <a:p>
            <a:r>
              <a:rPr lang="en-US" sz="1800" b="1" dirty="0" smtClean="0"/>
              <a:t>4B/5B</a:t>
            </a:r>
            <a:r>
              <a:rPr lang="en-US" sz="1800" dirty="0" smtClean="0"/>
              <a:t> encoding maps 4 bits of data to 5-bit symbols to ensure enough transitions for clock recovery.</a:t>
            </a:r>
          </a:p>
          <a:p>
            <a:r>
              <a:rPr lang="en-US" sz="1800" dirty="0" smtClean="0"/>
              <a:t>If a receiver gets a 5-bit pattern that is not valid (i.e., not part of the 4B/5B table), it’s a </a:t>
            </a:r>
            <a:r>
              <a:rPr lang="en-US" sz="1800" b="1" dirty="0" smtClean="0"/>
              <a:t>coding violation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The Data Link Layer will typically drop the frame and increment error counters.</a:t>
            </a:r>
          </a:p>
          <a:p>
            <a:endParaRPr lang="en-US" sz="1800" dirty="0" smtClean="0"/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252246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6CF7DC-E548-B117-F56C-3E37EFCD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751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Physical </a:t>
            </a:r>
            <a:r>
              <a:rPr lang="en-US" dirty="0" smtClean="0">
                <a:solidFill>
                  <a:srgbClr val="C00000"/>
                </a:solidFill>
              </a:rPr>
              <a:t>layer coding violations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2824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183" y="103275"/>
            <a:ext cx="7269534" cy="95180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/>
            </a:r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Stuffing / Character Stuffing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61514"/>
            <a:ext cx="5558973" cy="4684541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Same byte, called a flag byte, is used as both the starting and ending delimiter.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Two consecutive flag bytes indicate the end of one frame and the start of the next.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Thus, if the receiver ever loses synchronization it can just search for two flag bytes to find the end of the current frame and the start of the next frame.</a:t>
            </a:r>
          </a:p>
          <a:p>
            <a:pPr algn="just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F1DD3F0-608F-4999-8E66-FEC7BEF0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47" y="1512252"/>
            <a:ext cx="6489658" cy="4844552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4FC86CAB-3959-825E-0CCB-B35E3199A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26199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53EEBD-6654-4714-A445-C668F496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0F8372-FE57-4662-A10A-A4F85FF7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FLAG = @, ESC = $, Frame format= FLAG DATA FLAG             	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2942E92D-801C-B21D-60BF-5344C4A4B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08292796"/>
              </p:ext>
            </p:extLst>
          </p:nvPr>
        </p:nvGraphicFramePr>
        <p:xfrm>
          <a:off x="1236870" y="3012292"/>
          <a:ext cx="81279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266805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2736781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1115841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Original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Stuffed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Destuffed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4150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D1 = ABC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F1 = @ABC@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R1 = ABC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5351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F2 = 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R2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334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D3 = P@QR$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F3 = 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R3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04288910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xmlns="" id="{FFAE91B2-740F-7458-7595-6A0CD8B0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230600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53EEBD-6654-4714-A445-C668F496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0F8372-FE57-4662-A10A-A4F85FF7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FLAG = @, ESC = $, Frame format= FLAG DATA FLAG             	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2942E92D-801C-B21D-60BF-5344C4A4B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50150035"/>
              </p:ext>
            </p:extLst>
          </p:nvPr>
        </p:nvGraphicFramePr>
        <p:xfrm>
          <a:off x="1276626" y="3086894"/>
          <a:ext cx="88082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266805944"/>
                    </a:ext>
                  </a:extLst>
                </a:gridCol>
                <a:gridCol w="3209971">
                  <a:extLst>
                    <a:ext uri="{9D8B030D-6E8A-4147-A177-3AD203B41FA5}">
                      <a16:colId xmlns:a16="http://schemas.microsoft.com/office/drawing/2014/main" xmlns="" val="273678126"/>
                    </a:ext>
                  </a:extLst>
                </a:gridCol>
                <a:gridCol w="2888974">
                  <a:extLst>
                    <a:ext uri="{9D8B030D-6E8A-4147-A177-3AD203B41FA5}">
                      <a16:colId xmlns:a16="http://schemas.microsoft.com/office/drawing/2014/main" xmlns="" val="1115841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Original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Stuffed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Destuffed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4150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D1 = ABC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F1 = @ABC@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R1 = ABC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5351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F2 =  @P$@QR@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334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D3 = P@QR$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F3 =  @P$@QR$$@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R3 = P@QR$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04288910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xmlns="" id="{FCBE5DB1-5863-B000-E511-AB042666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53722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9A36457-A5F4-4103-A443-02581C0918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C5FB7E8-B636-40FA-BE8D-48145C0F5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586" y="103275"/>
            <a:ext cx="7682131" cy="9518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/>
            </a:r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Bit Stuffing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2078311"/>
            <a:ext cx="5558973" cy="40574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Framing can be also be done at the bit level, so frames can contain an arbitrary number of bits made up of units of any size.</a:t>
            </a:r>
          </a:p>
          <a:p>
            <a:pPr marL="0" indent="0" algn="just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byte: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or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0x7E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in hexadecimal</a:t>
            </a:r>
          </a:p>
          <a:p>
            <a:pPr marL="0" indent="0" algn="just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Whenever the sender’s data link layer encounters five consecutive 1s in the data, it automatically stuffs a 0 bit into the outgoing bit stream.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142DCE2C-2863-46FA-9BE7-24365A24D9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A282994-7F81-4216-AC0F-8B711A18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395" y="2398513"/>
            <a:ext cx="6316181" cy="3030718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7B23D243-2D6F-D437-277F-1F898198A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92888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BF6B6B-0D99-446B-B41F-AA750A43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256795"/>
            <a:ext cx="10515600" cy="1002162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288D86-14CC-460E-A1AF-859E6A01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717157"/>
            <a:ext cx="11022496" cy="5372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M1 = 1010100001110010111101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F1= ?</a:t>
            </a:r>
          </a:p>
          <a:p>
            <a:pPr marL="0" indent="0">
              <a:buNone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M2 = 1010111111011011111100000110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?</a:t>
            </a:r>
          </a:p>
          <a:p>
            <a:pPr marL="0" indent="0">
              <a:buNone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M3 = 11001011110101110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?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6CD23319-A774-7DB3-6444-80443F374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2590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BF6B6B-0D99-446B-B41F-AA750A43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256795"/>
            <a:ext cx="10515600" cy="1002162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288D86-14CC-460E-A1AF-859E6A01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717157"/>
            <a:ext cx="11022496" cy="5372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M1 = 1010100001110010111101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F1=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01111110 1010100001110010111101 01111110</a:t>
            </a:r>
          </a:p>
          <a:p>
            <a:pPr marL="0" indent="0">
              <a:buNone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M2 = 1010111111011011111100000110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01111110 101011111</a:t>
            </a:r>
            <a:r>
              <a:rPr lang="en-US" sz="2100" b="1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1011011111</a:t>
            </a:r>
            <a:r>
              <a:rPr lang="en-US" sz="2100" b="1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100000110 01111110</a:t>
            </a:r>
          </a:p>
          <a:p>
            <a:pPr marL="0" indent="0">
              <a:buNone/>
            </a:pPr>
            <a:endParaRPr lang="en-US" sz="21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M3 = 11001011110101110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011110 110010111</a:t>
            </a:r>
            <a:r>
              <a:rPr lang="en-US" sz="2100" b="1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1010111</a:t>
            </a:r>
            <a:r>
              <a:rPr lang="en-US" sz="2100" b="1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0 011110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xmlns="" id="{75416791-6FE2-1380-ED92-5C4457A87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047532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BD464A-9091-5422-DC51-926AB6C0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Example-4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AB442533-290A-C820-36F6-54E02134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824"/>
            <a:ext cx="10515600" cy="4608139"/>
          </a:xfrm>
        </p:spPr>
        <p:txBody>
          <a:bodyPr>
            <a:normAutofit lnSpcReduction="10000"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The following character encoding is used in a data link protocol: </a:t>
            </a:r>
            <a:endParaRPr lang="en-IN" sz="2800" b="1" kern="1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A: 01000111; B: 11100011; FLAG: 01111110; ESC: 11100000; Show the bit sequence transmitted (in binary) for the four-character frame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</a:t>
            </a: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“A FLAG B ESC”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when each of the following framing methods is used: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Byte count.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Flag bytes with byte stuffing.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Starting and ending flag bytes with bit stuffing.</a:t>
            </a:r>
            <a:endParaRPr lang="en-IN" sz="2800" b="1" kern="1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92112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BD464A-9091-5422-DC51-926AB6C0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52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Solution-4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AB442533-290A-C820-36F6-54E02134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49" y="708352"/>
            <a:ext cx="10515600" cy="5190845"/>
          </a:xfrm>
        </p:spPr>
        <p:txBody>
          <a:bodyPr>
            <a:norm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b="1" kern="1200" dirty="0">
                <a:solidFill>
                  <a:srgbClr val="0070C0"/>
                </a:solidFill>
                <a:latin typeface="Goudy Old Style" panose="02020502050305020303" pitchFamily="18" charset="0"/>
                <a:ea typeface="+mn-ea"/>
                <a:cs typeface="+mn-cs"/>
              </a:rPr>
              <a:t>Given Data: </a:t>
            </a:r>
            <a:r>
              <a:rPr lang="en-US" sz="2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A= 01000111; B= 11100011; FLAG= 01111110; ESC= 11100000;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b="1" kern="1200" dirty="0">
                <a:solidFill>
                  <a:srgbClr val="0070C0"/>
                </a:solidFill>
                <a:latin typeface="Goudy Old Style" panose="02020502050305020303" pitchFamily="18" charset="0"/>
                <a:ea typeface="+mn-ea"/>
                <a:cs typeface="+mn-cs"/>
              </a:rPr>
              <a:t>Byte Seq: </a:t>
            </a:r>
            <a:r>
              <a:rPr lang="en-US" sz="2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 FLAG B ESC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sz="2400" b="1" kern="1200" dirty="0">
                <a:solidFill>
                  <a:srgbClr val="C00000"/>
                </a:solidFill>
                <a:latin typeface="Goudy Old Style" panose="02020502050305020303" pitchFamily="18" charset="0"/>
                <a:ea typeface="+mn-ea"/>
                <a:cs typeface="+mn-cs"/>
              </a:rPr>
              <a:t>Byte count</a:t>
            </a: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: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</a:pPr>
            <a:endParaRPr lang="en-US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stuffing: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Bit stuffing: F A F B E F</a:t>
            </a: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endParaRPr lang="en-US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endParaRPr lang="en-IN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0ED8F79-01F4-ABF9-4E32-AC03AE4FE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1982264"/>
              </p:ext>
            </p:extLst>
          </p:nvPr>
        </p:nvGraphicFramePr>
        <p:xfrm>
          <a:off x="1084730" y="2182009"/>
          <a:ext cx="787658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3249">
                  <a:extLst>
                    <a:ext uri="{9D8B030D-6E8A-4147-A177-3AD203B41FA5}">
                      <a16:colId xmlns:a16="http://schemas.microsoft.com/office/drawing/2014/main" xmlns="" val="15547709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6229872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295269567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9076491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920284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2947567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FLAG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B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ESC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35431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00000101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01000111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11100000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144881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676D6840-3B24-9766-23E3-A19347FA2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37900310"/>
              </p:ext>
            </p:extLst>
          </p:nvPr>
        </p:nvGraphicFramePr>
        <p:xfrm>
          <a:off x="1084730" y="3855183"/>
          <a:ext cx="1024218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658">
                  <a:extLst>
                    <a:ext uri="{9D8B030D-6E8A-4147-A177-3AD203B41FA5}">
                      <a16:colId xmlns:a16="http://schemas.microsoft.com/office/drawing/2014/main" xmlns="" val="3358107804"/>
                    </a:ext>
                  </a:extLst>
                </a:gridCol>
                <a:gridCol w="1173382">
                  <a:extLst>
                    <a:ext uri="{9D8B030D-6E8A-4147-A177-3AD203B41FA5}">
                      <a16:colId xmlns:a16="http://schemas.microsoft.com/office/drawing/2014/main" xmlns="" val="2800770987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2377664565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1788334031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224997363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111687966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58695694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336382624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xmlns="" val="189653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FLAG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149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01000111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11100011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577527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564E26AE-993F-FBA2-8846-0711BCA2F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53429356"/>
              </p:ext>
            </p:extLst>
          </p:nvPr>
        </p:nvGraphicFramePr>
        <p:xfrm>
          <a:off x="1084730" y="5700119"/>
          <a:ext cx="915296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2594">
                  <a:extLst>
                    <a:ext uri="{9D8B030D-6E8A-4147-A177-3AD203B41FA5}">
                      <a16:colId xmlns:a16="http://schemas.microsoft.com/office/drawing/2014/main" xmlns="" val="2085102243"/>
                    </a:ext>
                  </a:extLst>
                </a:gridCol>
                <a:gridCol w="1169147">
                  <a:extLst>
                    <a:ext uri="{9D8B030D-6E8A-4147-A177-3AD203B41FA5}">
                      <a16:colId xmlns:a16="http://schemas.microsoft.com/office/drawing/2014/main" xmlns="" val="1273856364"/>
                    </a:ext>
                  </a:extLst>
                </a:gridCol>
                <a:gridCol w="4410636">
                  <a:extLst>
                    <a:ext uri="{9D8B030D-6E8A-4147-A177-3AD203B41FA5}">
                      <a16:colId xmlns:a16="http://schemas.microsoft.com/office/drawing/2014/main" xmlns="" val="2270685151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xmlns="" val="2528948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Bit Seq. before Stuffing: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01000111  01111110  11100011  11100000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1788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 after Stuffing: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01000111 011111</a:t>
                      </a:r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IN" b="1" dirty="0"/>
                        <a:t>10 11100011 111</a:t>
                      </a:r>
                      <a:r>
                        <a:rPr lang="en-IN" b="1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IN" b="1" dirty="0"/>
                        <a:t>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01111110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2905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65882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among the following represents the objectives/requirements of Data Link Layer??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xmlns="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Frame Synchronization</a:t>
            </a:r>
          </a:p>
          <a:p>
            <a:pPr marL="342900" indent="-342900">
              <a:buAutoNum type="alphaLcParenBoth"/>
            </a:pPr>
            <a:r>
              <a:rPr lang="en-US" sz="1600" dirty="0"/>
              <a:t>Error &amp; Flow Control</a:t>
            </a:r>
          </a:p>
          <a:p>
            <a:pPr marL="342900" indent="-342900">
              <a:buAutoNum type="alphaLcParenBoth"/>
            </a:pPr>
            <a:r>
              <a:rPr lang="en-US" sz="1600" dirty="0"/>
              <a:t>Both a &amp; b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Neither a or b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728870" y="2872641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The data link layer takes the packets from _____ and encapsulates them into frames for transmission. 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xmlns="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application layer </a:t>
            </a:r>
          </a:p>
          <a:p>
            <a:pPr marL="342900" indent="-342900">
              <a:buAutoNum type="alphaLcParenBoth"/>
            </a:pPr>
            <a:r>
              <a:rPr lang="en-US" dirty="0"/>
              <a:t>transport layer </a:t>
            </a:r>
          </a:p>
          <a:p>
            <a:pPr marL="342900" indent="-342900">
              <a:buAutoNum type="alphaLcParenBoth"/>
            </a:pPr>
            <a:r>
              <a:rPr lang="en-US" dirty="0"/>
              <a:t>network layer </a:t>
            </a:r>
          </a:p>
          <a:p>
            <a:pPr marL="342900" indent="-342900">
              <a:buAutoNum type="alphaLcParenBoth"/>
            </a:pPr>
            <a:r>
              <a:rPr lang="en-US" sz="1600" dirty="0"/>
              <a:t>physical layer 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xmlns="" id="{232690F5-0E57-FFD3-E4AD-4B85BD78484B}"/>
              </a:ext>
            </a:extLst>
          </p:cNvPr>
          <p:cNvSpPr/>
          <p:nvPr/>
        </p:nvSpPr>
        <p:spPr>
          <a:xfrm>
            <a:off x="728870" y="5003206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In bit stuffing framing method if the flag is 0111110, then after how many 1’s the 0 must be stuffed in data?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After every six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five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four 1’s</a:t>
            </a:r>
          </a:p>
          <a:p>
            <a:pPr marL="342900" indent="-342900">
              <a:buAutoNum type="alphaLcParenBoth"/>
            </a:pPr>
            <a:r>
              <a:rPr lang="en-US" sz="1600" dirty="0"/>
              <a:t>After every three 1’s</a:t>
            </a:r>
          </a:p>
        </p:txBody>
      </p:sp>
    </p:spTree>
    <p:extLst>
      <p:ext uri="{BB962C8B-B14F-4D97-AF65-F5344CB8AC3E}">
        <p14:creationId xmlns:p14="http://schemas.microsoft.com/office/powerpoint/2010/main" xmlns="" val="41927661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among the following represents the objectives/requirements of Data Link Layer??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xmlns="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Frame Synchronization</a:t>
            </a:r>
          </a:p>
          <a:p>
            <a:pPr marL="342900" indent="-342900">
              <a:buAutoNum type="alphaLcParenBoth"/>
            </a:pPr>
            <a:r>
              <a:rPr lang="en-US" sz="1600" dirty="0"/>
              <a:t>Error &amp; Flow Control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Both a &amp; b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Neither a or b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728870" y="2872641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The data link layer takes the packets from _____ and encapsulates them into frames for transmission. 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xmlns="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application layer </a:t>
            </a:r>
          </a:p>
          <a:p>
            <a:pPr marL="342900" indent="-342900">
              <a:buAutoNum type="alphaLcParenBoth"/>
            </a:pPr>
            <a:r>
              <a:rPr lang="en-US" dirty="0"/>
              <a:t>transport layer 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network layer </a:t>
            </a:r>
          </a:p>
          <a:p>
            <a:pPr marL="342900" indent="-342900">
              <a:buAutoNum type="alphaLcParenBoth"/>
            </a:pPr>
            <a:r>
              <a:rPr lang="en-US" sz="1600" dirty="0"/>
              <a:t>physical layer 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xmlns="" id="{232690F5-0E57-FFD3-E4AD-4B85BD78484B}"/>
              </a:ext>
            </a:extLst>
          </p:cNvPr>
          <p:cNvSpPr/>
          <p:nvPr/>
        </p:nvSpPr>
        <p:spPr>
          <a:xfrm>
            <a:off x="728870" y="5003206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In bit stuffing framing method if the flag is 0111110, then after how many 1’s the 0 must be stuffed in data?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xmlns="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After every six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five 1’s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After every four 1’s</a:t>
            </a:r>
          </a:p>
          <a:p>
            <a:pPr marL="342900" indent="-342900">
              <a:buAutoNum type="alphaLcParenBoth"/>
            </a:pPr>
            <a:r>
              <a:rPr lang="en-US" sz="1600" dirty="0"/>
              <a:t>After every three 1’s</a:t>
            </a:r>
          </a:p>
        </p:txBody>
      </p:sp>
    </p:spTree>
    <p:extLst>
      <p:ext uri="{BB962C8B-B14F-4D97-AF65-F5344CB8AC3E}">
        <p14:creationId xmlns:p14="http://schemas.microsoft.com/office/powerpoint/2010/main" xmlns="" val="41965992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829" y="1152123"/>
            <a:ext cx="6372665" cy="54160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 </a:t>
            </a:r>
            <a:r>
              <a:rPr lang="en-US" sz="2400" b="1" dirty="0">
                <a:latin typeface="Goudy Old Style" panose="02020502050305020303" pitchFamily="18" charset="0"/>
              </a:rPr>
              <a:t>Responsibilities of Datalink layer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 </a:t>
            </a:r>
            <a:r>
              <a:rPr lang="en-US" sz="2400" b="1" dirty="0">
                <a:latin typeface="Goudy Old Style" panose="02020502050305020303" pitchFamily="18" charset="0"/>
              </a:rPr>
              <a:t>Framing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Goudy Old Style" panose="02020502050305020303" pitchFamily="18" charset="0"/>
              </a:rPr>
              <a:t> Framing Methods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Goudy Old Style" panose="02020502050305020303" pitchFamily="18" charset="0"/>
              </a:rPr>
              <a:t>Byte Count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Goudy Old Style" panose="02020502050305020303" pitchFamily="18" charset="0"/>
              </a:rPr>
              <a:t>Byte Stuffing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>
                <a:latin typeface="Goudy Old Style" panose="02020502050305020303" pitchFamily="18" charset="0"/>
              </a:rPr>
              <a:t>Bit Stuffing</a:t>
            </a:r>
          </a:p>
        </p:txBody>
      </p:sp>
    </p:spTree>
    <p:extLst>
      <p:ext uri="{BB962C8B-B14F-4D97-AF65-F5344CB8AC3E}">
        <p14:creationId xmlns:p14="http://schemas.microsoft.com/office/powerpoint/2010/main" xmlns="" val="9185657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</a:t>
            </a:r>
            <a:r>
              <a:rPr lang="en-US" dirty="0"/>
              <a:t>. </a:t>
            </a:r>
            <a:r>
              <a:rPr lang="en-US" sz="2000" dirty="0"/>
              <a:t>Describe the </a:t>
            </a:r>
            <a:r>
              <a:rPr lang="en-US" sz="2000" dirty="0" smtClean="0"/>
              <a:t>services</a:t>
            </a:r>
            <a:r>
              <a:rPr lang="en-US" sz="2000" dirty="0" smtClean="0"/>
              <a:t> </a:t>
            </a:r>
            <a:r>
              <a:rPr lang="en-US" sz="2000" dirty="0"/>
              <a:t>of data link layer.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Illustrate different framing methods with examples.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3. Analyze the pros and cons of each of the framing methods.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020737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https://www.geeksforgeeks.org/various-kind-of-framing-in-data-link-layer/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2940913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xmlns="" id="{E91CAAAD-CFB4-45FE-A178-E0C2DBC6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36763" y="1355380"/>
            <a:ext cx="8552279" cy="459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34024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COMPUTER NETWORKS TEAM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1681</Words>
  <Application>Microsoft Office PowerPoint</Application>
  <PresentationFormat>Custom</PresentationFormat>
  <Paragraphs>335</Paragraphs>
  <Slides>32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Data Link Layer</vt:lpstr>
      <vt:lpstr>Data Link Layer</vt:lpstr>
      <vt:lpstr>Services of Data Link Layer</vt:lpstr>
      <vt:lpstr>Data Link Layer services</vt:lpstr>
      <vt:lpstr>Services provided to Network Layer</vt:lpstr>
      <vt:lpstr>Framing Methods</vt:lpstr>
      <vt:lpstr> Framing</vt:lpstr>
      <vt:lpstr> Byte count / Character count</vt:lpstr>
      <vt:lpstr>Example-1</vt:lpstr>
      <vt:lpstr>Solution-1</vt:lpstr>
      <vt:lpstr>Physical layer coding violations</vt:lpstr>
      <vt:lpstr>Physical layer coding violations</vt:lpstr>
      <vt:lpstr>Physical layer coding violations</vt:lpstr>
      <vt:lpstr>Physical layer coding violations</vt:lpstr>
      <vt:lpstr>Physical layer coding violations</vt:lpstr>
      <vt:lpstr> Byte Stuffing / Character Stuffing</vt:lpstr>
      <vt:lpstr>Example-2</vt:lpstr>
      <vt:lpstr>Solution-2</vt:lpstr>
      <vt:lpstr> Bit Stuffing</vt:lpstr>
      <vt:lpstr>Example-3</vt:lpstr>
      <vt:lpstr>Solution-3</vt:lpstr>
      <vt:lpstr>Example-4</vt:lpstr>
      <vt:lpstr>Solution-4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 Venkateswarlu</dc:creator>
  <cp:lastModifiedBy>Dell</cp:lastModifiedBy>
  <cp:revision>133</cp:revision>
  <dcterms:created xsi:type="dcterms:W3CDTF">2021-08-13T05:56:40Z</dcterms:created>
  <dcterms:modified xsi:type="dcterms:W3CDTF">2025-05-16T06:15:09Z</dcterms:modified>
</cp:coreProperties>
</file>