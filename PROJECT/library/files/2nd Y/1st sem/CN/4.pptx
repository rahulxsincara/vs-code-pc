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71" r:id="rId2"/>
    <p:sldId id="300" r:id="rId3"/>
    <p:sldId id="535" r:id="rId4"/>
    <p:sldId id="629" r:id="rId5"/>
    <p:sldId id="631" r:id="rId6"/>
    <p:sldId id="630" r:id="rId7"/>
    <p:sldId id="633" r:id="rId8"/>
    <p:sldId id="632" r:id="rId9"/>
    <p:sldId id="652" r:id="rId10"/>
    <p:sldId id="653" r:id="rId11"/>
    <p:sldId id="650" r:id="rId12"/>
    <p:sldId id="651" r:id="rId13"/>
    <p:sldId id="648" r:id="rId14"/>
    <p:sldId id="649" r:id="rId15"/>
    <p:sldId id="644" r:id="rId16"/>
    <p:sldId id="646" r:id="rId17"/>
    <p:sldId id="640" r:id="rId18"/>
    <p:sldId id="642" r:id="rId19"/>
    <p:sldId id="643" r:id="rId20"/>
    <p:sldId id="637" r:id="rId21"/>
    <p:sldId id="638" r:id="rId22"/>
    <p:sldId id="635" r:id="rId23"/>
    <p:sldId id="636" r:id="rId24"/>
    <p:sldId id="659" r:id="rId25"/>
    <p:sldId id="654" r:id="rId26"/>
    <p:sldId id="655" r:id="rId27"/>
    <p:sldId id="656" r:id="rId28"/>
    <p:sldId id="657" r:id="rId29"/>
    <p:sldId id="660" r:id="rId30"/>
    <p:sldId id="658" r:id="rId31"/>
    <p:sldId id="661" r:id="rId32"/>
    <p:sldId id="274" r:id="rId33"/>
    <p:sldId id="302" r:id="rId34"/>
    <p:sldId id="303" r:id="rId35"/>
    <p:sldId id="30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549A1-D5D6-FAD0-255F-54A220FE3EA0}" v="13" dt="2025-07-14T11:05:02.560"/>
    <p1510:client id="{42631D34-B3FB-3698-ACFC-32C4AD77B224}" v="4" dt="2025-07-14T10:58:31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anti De" userId="S::vit.tushar@kluniversity.in::7b4f7e15-ba50-4f9a-a6ae-1e38b5a8a216" providerId="AD" clId="Web-{059549A1-D5D6-FAD0-255F-54A220FE3EA0}"/>
    <pc:docChg chg="modSld">
      <pc:chgData name="Tushar Kanti De" userId="S::vit.tushar@kluniversity.in::7b4f7e15-ba50-4f9a-a6ae-1e38b5a8a216" providerId="AD" clId="Web-{059549A1-D5D6-FAD0-255F-54A220FE3EA0}" dt="2025-07-14T11:05:00.107" v="11" actId="20577"/>
      <pc:docMkLst>
        <pc:docMk/>
      </pc:docMkLst>
      <pc:sldChg chg="modSp">
        <pc:chgData name="Tushar Kanti De" userId="S::vit.tushar@kluniversity.in::7b4f7e15-ba50-4f9a-a6ae-1e38b5a8a216" providerId="AD" clId="Web-{059549A1-D5D6-FAD0-255F-54A220FE3EA0}" dt="2025-07-14T11:05:00.107" v="11" actId="20577"/>
        <pc:sldMkLst>
          <pc:docMk/>
          <pc:sldMk cId="0" sldId="304"/>
        </pc:sldMkLst>
        <pc:spChg chg="mod">
          <ac:chgData name="Tushar Kanti De" userId="S::vit.tushar@kluniversity.in::7b4f7e15-ba50-4f9a-a6ae-1e38b5a8a216" providerId="AD" clId="Web-{059549A1-D5D6-FAD0-255F-54A220FE3EA0}" dt="2025-07-14T11:05:00.107" v="11" actId="20577"/>
          <ac:spMkLst>
            <pc:docMk/>
            <pc:sldMk cId="0" sldId="304"/>
            <ac:spMk id="4" creationId="{E792BE84-3448-2348-B352-CD5BC083E5FD}"/>
          </ac:spMkLst>
        </pc:spChg>
      </pc:sldChg>
    </pc:docChg>
  </pc:docChgLst>
  <pc:docChgLst>
    <pc:chgData clId="Web-{42631D34-B3FB-3698-ACFC-32C4AD77B224}"/>
    <pc:docChg chg="modSld">
      <pc:chgData name="" userId="" providerId="" clId="Web-{42631D34-B3FB-3698-ACFC-32C4AD77B224}" dt="2025-07-14T10:58:24.132" v="1" actId="20577"/>
      <pc:docMkLst>
        <pc:docMk/>
      </pc:docMkLst>
      <pc:sldChg chg="modSp">
        <pc:chgData name="" userId="" providerId="" clId="Web-{42631D34-B3FB-3698-ACFC-32C4AD77B224}" dt="2025-07-14T10:58:24.132" v="1" actId="20577"/>
        <pc:sldMkLst>
          <pc:docMk/>
          <pc:sldMk cId="0" sldId="271"/>
        </pc:sldMkLst>
        <pc:spChg chg="mod">
          <ac:chgData name="" userId="" providerId="" clId="Web-{42631D34-B3FB-3698-ACFC-32C4AD77B224}" dt="2025-07-14T10:58:24.132" v="1" actId="20577"/>
          <ac:spMkLst>
            <pc:docMk/>
            <pc:sldMk cId="0" sldId="271"/>
            <ac:spMk id="4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EE5D1-879B-4429-BDC4-73CA8EC5C60D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BA3EA-FD2D-4030-8049-F6E900B540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35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2D089EC-4507-D9B0-0A1F-C23F6908E0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FDD60A-0BF6-4826-B47E-9F381525BEB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556BE50F-E962-A924-7B64-2F2F1EFF18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51BFEAFC-3C0C-7F48-0B21-5DA8C6367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9E7F87-7CA5-344D-E596-381BC1F5A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380AFF-D258-4408-A096-6317F39A5F1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90178" name="Rectangle 2">
            <a:extLst>
              <a:ext uri="{FF2B5EF4-FFF2-40B4-BE49-F238E27FC236}">
                <a16:creationId xmlns:a16="http://schemas.microsoft.com/office/drawing/2014/main" id="{B4A1B0E7-0920-0604-36A8-DFBC6C67BB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40616D20-1E41-9ACD-725F-66B335064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19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1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13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52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14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87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93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03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6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3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536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288299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eeksforgeeks.org/layers-of-osi-model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1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025141" y="1947162"/>
            <a:ext cx="6902548" cy="32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Computer networks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/>
                <a:sym typeface="BioRhyme ExtraBold"/>
              </a:rPr>
              <a:t>24cs2202</a:t>
            </a:r>
            <a:endParaRPr lang="en-US" sz="3200" b="1" cap="all" dirty="0">
              <a:ln/>
              <a:solidFill>
                <a:srgbClr val="C00000"/>
              </a:solidFill>
              <a:ea typeface="Calibri"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/>
            <a:r>
              <a:rPr lang="en-IN" sz="4000" b="1" dirty="0">
                <a:solidFill>
                  <a:srgbClr val="FF0000"/>
                </a:solidFill>
              </a:rPr>
              <a:t>OSI REFERENCE MODEL</a:t>
            </a:r>
          </a:p>
          <a:p>
            <a:pPr algn="ctr"/>
            <a:r>
              <a:rPr lang="en-IN" sz="4000" b="1" dirty="0">
                <a:solidFill>
                  <a:srgbClr val="FF0000"/>
                </a:solidFill>
              </a:rPr>
              <a:t>&amp;</a:t>
            </a:r>
          </a:p>
          <a:p>
            <a:pPr algn="ctr"/>
            <a:r>
              <a:rPr lang="en-IN" sz="4000" b="1" dirty="0">
                <a:solidFill>
                  <a:srgbClr val="FF0000"/>
                </a:solidFill>
              </a:rPr>
              <a:t>TCP/IP REFERENCE MODEL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10631" y="5887231"/>
            <a:ext cx="2776031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No -5&amp;6.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make the students understand the Data Transmission process using Reference Models.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how OSI reference model and TCP/IP protocol suite enables data communication.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Learn the responsibilities of each layer and the working.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Infer the difference between the network models.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List out the process of Network communication.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Identify the difference between the Networking models.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advantages and disadvantages of the networking models.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>
            <a:extLst>
              <a:ext uri="{FF2B5EF4-FFF2-40B4-BE49-F238E27FC236}">
                <a16:creationId xmlns:a16="http://schemas.microsoft.com/office/drawing/2014/main" id="{4BAEE691-D670-1274-61EB-67055C840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06" y="352360"/>
            <a:ext cx="47601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LAYERED TASKS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A2E13753-2469-E961-4D9E-8E72DFDA8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EC0B2CCD-9224-6B7B-5F66-2C5233EA0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93" y="1102068"/>
            <a:ext cx="107022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Layers concept in daily life, Example: Sending a letter to friend.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840B6F7-6665-5D40-4ACE-5D02B0990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700" y="1940767"/>
            <a:ext cx="5575300" cy="407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73"/>
    </mc:Choice>
    <mc:Fallback xmlns="">
      <p:transition spd="slow" advTm="78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1" name="Text Box 3">
            <a:extLst>
              <a:ext uri="{FF2B5EF4-FFF2-40B4-BE49-F238E27FC236}">
                <a16:creationId xmlns:a16="http://schemas.microsoft.com/office/drawing/2014/main" id="{71A2852D-E35B-7B9D-816C-0B16AA05A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806" y="626708"/>
            <a:ext cx="33057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THE OSI MODEL</a:t>
            </a:r>
          </a:p>
        </p:txBody>
      </p:sp>
      <p:sp>
        <p:nvSpPr>
          <p:cNvPr id="677892" name="Text Box 4">
            <a:extLst>
              <a:ext uri="{FF2B5EF4-FFF2-40B4-BE49-F238E27FC236}">
                <a16:creationId xmlns:a16="http://schemas.microsoft.com/office/drawing/2014/main" id="{2FA00CEA-9D78-852D-EEB5-C14829A17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77893" name="Rectangle 5">
            <a:extLst>
              <a:ext uri="{FF2B5EF4-FFF2-40B4-BE49-F238E27FC236}">
                <a16:creationId xmlns:a16="http://schemas.microsoft.com/office/drawing/2014/main" id="{773012B1-D946-E3A8-482F-15D15531C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19" y="1782395"/>
            <a:ext cx="1087016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Established in 1947, the </a:t>
            </a:r>
            <a:r>
              <a:rPr lang="en-US" altLang="en-US" sz="2000" b="1" dirty="0"/>
              <a:t>International Standards Organization (ISO) </a:t>
            </a:r>
            <a:r>
              <a:rPr lang="en-US" altLang="en-US" sz="2000" dirty="0"/>
              <a:t>is a multinational body dedicated to worldwide agreement on international standards. 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An ISO standard that covers all aspects of network communications is the </a:t>
            </a:r>
            <a:r>
              <a:rPr lang="en-US" altLang="en-US" sz="2000" b="1" dirty="0"/>
              <a:t>Open Systems Interconnection (OSI) </a:t>
            </a:r>
            <a:r>
              <a:rPr lang="en-US" altLang="en-US" sz="2000" dirty="0"/>
              <a:t>model. It was first introduced in the late 1970s. 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The OSI model shows how to facilitate communication between different systems without requiring changes to the logic of the underlying hardware and software.</a:t>
            </a:r>
            <a:endParaRPr lang="en-IN" sz="2000" dirty="0"/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387C-65F3-B99D-D192-E90C0C9E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Seven Layers in OSI model</a:t>
            </a:r>
          </a:p>
        </p:txBody>
      </p:sp>
      <p:pic>
        <p:nvPicPr>
          <p:cNvPr id="3" name="Picture 2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B50F13C7-2F79-B787-9BC4-10956D2A8B3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565" y="1073425"/>
            <a:ext cx="8083825" cy="541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6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4A343CE-4796-71DA-B4A5-CFF3846E5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1318726"/>
            <a:ext cx="6965950" cy="516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D3BA155B-9919-EBE7-C8F6-624FA87A9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4279" y="378311"/>
            <a:ext cx="7183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The interaction between layers in the OSI model</a:t>
            </a:r>
          </a:p>
        </p:txBody>
      </p:sp>
    </p:spTree>
    <p:extLst>
      <p:ext uri="{BB962C8B-B14F-4D97-AF65-F5344CB8AC3E}">
        <p14:creationId xmlns:p14="http://schemas.microsoft.com/office/powerpoint/2010/main" val="208078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13F1-7822-C4F1-3381-998CD709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573"/>
          </a:xfrm>
        </p:spPr>
        <p:txBody>
          <a:bodyPr>
            <a:normAutofit/>
          </a:bodyPr>
          <a:lstStyle/>
          <a:p>
            <a:r>
              <a:rPr lang="en-IN" sz="3200" b="1" dirty="0"/>
              <a:t>Peer to Peer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9693-718E-A750-9221-B95F0F1E5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5698"/>
            <a:ext cx="10515600" cy="5141265"/>
          </a:xfrm>
        </p:spPr>
        <p:txBody>
          <a:bodyPr/>
          <a:lstStyle/>
          <a:p>
            <a:pPr algn="just"/>
            <a:r>
              <a:rPr lang="en-US" sz="2400" dirty="0"/>
              <a:t>There is an interface between each pair of adjacent layers. This interface defines what information and services a layer must provide for the layer above it.</a:t>
            </a:r>
            <a:endParaRPr lang="en-IN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Layer 3, for example, uses the services provided by layer 2 and provides services for layer 4.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 Between machines, layer x on one machine communicates with layer x on another machine, by using a protocol (this is Peer-to-Peer Process).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Communication between machines is therefore a peer-to-peer process using protocols appropriate to a given layer.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1367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78B4-0F55-2B0C-FCD3-77EB176C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581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/>
              <a:t>An exchange using the OSI model</a:t>
            </a:r>
            <a:endParaRPr lang="en-IN" sz="3200" b="1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2604113-C750-F96B-F5BF-3D848D145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107" y="1483568"/>
            <a:ext cx="8851219" cy="462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6022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4F4A-1521-3DE9-414E-A63BAC68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1912"/>
          </a:xfrm>
        </p:spPr>
        <p:txBody>
          <a:bodyPr>
            <a:normAutofit/>
          </a:bodyPr>
          <a:lstStyle/>
          <a:p>
            <a:r>
              <a:rPr lang="en-IN" sz="3200" b="1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FF139-4F42-C538-F716-E0C9C804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335"/>
            <a:ext cx="10515600" cy="5038628"/>
          </a:xfrm>
        </p:spPr>
        <p:txBody>
          <a:bodyPr/>
          <a:lstStyle/>
          <a:p>
            <a:r>
              <a:rPr lang="en-US" altLang="en-US" sz="2800" dirty="0"/>
              <a:t>The application layer is responsible for providing services to the user.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FC41FA7-34A6-7362-8437-0537BE6A9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816" y="1679511"/>
            <a:ext cx="8455025" cy="427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752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A680-C9AB-8900-4EA6-14AB690C8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467"/>
          </a:xfrm>
        </p:spPr>
        <p:txBody>
          <a:bodyPr>
            <a:noAutofit/>
          </a:bodyPr>
          <a:lstStyle/>
          <a:p>
            <a:r>
              <a:rPr lang="en-IN" sz="3200" b="1" dirty="0"/>
              <a:t>Responsibilities of 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22F4-00E9-84BE-DB17-65D77978B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881"/>
            <a:ext cx="10515600" cy="4628081"/>
          </a:xfrm>
        </p:spPr>
        <p:txBody>
          <a:bodyPr/>
          <a:lstStyle/>
          <a:p>
            <a:r>
              <a:rPr lang="en-US" dirty="0"/>
              <a:t>It provides user access to network. </a:t>
            </a:r>
          </a:p>
          <a:p>
            <a:r>
              <a:rPr lang="en-US" dirty="0"/>
              <a:t>X.500-Directory service. </a:t>
            </a:r>
          </a:p>
          <a:p>
            <a:r>
              <a:rPr lang="en-US" dirty="0"/>
              <a:t> X.400-Message handling service. </a:t>
            </a:r>
          </a:p>
          <a:p>
            <a:r>
              <a:rPr lang="en-US" dirty="0"/>
              <a:t>FTAM- File Transfer management.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32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7192-668F-45CF-4804-84D92843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606"/>
          </a:xfrm>
        </p:spPr>
        <p:txBody>
          <a:bodyPr>
            <a:normAutofit/>
          </a:bodyPr>
          <a:lstStyle/>
          <a:p>
            <a:r>
              <a:rPr lang="en-IN" sz="3200" b="1" dirty="0"/>
              <a:t>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52A34-677D-E16A-8E0E-765E1BE92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682"/>
            <a:ext cx="10515600" cy="5085281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/>
              <a:t>The presentation layer is responsible for translation, compression, and encryption.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2BFA372-9A4E-8630-4C1D-7330A22B1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84" y="2350440"/>
            <a:ext cx="8418512" cy="286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095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6066-9AE1-8B12-A0B0-551CEAEB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6E3C-B507-1760-541A-41B4B9ED9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931"/>
            <a:ext cx="10515600" cy="47960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Translation: </a:t>
            </a:r>
            <a:r>
              <a:rPr lang="en-US" dirty="0"/>
              <a:t>Interoperability b/w different encoding formats.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Encryption: </a:t>
            </a:r>
            <a:r>
              <a:rPr lang="en-US" dirty="0"/>
              <a:t>Converting plain to cipher text and vice versa.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Compression: </a:t>
            </a:r>
            <a:r>
              <a:rPr lang="en-US" dirty="0"/>
              <a:t>Reducing number of bits in multimedia data when transmitting.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997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8DC0-7A83-6FBB-9CCA-6EE2DBD6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599" cy="502622"/>
          </a:xfrm>
        </p:spPr>
        <p:txBody>
          <a:bodyPr>
            <a:noAutofit/>
          </a:bodyPr>
          <a:lstStyle/>
          <a:p>
            <a:r>
              <a:rPr lang="en-IN" sz="3200" b="1" dirty="0"/>
              <a:t>Session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C0D2-8184-E189-F6B0-7C913148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39" y="1101012"/>
            <a:ext cx="10915261" cy="5075951"/>
          </a:xfrm>
        </p:spPr>
        <p:txBody>
          <a:bodyPr/>
          <a:lstStyle/>
          <a:p>
            <a:r>
              <a:rPr lang="en-US" altLang="en-US" sz="2800" dirty="0"/>
              <a:t>The session layer is responsible for dialog control and synchronization.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BD8704C-E4C5-CFBE-7A37-C9937627A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856" y="1870562"/>
            <a:ext cx="8556625" cy="39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7645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DEC3-5D4F-A8D5-4806-0DCF2A06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573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Session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6D8ED-9580-C2F4-C1C5-E7FF1D229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005"/>
            <a:ext cx="10515600" cy="504795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Dialog Control: </a:t>
            </a:r>
            <a:r>
              <a:rPr lang="en-US" sz="2400" dirty="0"/>
              <a:t>Who’s turn is next? 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Half duplex, Full Duplex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Synchronization:</a:t>
            </a:r>
            <a:r>
              <a:rPr lang="en-US" sz="2400" dirty="0"/>
              <a:t> Adding checkpoints to stream data.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 Ex: System sending 2000 pages. Add check point after each 100th page. So, in case of failure no need to sent whole page.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86234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A15D-1121-8FDA-A3D8-FEE274A6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683A-A3DA-31C1-CE20-9A689E634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665"/>
            <a:ext cx="10515600" cy="4590759"/>
          </a:xfrm>
        </p:spPr>
        <p:txBody>
          <a:bodyPr/>
          <a:lstStyle/>
          <a:p>
            <a:pPr algn="just"/>
            <a:r>
              <a:rPr lang="en-US" sz="2000" dirty="0"/>
              <a:t>The transport layer is responsible for process-to-process or end-end delivery of the entire message. </a:t>
            </a:r>
          </a:p>
          <a:p>
            <a:pPr algn="just"/>
            <a:r>
              <a:rPr lang="en-US" sz="2000" dirty="0"/>
              <a:t> The transport layer ensures that the whole message arrives intact and in order, overseeing both error control and flow control at the process-to-process level.</a:t>
            </a:r>
            <a:endParaRPr lang="en-IN" sz="2000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16CD940-2F5B-A3FE-1194-05D5E1310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985" y="3467100"/>
            <a:ext cx="8693150" cy="302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7545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D85E-ED5A-9CC9-4F80-D1831633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084"/>
            <a:ext cx="10515600" cy="511953"/>
          </a:xfrm>
        </p:spPr>
        <p:txBody>
          <a:bodyPr>
            <a:noAutofit/>
          </a:bodyPr>
          <a:lstStyle/>
          <a:p>
            <a:r>
              <a:rPr lang="en-IN" sz="3200" b="1" dirty="0"/>
              <a:t>Responsibilities of 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938F-18BD-FC4B-9173-F2279C9A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9" y="867698"/>
            <a:ext cx="11224590" cy="512260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Service point addressing: </a:t>
            </a:r>
            <a:r>
              <a:rPr lang="en-US" sz="2000" dirty="0"/>
              <a:t>Computer often run several processes (running programs) at the same time. Process-to-process delivery means delivery from a specific process on one computer to a specific process on the other. </a:t>
            </a:r>
          </a:p>
          <a:p>
            <a:pPr algn="just"/>
            <a:r>
              <a:rPr lang="en-US" sz="2000" dirty="0"/>
              <a:t>The transport layer header include a type of address called </a:t>
            </a:r>
            <a:r>
              <a:rPr lang="en-US" sz="2000" b="1" dirty="0"/>
              <a:t>port address. </a:t>
            </a:r>
          </a:p>
          <a:p>
            <a:pPr algn="just"/>
            <a:r>
              <a:rPr lang="en-US" sz="2000" dirty="0"/>
              <a:t>The network layer gets each packet to the correct computer; the transport layer gets the entire message to the correct process on that computer. </a:t>
            </a:r>
          </a:p>
          <a:p>
            <a:pPr algn="just"/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Segmentation and reassembly: </a:t>
            </a:r>
            <a:r>
              <a:rPr lang="en-US" sz="2000" dirty="0"/>
              <a:t>a message is divided into transmittable segments, each having a sequence number. These numbers enable the transport layer to reassemble the message correctly upon arrival at the destination.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Connection control: </a:t>
            </a:r>
            <a:r>
              <a:rPr lang="en-US" sz="2000" dirty="0"/>
              <a:t>The transport layer can be either connectionless or connection-oriented.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Flow control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000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Error control</a:t>
            </a:r>
            <a:endParaRPr lang="en-IN" sz="2000" b="1" dirty="0"/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36826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E896-32F9-1D80-C217-F29184DF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9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13603-2F78-7D65-22F4-C93678BF0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172"/>
            <a:ext cx="10515600" cy="5299885"/>
          </a:xfrm>
        </p:spPr>
        <p:txBody>
          <a:bodyPr/>
          <a:lstStyle/>
          <a:p>
            <a:pPr algn="just"/>
            <a:r>
              <a:rPr lang="en-US" sz="2400" dirty="0"/>
              <a:t>The network layer is responsible for the delivery of individual packets from the source host to the destination host.</a:t>
            </a:r>
            <a:endParaRPr lang="en-IN" sz="2400" dirty="0"/>
          </a:p>
          <a:p>
            <a:pPr algn="just"/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732E7E1-D78D-F5CA-5C93-1C30C4EEF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93" y="2745049"/>
            <a:ext cx="10515600" cy="353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516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16A1-C28A-0F28-08BB-43EDA1A0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94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Source to Destination Delivery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EFC61B2-3AD7-D7E8-028B-DB144F57A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282" y="1298024"/>
            <a:ext cx="7137918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832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5748-54DF-3C16-E943-89230E2F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953"/>
          </a:xfrm>
        </p:spPr>
        <p:txBody>
          <a:bodyPr>
            <a:noAutofit/>
          </a:bodyPr>
          <a:lstStyle/>
          <a:p>
            <a:r>
              <a:rPr lang="en-IN" sz="3200" b="1" dirty="0"/>
              <a:t>Responsibilities of 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F6F2E-BE30-D734-1E4C-CE144B93E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610"/>
            <a:ext cx="10515600" cy="4351338"/>
          </a:xfrm>
        </p:spPr>
        <p:txBody>
          <a:bodyPr/>
          <a:lstStyle/>
          <a:p>
            <a:pPr algn="just"/>
            <a:r>
              <a:rPr lang="en-US" sz="2400" b="1" dirty="0"/>
              <a:t>Logical addressing: </a:t>
            </a:r>
            <a:r>
              <a:rPr lang="en-US" sz="2400" dirty="0"/>
              <a:t>Physical addressing handle addressing problem locally. </a:t>
            </a:r>
          </a:p>
          <a:p>
            <a:pPr marL="0" indent="0" algn="just">
              <a:buNone/>
            </a:pPr>
            <a:r>
              <a:rPr lang="en-US" sz="2400" dirty="0"/>
              <a:t>	If packet pass the network boundary, we need another addressing called 	logical addressing.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Routing:</a:t>
            </a:r>
            <a:r>
              <a:rPr lang="en-US" sz="2400" dirty="0"/>
              <a:t> Route the packet to final destination.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5765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B68B-C006-671F-5AC8-2249447B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Data link layer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A7D54-B766-2C75-8C4A-35793BF15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004"/>
            <a:ext cx="10515600" cy="5047959"/>
          </a:xfrm>
        </p:spPr>
        <p:txBody>
          <a:bodyPr/>
          <a:lstStyle/>
          <a:p>
            <a:r>
              <a:rPr lang="en-US" sz="2000" dirty="0"/>
              <a:t>It is responsible for node-to-node delivery of data.</a:t>
            </a:r>
          </a:p>
          <a:p>
            <a:r>
              <a:rPr lang="en-US" altLang="en-US" sz="2000" dirty="0"/>
              <a:t>The data link layer is responsible for moving frames from one hop (node) to the next.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4E2C587-AD38-B0A3-64B6-7128E4643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44" y="2691882"/>
            <a:ext cx="8418512" cy="279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857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599B-075B-7359-5209-90C16857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56"/>
            <a:ext cx="10515600" cy="642581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Data link layer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46771-F1DC-66B6-DA26-9D7B37CC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7030"/>
            <a:ext cx="10515600" cy="5038628"/>
          </a:xfrm>
        </p:spPr>
        <p:txBody>
          <a:bodyPr/>
          <a:lstStyle/>
          <a:p>
            <a:pPr algn="just"/>
            <a:r>
              <a:rPr lang="en-US" sz="2000" b="1" dirty="0"/>
              <a:t>Framing:</a:t>
            </a:r>
            <a:r>
              <a:rPr lang="en-US" sz="2000" dirty="0"/>
              <a:t> The data link layer divides the stream of bits received from the network layer into data units called frames.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Physical addressing:</a:t>
            </a:r>
            <a:r>
              <a:rPr lang="en-US" sz="2000" dirty="0"/>
              <a:t> If frames are to be distributed to different systems on the network, the data link layer adds a header to the frame to define the physical address of the sender (source address) and/or receiver (destination address) of the frame.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Flow Control: </a:t>
            </a:r>
            <a:r>
              <a:rPr lang="en-US" sz="2000" dirty="0"/>
              <a:t>If the rate at which the data are absorbed by the receiver is less than the rate produced in the sender, the data link layer imposes a flow control mechanism to prevent overwhelming the receiver.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Error control. </a:t>
            </a:r>
            <a:r>
              <a:rPr lang="en-US" sz="2000" dirty="0"/>
              <a:t>The data link layer adds reliability to the physical layer by adding mechanisms to detect and retransmit damaged or lost frames. Error control is normally achieved through a trailer to the end of the frame.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Access Control. </a:t>
            </a:r>
            <a:r>
              <a:rPr lang="en-US" sz="2000" dirty="0"/>
              <a:t>When two or more devices are connected to the same link, data link layer protocols are necessary to determine which device has control over the link at any time.</a:t>
            </a:r>
            <a:endParaRPr lang="en-IN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7314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EAD3-0B7B-924F-C452-C4AF0B0E8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9770"/>
            <a:ext cx="10515600" cy="633251"/>
          </a:xfrm>
        </p:spPr>
        <p:txBody>
          <a:bodyPr>
            <a:normAutofit/>
          </a:bodyPr>
          <a:lstStyle/>
          <a:p>
            <a:r>
              <a:rPr lang="en-IN" sz="3200" b="1" dirty="0"/>
              <a:t>1. Physical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68C79-694D-9BDE-6248-7CEDC23CD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87624"/>
            <a:ext cx="10972800" cy="4889339"/>
          </a:xfrm>
        </p:spPr>
        <p:txBody>
          <a:bodyPr/>
          <a:lstStyle/>
          <a:p>
            <a:r>
              <a:rPr lang="en-US" dirty="0"/>
              <a:t>The physical layer is responsible for transmitting individual bits from one node to the next.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2662B1A-5145-3218-E345-9DA4C1D14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61" y="2983982"/>
            <a:ext cx="862965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818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B5A6-A446-191F-0021-F8BF7B88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67" y="387738"/>
            <a:ext cx="10515600" cy="586597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Physical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85DFF-AF22-010E-7B68-C295853D5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359"/>
            <a:ext cx="10515600" cy="5122604"/>
          </a:xfrm>
        </p:spPr>
        <p:txBody>
          <a:bodyPr/>
          <a:lstStyle/>
          <a:p>
            <a:pPr algn="just"/>
            <a:r>
              <a:rPr lang="en-US" sz="2000" b="1" dirty="0"/>
              <a:t>Physical characteristics of interfaces and media: </a:t>
            </a:r>
            <a:r>
              <a:rPr lang="en-US" sz="2000" dirty="0"/>
              <a:t>It define the type of transmission media.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Representation of the bits: </a:t>
            </a:r>
            <a:r>
              <a:rPr lang="en-US" sz="2000" dirty="0"/>
              <a:t>the physical layer data consist of a stream of bits(0,1). The transmitted bits must be encoded into signals – electrical or optical. The physical layer defines the type of encoding.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Data rate: </a:t>
            </a:r>
            <a:r>
              <a:rPr lang="en-US" sz="2000" dirty="0"/>
              <a:t>The physical layer defines the transmission rate, the number of bits sent each second.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Line configuration:</a:t>
            </a:r>
            <a:r>
              <a:rPr lang="en-US" sz="2000" dirty="0"/>
              <a:t> Connection of devices to the medium (point-to-point and multipoint configuration)</a:t>
            </a:r>
            <a:endParaRPr lang="en-IN" sz="2000" dirty="0"/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Physical topology: </a:t>
            </a:r>
            <a:r>
              <a:rPr lang="en-US" sz="2000" dirty="0"/>
              <a:t>Mesh, Bus, Star, Ring and Hybrid Topology.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Transmission Mode: </a:t>
            </a:r>
            <a:r>
              <a:rPr lang="en-US" sz="2000" dirty="0"/>
              <a:t>Simplex, Half duplex Full Duplex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77709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60F60-2F9A-0085-D3B4-371052E73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586"/>
            <a:ext cx="10515600" cy="838965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dirty="0"/>
              <a:t>TCP/IP Reference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2BAD9-60E3-D514-D317-88C3FF1CA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1828539"/>
            <a:ext cx="84105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04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4D8BF-F1ED-E456-99B3-BCCBA41D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267"/>
          </a:xfrm>
        </p:spPr>
        <p:txBody>
          <a:bodyPr>
            <a:normAutofit/>
          </a:bodyPr>
          <a:lstStyle/>
          <a:p>
            <a:r>
              <a:rPr lang="en-IN" sz="3200" b="1" dirty="0"/>
              <a:t>TCP/IP PROTOCOL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25B9-B3B8-AE26-BCAB-8C7C9DCBE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392"/>
            <a:ext cx="10515600" cy="5234571"/>
          </a:xfrm>
        </p:spPr>
        <p:txBody>
          <a:bodyPr/>
          <a:lstStyle/>
          <a:p>
            <a:r>
              <a:rPr lang="en-US" altLang="en-US" sz="2800" dirty="0"/>
              <a:t>The layers in the TCP/IP protocol suite do not exactly match those in the OSI model. </a:t>
            </a:r>
          </a:p>
          <a:p>
            <a:endParaRPr lang="en-US" altLang="en-US" sz="2800" dirty="0"/>
          </a:p>
          <a:p>
            <a:r>
              <a:rPr lang="en-US" altLang="en-US" sz="2800" dirty="0"/>
              <a:t>The original TCP/IP protocol suite was defined as having four layers: host-to-network, internet, transport, and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411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DABD-4530-ADC8-C95E-BF88C601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1283"/>
          </a:xfrm>
        </p:spPr>
        <p:txBody>
          <a:bodyPr>
            <a:noAutofit/>
          </a:bodyPr>
          <a:lstStyle/>
          <a:p>
            <a:r>
              <a:rPr lang="en-IN" sz="3200" b="1" dirty="0"/>
              <a:t>TCP/IP Protocol Suite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6B5F37C-339A-61F7-EE20-604A5261E3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565" y="885825"/>
            <a:ext cx="7968869" cy="529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1408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9063-6259-5362-BD70-31904034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/>
          </a:bodyPr>
          <a:lstStyle/>
          <a:p>
            <a:pPr algn="r"/>
            <a:r>
              <a:rPr lang="en-IN" sz="1400" dirty="0"/>
              <a:t>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45C4-5323-E564-EEDD-64D704C1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8416"/>
            <a:ext cx="10515600" cy="5318547"/>
          </a:xfrm>
        </p:spPr>
        <p:txBody>
          <a:bodyPr/>
          <a:lstStyle/>
          <a:p>
            <a:r>
              <a:rPr lang="en-US" altLang="en-US" sz="2800" dirty="0"/>
              <a:t>Four levels of addresses are used in an internet employing the TCP/IP protocols: physical, logical, port, and specific.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3355D95F-5585-D4E1-9868-A1ACF03A8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844" y="2430462"/>
            <a:ext cx="7834312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43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5C7B-4070-6B6E-C876-8D46E88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204"/>
          </a:xfrm>
        </p:spPr>
        <p:txBody>
          <a:bodyPr/>
          <a:lstStyle/>
          <a:p>
            <a:r>
              <a:rPr lang="en-IN" dirty="0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8416-ED57-5983-32C0-E116E2A4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330"/>
            <a:ext cx="10515600" cy="555796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How many layers are there present in TCP/IP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latin typeface="system-ui"/>
              </a:rPr>
              <a:t>4	</a:t>
            </a:r>
            <a:r>
              <a:rPr lang="en-US" sz="2400" dirty="0">
                <a:solidFill>
                  <a:srgbClr val="212529"/>
                </a:solidFill>
                <a:latin typeface="system-ui"/>
              </a:rPr>
              <a:t>	  b.5		      c.6			d.7</a:t>
            </a:r>
          </a:p>
          <a:p>
            <a:pPr marL="0" indent="0">
              <a:buNone/>
            </a:pPr>
            <a:endParaRPr lang="en-US" sz="2400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2.     How many layers are there present in OSI Reference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solidFill>
                  <a:srgbClr val="212529"/>
                </a:solidFill>
                <a:latin typeface="system-ui"/>
              </a:rPr>
              <a:t>4		  b.5		      c.6			</a:t>
            </a:r>
            <a:r>
              <a:rPr lang="en-US" sz="2400" dirty="0">
                <a:latin typeface="system-ui"/>
              </a:rPr>
              <a:t>d.7</a:t>
            </a:r>
          </a:p>
          <a:p>
            <a:pPr marL="514350" indent="-514350">
              <a:buAutoNum type="alphaLcPeriod"/>
            </a:pP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3. The application layer provides network services to __________.</a:t>
            </a: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A. End-user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B. Ethernet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C. Packet transport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D. All of the above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514350" indent="-514350">
              <a:buAutoNum type="alphaLcPeriod"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IN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802596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5C7B-4070-6B6E-C876-8D46E88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204"/>
          </a:xfrm>
        </p:spPr>
        <p:txBody>
          <a:bodyPr/>
          <a:lstStyle/>
          <a:p>
            <a:r>
              <a:rPr lang="en-IN" dirty="0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8416-ED57-5983-32C0-E116E2A4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330"/>
            <a:ext cx="10515600" cy="555796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How many layers are there present in TCP/IP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solidFill>
                  <a:srgbClr val="00B0F0"/>
                </a:solidFill>
                <a:latin typeface="system-ui"/>
              </a:rPr>
              <a:t>4</a:t>
            </a:r>
            <a:r>
              <a:rPr lang="en-US" sz="2400" dirty="0">
                <a:solidFill>
                  <a:srgbClr val="212529"/>
                </a:solidFill>
                <a:latin typeface="system-ui"/>
              </a:rPr>
              <a:t>		  b.5		      c.6			d.7</a:t>
            </a:r>
          </a:p>
          <a:p>
            <a:pPr marL="0" indent="0">
              <a:buNone/>
            </a:pPr>
            <a:endParaRPr lang="en-US" sz="2400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2.     How many layers are there present in OSI Reference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solidFill>
                  <a:srgbClr val="212529"/>
                </a:solidFill>
                <a:latin typeface="system-ui"/>
              </a:rPr>
              <a:t>4		  b.5		      c.6			</a:t>
            </a:r>
            <a:r>
              <a:rPr lang="en-US" sz="2400" dirty="0">
                <a:solidFill>
                  <a:srgbClr val="00B0F0"/>
                </a:solidFill>
                <a:latin typeface="system-ui"/>
              </a:rPr>
              <a:t>d.7</a:t>
            </a:r>
          </a:p>
          <a:p>
            <a:pPr marL="514350" indent="-514350">
              <a:buAutoNum type="alphaLcPeriod"/>
            </a:pP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3. The application layer provides network services to __________.</a:t>
            </a: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A. End-user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B. Ethernet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C. Packet transport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D. </a:t>
            </a:r>
            <a:r>
              <a:rPr lang="en-US" sz="2400" dirty="0">
                <a:solidFill>
                  <a:srgbClr val="00B0F0"/>
                </a:solidFill>
                <a:latin typeface="system-ui"/>
              </a:rPr>
              <a:t>All of the above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514350" indent="-514350">
              <a:buAutoNum type="alphaLcPeriod"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IN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608431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208B-851B-C8D7-0E4D-6A8A555C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5647" y="365125"/>
            <a:ext cx="628153" cy="315912"/>
          </a:xfrm>
        </p:spPr>
        <p:txBody>
          <a:bodyPr/>
          <a:lstStyle/>
          <a:p>
            <a:r>
              <a:rPr lang="en-IN" sz="800" dirty="0"/>
              <a:t>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F74A-14E0-715D-6DAB-3CEFE9B0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2" y="365125"/>
            <a:ext cx="10515600" cy="589191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4.The network layer is used to __________.</a:t>
            </a:r>
          </a:p>
          <a:p>
            <a:pPr marL="0" indent="0">
              <a:buNone/>
            </a:pPr>
            <a:r>
              <a:rPr lang="en-US" sz="2400" dirty="0"/>
              <a:t>A. Transfer packet from source to destination</a:t>
            </a:r>
          </a:p>
          <a:p>
            <a:pPr marL="0" indent="0">
              <a:buNone/>
            </a:pPr>
            <a:r>
              <a:rPr lang="en-US" sz="2400" dirty="0"/>
              <a:t>B. Delimit and synchronize data</a:t>
            </a:r>
          </a:p>
          <a:p>
            <a:pPr marL="0" indent="0">
              <a:buNone/>
            </a:pPr>
            <a:r>
              <a:rPr lang="en-US" sz="2400" dirty="0"/>
              <a:t>C. Transfer data frames</a:t>
            </a:r>
          </a:p>
          <a:p>
            <a:pPr marL="0" indent="0">
              <a:buNone/>
            </a:pPr>
            <a:r>
              <a:rPr lang="en-US" sz="2400" dirty="0"/>
              <a:t>D. All of the above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5. Which of the following layers is used to track the location of the device on the network?</a:t>
            </a:r>
          </a:p>
          <a:p>
            <a:pPr marL="0" indent="0">
              <a:buNone/>
            </a:pPr>
            <a:r>
              <a:rPr lang="en-US" sz="2400" dirty="0"/>
              <a:t>A. Session layer</a:t>
            </a:r>
          </a:p>
          <a:p>
            <a:pPr marL="0" indent="0">
              <a:buNone/>
            </a:pPr>
            <a:r>
              <a:rPr lang="en-US" sz="2400" dirty="0"/>
              <a:t>B. Transport layer</a:t>
            </a:r>
          </a:p>
          <a:p>
            <a:pPr marL="0" indent="0">
              <a:buNone/>
            </a:pPr>
            <a:r>
              <a:rPr lang="en-US" sz="2400" dirty="0"/>
              <a:t>C. Network Layer</a:t>
            </a:r>
          </a:p>
          <a:p>
            <a:pPr marL="0" indent="0">
              <a:buNone/>
            </a:pPr>
            <a:r>
              <a:rPr lang="en-US" sz="2400" dirty="0"/>
              <a:t>D. Datalink layer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87031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208B-851B-C8D7-0E4D-6A8A555C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5647" y="365125"/>
            <a:ext cx="628153" cy="315912"/>
          </a:xfrm>
        </p:spPr>
        <p:txBody>
          <a:bodyPr/>
          <a:lstStyle/>
          <a:p>
            <a:r>
              <a:rPr lang="en-IN" sz="800" dirty="0"/>
              <a:t>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F74A-14E0-715D-6DAB-3CEFE9B0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76" y="365125"/>
            <a:ext cx="10515600" cy="589191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4.The network layer is used to __________.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A. Transfer packet from source to destination</a:t>
            </a:r>
          </a:p>
          <a:p>
            <a:pPr marL="0" indent="0">
              <a:buNone/>
            </a:pPr>
            <a:r>
              <a:rPr lang="en-US" sz="2400" dirty="0"/>
              <a:t>B. Delimit and synchronize data</a:t>
            </a:r>
          </a:p>
          <a:p>
            <a:pPr marL="0" indent="0">
              <a:buNone/>
            </a:pPr>
            <a:r>
              <a:rPr lang="en-US" sz="2400" dirty="0"/>
              <a:t>C. Transfer data frames</a:t>
            </a:r>
          </a:p>
          <a:p>
            <a:pPr marL="0" indent="0">
              <a:buNone/>
            </a:pPr>
            <a:r>
              <a:rPr lang="en-US" sz="2400" dirty="0"/>
              <a:t>D. All of the above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5. Which of the following layers is used to track the location of the device on the network?</a:t>
            </a:r>
          </a:p>
          <a:p>
            <a:pPr marL="0" indent="0">
              <a:buNone/>
            </a:pPr>
            <a:r>
              <a:rPr lang="en-US" sz="2400" dirty="0"/>
              <a:t>A. Session layer</a:t>
            </a:r>
          </a:p>
          <a:p>
            <a:pPr marL="0" indent="0">
              <a:buNone/>
            </a:pPr>
            <a:r>
              <a:rPr lang="en-US" sz="2400" dirty="0"/>
              <a:t>B. </a:t>
            </a:r>
            <a:r>
              <a:rPr lang="en-US" sz="2400" dirty="0">
                <a:solidFill>
                  <a:srgbClr val="00B0F0"/>
                </a:solidFill>
              </a:rPr>
              <a:t>Transport layer</a:t>
            </a:r>
          </a:p>
          <a:p>
            <a:pPr marL="0" indent="0">
              <a:buNone/>
            </a:pPr>
            <a:r>
              <a:rPr lang="en-US" sz="2400" dirty="0"/>
              <a:t>C. Application Layer</a:t>
            </a:r>
          </a:p>
          <a:p>
            <a:pPr marL="0" indent="0">
              <a:buNone/>
            </a:pPr>
            <a:r>
              <a:rPr lang="en-US" sz="2400" dirty="0"/>
              <a:t>D. Datalink layer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47160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26566"/>
            <a:ext cx="5426844" cy="47314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Layered Architecture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OSI Reference Model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TCP/IP Reference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1A6E623D-BF52-6CE8-7DF9-98E41C00C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F5AC92A-328E-35D9-8A83-66295DF01654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5283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255348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</a:t>
            </a:r>
            <a:r>
              <a:rPr lang="en-US" sz="2000" dirty="0"/>
              <a:t>Describe the need for Layered Architecture.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Describe in detail the functionalities of each layer in OSI Reference model.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3. Illustrate TCP/IP Reference Model.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4. Differentiate OSI and TCP/IP models.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https://www.geeksforgeeks.org/layers-of-osi-model/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21767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/>
                <a:cs typeface="Poppins"/>
              </a:rPr>
              <a:t>Team – Computer Networks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Sessionwise PPT</Template>
  <TotalTime>337</TotalTime>
  <Words>1629</Words>
  <Application>Microsoft Office PowerPoint</Application>
  <PresentationFormat>Widescreen</PresentationFormat>
  <Paragraphs>203</Paragraphs>
  <Slides>35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Seven Layers in OSI model</vt:lpstr>
      <vt:lpstr>PowerPoint Presentation</vt:lpstr>
      <vt:lpstr>Peer to Peer Process</vt:lpstr>
      <vt:lpstr>An exchange using the OSI model</vt:lpstr>
      <vt:lpstr>Application Layer</vt:lpstr>
      <vt:lpstr>Responsibilities of Application Layer</vt:lpstr>
      <vt:lpstr>Presentation Layer</vt:lpstr>
      <vt:lpstr>Responsibilities of Presentation Layer</vt:lpstr>
      <vt:lpstr>Session layer</vt:lpstr>
      <vt:lpstr>Responsibilities of Session Layer</vt:lpstr>
      <vt:lpstr>Transport Layer</vt:lpstr>
      <vt:lpstr>Responsibilities of Transport Layer</vt:lpstr>
      <vt:lpstr>Network Layer</vt:lpstr>
      <vt:lpstr>Source to Destination Delivery</vt:lpstr>
      <vt:lpstr>Responsibilities of Network Layer</vt:lpstr>
      <vt:lpstr>Data link layer</vt:lpstr>
      <vt:lpstr>Responsibilities of Data link layer</vt:lpstr>
      <vt:lpstr>1. Physical Layer</vt:lpstr>
      <vt:lpstr>Responsibilities of Physical Layer</vt:lpstr>
      <vt:lpstr>PowerPoint Presentation</vt:lpstr>
      <vt:lpstr>TCP/IP PROTOCOL SUITE</vt:lpstr>
      <vt:lpstr>TCP/IP Protocol Suite</vt:lpstr>
      <vt:lpstr>CONTD</vt:lpstr>
      <vt:lpstr>Test Your Understanding</vt:lpstr>
      <vt:lpstr>Test Your Understanding</vt:lpstr>
      <vt:lpstr>CONTD</vt:lpstr>
      <vt:lpstr>CONTD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roshini arumugham</dc:creator>
  <cp:lastModifiedBy>Ch Ramaiah</cp:lastModifiedBy>
  <cp:revision>28</cp:revision>
  <dcterms:created xsi:type="dcterms:W3CDTF">2022-11-11T09:05:33Z</dcterms:created>
  <dcterms:modified xsi:type="dcterms:W3CDTF">2025-07-14T11:05:05Z</dcterms:modified>
</cp:coreProperties>
</file>