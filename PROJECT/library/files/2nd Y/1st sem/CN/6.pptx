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0"/>
  </p:notesMasterIdLst>
  <p:sldIdLst>
    <p:sldId id="271" r:id="rId5"/>
    <p:sldId id="300" r:id="rId6"/>
    <p:sldId id="276" r:id="rId7"/>
    <p:sldId id="314" r:id="rId8"/>
    <p:sldId id="316" r:id="rId9"/>
    <p:sldId id="325" r:id="rId10"/>
    <p:sldId id="317" r:id="rId11"/>
    <p:sldId id="318" r:id="rId12"/>
    <p:sldId id="319" r:id="rId13"/>
    <p:sldId id="320" r:id="rId14"/>
    <p:sldId id="321" r:id="rId15"/>
    <p:sldId id="322" r:id="rId16"/>
    <p:sldId id="323" r:id="rId17"/>
    <p:sldId id="324" r:id="rId18"/>
    <p:sldId id="326" r:id="rId19"/>
    <p:sldId id="327" r:id="rId20"/>
    <p:sldId id="328" r:id="rId21"/>
    <p:sldId id="329" r:id="rId22"/>
    <p:sldId id="330" r:id="rId23"/>
    <p:sldId id="331" r:id="rId24"/>
    <p:sldId id="311" r:id="rId25"/>
    <p:sldId id="332" r:id="rId26"/>
    <p:sldId id="287" r:id="rId27"/>
    <p:sldId id="303" r:id="rId28"/>
    <p:sldId id="30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  <a:srgbClr val="CF2F33"/>
    <a:srgbClr val="BA2532"/>
    <a:srgbClr val="FF9900"/>
    <a:srgbClr val="E84845"/>
    <a:srgbClr val="FAD2D2"/>
    <a:srgbClr val="F89E4C"/>
    <a:srgbClr val="A81E24"/>
    <a:srgbClr val="FFF2CC"/>
    <a:srgbClr val="E32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15D116-8EEA-3CA1-D50E-88BD8FDEE120}" v="44" dt="2025-07-14T11:08:12.471"/>
  </p1510:revLst>
</p1510:revInfo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9"/>
  </p:normalViewPr>
  <p:slideViewPr>
    <p:cSldViewPr snapToGrid="0">
      <p:cViewPr varScale="1">
        <p:scale>
          <a:sx n="65" d="100"/>
          <a:sy n="65" d="100"/>
        </p:scale>
        <p:origin x="91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shar Kanti De" userId="S::vit.tushar@kluniversity.in::7b4f7e15-ba50-4f9a-a6ae-1e38b5a8a216" providerId="AD" clId="Web-{0115D116-8EEA-3CA1-D50E-88BD8FDEE120}"/>
    <pc:docChg chg="modSld">
      <pc:chgData name="Tushar Kanti De" userId="S::vit.tushar@kluniversity.in::7b4f7e15-ba50-4f9a-a6ae-1e38b5a8a216" providerId="AD" clId="Web-{0115D116-8EEA-3CA1-D50E-88BD8FDEE120}" dt="2025-07-14T11:08:10.643" v="19" actId="20577"/>
      <pc:docMkLst>
        <pc:docMk/>
      </pc:docMkLst>
      <pc:sldChg chg="modSp">
        <pc:chgData name="Tushar Kanti De" userId="S::vit.tushar@kluniversity.in::7b4f7e15-ba50-4f9a-a6ae-1e38b5a8a216" providerId="AD" clId="Web-{0115D116-8EEA-3CA1-D50E-88BD8FDEE120}" dt="2025-07-14T11:08:00.783" v="7" actId="20577"/>
        <pc:sldMkLst>
          <pc:docMk/>
          <pc:sldMk cId="0" sldId="271"/>
        </pc:sldMkLst>
        <pc:spChg chg="mod">
          <ac:chgData name="Tushar Kanti De" userId="S::vit.tushar@kluniversity.in::7b4f7e15-ba50-4f9a-a6ae-1e38b5a8a216" providerId="AD" clId="Web-{0115D116-8EEA-3CA1-D50E-88BD8FDEE120}" dt="2025-07-14T11:08:00.783" v="7" actId="20577"/>
          <ac:spMkLst>
            <pc:docMk/>
            <pc:sldMk cId="0" sldId="271"/>
            <ac:spMk id="476" creationId="{00000000-0000-0000-0000-000000000000}"/>
          </ac:spMkLst>
        </pc:spChg>
      </pc:sldChg>
      <pc:sldChg chg="modSp">
        <pc:chgData name="Tushar Kanti De" userId="S::vit.tushar@kluniversity.in::7b4f7e15-ba50-4f9a-a6ae-1e38b5a8a216" providerId="AD" clId="Web-{0115D116-8EEA-3CA1-D50E-88BD8FDEE120}" dt="2025-07-14T11:08:10.643" v="19" actId="20577"/>
        <pc:sldMkLst>
          <pc:docMk/>
          <pc:sldMk cId="0" sldId="304"/>
        </pc:sldMkLst>
        <pc:spChg chg="mod">
          <ac:chgData name="Tushar Kanti De" userId="S::vit.tushar@kluniversity.in::7b4f7e15-ba50-4f9a-a6ae-1e38b5a8a216" providerId="AD" clId="Web-{0115D116-8EEA-3CA1-D50E-88BD8FDEE120}" dt="2025-07-14T11:08:10.643" v="19" actId="20577"/>
          <ac:spMkLst>
            <pc:docMk/>
            <pc:sldMk cId="0" sldId="304"/>
            <ac:spMk id="4" creationId="{E792BE84-3448-2348-B352-CD5BC083E5FD}"/>
          </ac:spMkLst>
        </pc:spChg>
      </pc:sldChg>
    </pc:docChg>
  </pc:docChgLst>
  <pc:docChgLst>
    <pc:chgData clId="Web-{0115D116-8EEA-3CA1-D50E-88BD8FDEE120}"/>
    <pc:docChg chg="modSld">
      <pc:chgData name="" userId="" providerId="" clId="Web-{0115D116-8EEA-3CA1-D50E-88BD8FDEE120}" dt="2025-07-14T11:07:48.892" v="6" actId="20577"/>
      <pc:docMkLst>
        <pc:docMk/>
      </pc:docMkLst>
      <pc:sldChg chg="modSp">
        <pc:chgData name="" userId="" providerId="" clId="Web-{0115D116-8EEA-3CA1-D50E-88BD8FDEE120}" dt="2025-07-14T11:07:48.892" v="6" actId="20577"/>
        <pc:sldMkLst>
          <pc:docMk/>
          <pc:sldMk cId="0" sldId="271"/>
        </pc:sldMkLst>
        <pc:spChg chg="mod">
          <ac:chgData name="" userId="" providerId="" clId="Web-{0115D116-8EEA-3CA1-D50E-88BD8FDEE120}" dt="2025-07-14T11:07:48.892" v="6" actId="20577"/>
          <ac:spMkLst>
            <pc:docMk/>
            <pc:sldMk cId="0" sldId="271"/>
            <ac:spMk id="47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7/14/2025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877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039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8017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1267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65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7403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0382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7092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1855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7147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2538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514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6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1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7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5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97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5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2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892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F4508AD-1BA8-6D49-AD89-BB8C58C99DD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AD2B12-09F5-6D4A-9C1D-AFF6A38F62B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F43C-0ACD-CF48-BDDC-4CA06CD195D7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62684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data_communication_computer_network/computer_network_topologies.htm" TargetMode="External"/><Relationship Id="rId2" Type="http://schemas.openxmlformats.org/officeDocument/2006/relationships/hyperlink" Target="https://www.geeksforgeeks.org/types-of-transmission-technology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www.javatpoint.com/computer-network-transmission-modes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184475" y="1933408"/>
            <a:ext cx="7112528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200" b="1" cap="all" dirty="0">
                <a:ln/>
                <a:solidFill>
                  <a:srgbClr val="C00000"/>
                </a:solidFill>
                <a:cs typeface="Poppins"/>
                <a:sym typeface="BioRhyme ExtraBold"/>
              </a:rPr>
              <a:t>COMPUTER NETWORKS</a:t>
            </a:r>
            <a:endParaRPr lang="en-US" sz="3200" b="1" cap="all" dirty="0">
              <a:ln/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/>
                <a:sym typeface="BioRhyme ExtraBold"/>
              </a:rPr>
              <a:t>24CS2202</a:t>
            </a:r>
            <a:endParaRPr lang="en-US" sz="3200" b="1" cap="all" dirty="0">
              <a:ln/>
              <a:solidFill>
                <a:srgbClr val="C00000"/>
              </a:solidFill>
              <a:ea typeface="Calibri"/>
              <a:cs typeface="Poppins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ln/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Guided and unguided media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728171" y="5086527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- 8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914400" y="684469"/>
            <a:ext cx="10731286" cy="79611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</a:t>
            </a:r>
            <a:r>
              <a:rPr lang="en-US" sz="1600" dirty="0">
                <a:latin typeface="Poppins"/>
                <a:cs typeface="Poppins"/>
              </a:rPr>
              <a:t>different transmission media in Computer networks.</a:t>
            </a:r>
            <a:endParaRPr lang="en-US" sz="1600" b="0" i="0" dirty="0">
              <a:effectLst/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8791575" cy="10772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different guided transmission media. 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/>
                <a:cs typeface="Arial"/>
              </a:rPr>
              <a:t>Describe different unguided transmission media.</a:t>
            </a:r>
            <a:endParaRPr lang="en-US" sz="1600" dirty="0">
              <a:latin typeface="Arial"/>
              <a:cs typeface="Arial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9157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180507" y="4781915"/>
            <a:ext cx="10199071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Describe </a:t>
            </a:r>
            <a:r>
              <a:rPr lang="en-IN" sz="1600" dirty="0">
                <a:latin typeface="Arial" panose="020B0604020202020204" pitchFamily="34" charset="0"/>
              </a:rPr>
              <a:t>guided and unguided transmission media</a:t>
            </a:r>
            <a:r>
              <a:rPr lang="en-US" sz="1600" dirty="0">
                <a:latin typeface="Arial" panose="020B0604020202020204" pitchFamily="34" charset="0"/>
              </a:rPr>
              <a:t>.</a:t>
            </a:r>
            <a:endParaRPr lang="en-IN" sz="1600" dirty="0">
              <a:latin typeface="Arial" panose="020B0604020202020204" pitchFamily="34" charset="0"/>
            </a:endParaRPr>
          </a:p>
          <a:p>
            <a:pPr marL="342900" lvl="0" indent="-342900" fontAlgn="base">
              <a:buFont typeface="Wingdings" pitchFamily="2" charset="2"/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Understand the characteristics of twisted, untwisted, coaxial cable and fiber optic cables.</a:t>
            </a:r>
            <a:endParaRPr lang="en-IN" sz="1600" dirty="0">
              <a:latin typeface="Arial" panose="020B0604020202020204" pitchFamily="34" charset="0"/>
            </a:endParaRPr>
          </a:p>
          <a:p>
            <a:pPr marL="342900" lvl="0" indent="-342900" fontAlgn="base">
              <a:buFont typeface="Wingdings" pitchFamily="2" charset="2"/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Understand characteristics of radio, microwave and infrared waves and explain how they transmit data.</a:t>
            </a:r>
            <a:endParaRPr lang="en-IN" sz="1600" dirty="0">
              <a:latin typeface="Arial" panose="020B0604020202020204" pitchFamily="34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137158" y="1257300"/>
            <a:ext cx="11464292" cy="4845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42925" indent="-36195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Goudy Old Style" panose="02020502050305020303" pitchFamily="18" charset="0"/>
              </a:rPr>
              <a:t>Transmission media are located below the physical layer and are directly controlled by the physical layer. </a:t>
            </a:r>
          </a:p>
          <a:p>
            <a:pPr marL="542925" indent="-361950" algn="just">
              <a:buFont typeface="Arial" panose="020B0604020202020204" pitchFamily="34" charset="0"/>
              <a:buChar char="•"/>
            </a:pPr>
            <a:endParaRPr lang="en-US" sz="2200" dirty="0">
              <a:latin typeface="Goudy Old Style" panose="02020502050305020303" pitchFamily="18" charset="0"/>
            </a:endParaRPr>
          </a:p>
          <a:p>
            <a:pPr marL="542925" indent="-3619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200" dirty="0">
                <a:latin typeface="Goudy Old Style" panose="02020502050305020303" pitchFamily="18" charset="0"/>
              </a:rPr>
              <a:t>Its main functionality is to carry information from the sender to the receiver in the form of bits (Either as   Electrical signals or Light pulses). </a:t>
            </a:r>
          </a:p>
          <a:p>
            <a:endParaRPr lang="en-US" sz="2400" dirty="0">
              <a:latin typeface="Goudy Old Style" panose="02020502050305020303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TRANSMISSION MEDIA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FC19EFD-B84B-3D3D-AAB0-AAE72A67CA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81250" y="4080893"/>
            <a:ext cx="7876084" cy="1801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224879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137158" y="1257300"/>
            <a:ext cx="11464292" cy="4845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80975" algn="just"/>
            <a:r>
              <a:rPr lang="en-US" sz="2200" b="1" u="sng" dirty="0">
                <a:solidFill>
                  <a:srgbClr val="C00000"/>
                </a:solidFill>
                <a:latin typeface="Goudy Old Style" panose="02020502050305020303" pitchFamily="18" charset="0"/>
              </a:rPr>
              <a:t>Factors for designing the Transmission Media:</a:t>
            </a:r>
          </a:p>
          <a:p>
            <a:pPr marL="180975" algn="just"/>
            <a:endParaRPr lang="en-US" sz="2200" b="1" dirty="0">
              <a:solidFill>
                <a:srgbClr val="C00000"/>
              </a:solidFill>
              <a:latin typeface="Goudy Old Style" panose="02020502050305020303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Bandwidth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Greater the bandwidth of a medium, higher the data transmission rate of a signal.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Transmission impairment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quality of the signals will get destroyed due to transmission impairment which means that the received signal is not identical to the transmitted one.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Interference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process of disrupting a signal when it travels over a communication medium due to the addition of some unwanted signal.</a:t>
            </a:r>
          </a:p>
          <a:p>
            <a:pPr marL="542925" indent="-361950" algn="just">
              <a:buFont typeface="Arial" panose="020B0604020202020204" pitchFamily="34" charset="0"/>
              <a:buChar char="•"/>
            </a:pPr>
            <a:endParaRPr lang="en-US" sz="2000" dirty="0">
              <a:latin typeface="Goudy Old Style" panose="02020502050305020303" pitchFamily="18" charset="0"/>
            </a:endParaRPr>
          </a:p>
          <a:p>
            <a:pPr marL="542925" indent="-361950" algn="just">
              <a:buFont typeface="Arial" panose="020B0604020202020204" pitchFamily="34" charset="0"/>
              <a:buChar char="•"/>
            </a:pPr>
            <a:endParaRPr lang="en-US" sz="2200" dirty="0">
              <a:latin typeface="Goudy Old Style" panose="02020502050305020303" pitchFamily="18" charset="0"/>
            </a:endParaRPr>
          </a:p>
          <a:p>
            <a:pPr marL="542925" indent="-361950" algn="just">
              <a:buFont typeface="Arial" panose="020B0604020202020204" pitchFamily="34" charset="0"/>
              <a:buChar char="•"/>
            </a:pPr>
            <a:endParaRPr lang="en-US" sz="2200" dirty="0">
              <a:latin typeface="Goudy Old Style" panose="02020502050305020303" pitchFamily="18" charset="0"/>
            </a:endParaRPr>
          </a:p>
          <a:p>
            <a:endParaRPr lang="en-US" sz="2400" dirty="0">
              <a:latin typeface="Goudy Old Style" panose="02020502050305020303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TRANSMISSION MEDIA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70339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085835" y="268688"/>
            <a:ext cx="6210565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CLASSIFICATION OF TRANSMISSION MEDIA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AF0692-1830-6AF2-80FD-C74D713D1E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90725" y="1481524"/>
            <a:ext cx="8577398" cy="4172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81102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FD99B80-3BAB-770C-AB56-6DBBF9C92432}"/>
              </a:ext>
            </a:extLst>
          </p:cNvPr>
          <p:cNvSpPr txBox="1"/>
          <p:nvPr/>
        </p:nvSpPr>
        <p:spPr>
          <a:xfrm>
            <a:off x="3114675" y="2529959"/>
            <a:ext cx="6096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dirty="0">
                <a:solidFill>
                  <a:srgbClr val="C00000"/>
                </a:solidFill>
              </a:rPr>
              <a:t>GUIDED MEDIA </a:t>
            </a:r>
          </a:p>
        </p:txBody>
      </p:sp>
    </p:spTree>
    <p:extLst>
      <p:ext uri="{BB962C8B-B14F-4D97-AF65-F5344CB8AC3E}">
        <p14:creationId xmlns:p14="http://schemas.microsoft.com/office/powerpoint/2010/main" val="4122515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137158" y="1257300"/>
            <a:ext cx="11464292" cy="4845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Media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defined as the physical medium through which the signals are transmitted.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also known as </a:t>
            </a:r>
            <a:r>
              <a:rPr lang="en-US" sz="2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Bounded media.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1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1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Guided media: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Twisted pair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Coaxial Cable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Fiber-Optic Cable </a:t>
            </a:r>
          </a:p>
          <a:p>
            <a:pPr marL="180975" algn="just"/>
            <a:endParaRPr lang="en-US" sz="2200" dirty="0">
              <a:latin typeface="Goudy Old Style" panose="02020502050305020303" pitchFamily="18" charset="0"/>
            </a:endParaRPr>
          </a:p>
          <a:p>
            <a:pPr marL="542925" indent="-361950" algn="just">
              <a:buFont typeface="Arial" panose="020B0604020202020204" pitchFamily="34" charset="0"/>
              <a:buChar char="•"/>
            </a:pPr>
            <a:endParaRPr lang="en-US" sz="2200" dirty="0">
              <a:latin typeface="Goudy Old Style" panose="02020502050305020303" pitchFamily="18" charset="0"/>
            </a:endParaRPr>
          </a:p>
          <a:p>
            <a:endParaRPr lang="en-US" sz="2400" dirty="0">
              <a:latin typeface="Goudy Old Style" panose="02020502050305020303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GUIDED MEDIA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04505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194308" y="752475"/>
            <a:ext cx="11464292" cy="5073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Twisted Pair:</a:t>
            </a:r>
          </a:p>
          <a:p>
            <a:endParaRPr lang="en-US" sz="21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Twisted pair is a physical media made up of a pair of cables twisted with each other.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Cheap as compared to other transmission media.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Installation is easy, and it is a lightweight cable.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frequency range for twisted pair cable is from 0 to 3.5KHz.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twisted pair consists of two insulated copper wires arranged in a regular spiral pattern.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the number of turns per foot decreases noise interference.</a:t>
            </a:r>
          </a:p>
          <a:p>
            <a:pPr marL="180975" algn="just"/>
            <a:endParaRPr lang="en-US" sz="2200" dirty="0">
              <a:latin typeface="Goudy Old Style" panose="02020502050305020303" pitchFamily="18" charset="0"/>
            </a:endParaRPr>
          </a:p>
          <a:p>
            <a:pPr marL="542925" indent="-361950" algn="just">
              <a:buFont typeface="Arial" panose="020B0604020202020204" pitchFamily="34" charset="0"/>
              <a:buChar char="•"/>
            </a:pPr>
            <a:endParaRPr lang="en-US" sz="2200" dirty="0">
              <a:latin typeface="Goudy Old Style" panose="02020502050305020303" pitchFamily="18" charset="0"/>
            </a:endParaRPr>
          </a:p>
          <a:p>
            <a:endParaRPr lang="en-US" sz="2400" dirty="0">
              <a:latin typeface="Goudy Old Style" panose="02020502050305020303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GUIDED MEDIA : Twisted Pair 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30A0CB6-5E48-3EC4-83FE-50CF47FD9C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26029" y="5267325"/>
            <a:ext cx="6800849" cy="100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31486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194307" y="1133475"/>
            <a:ext cx="6673217" cy="53191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Twisted Pairs:</a:t>
            </a:r>
          </a:p>
          <a:p>
            <a:endParaRPr lang="en-US" sz="21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1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Unshielded Twisted Pair: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unshielded twisted pair is widely used in telecommunication. </a:t>
            </a:r>
          </a:p>
          <a:p>
            <a:pPr marL="542925" indent="-361950" algn="just">
              <a:buFont typeface="Arial" panose="020B0604020202020204" pitchFamily="34" charset="0"/>
              <a:buChar char="•"/>
            </a:pPr>
            <a:endParaRPr lang="en-US" sz="2200" dirty="0">
              <a:latin typeface="Goudy Old Style" panose="02020502050305020303" pitchFamily="18" charset="0"/>
            </a:endParaRPr>
          </a:p>
          <a:p>
            <a:pPr marL="542925" indent="-361950" algn="just">
              <a:buFont typeface="Arial" panose="020B0604020202020204" pitchFamily="34" charset="0"/>
              <a:buChar char="•"/>
            </a:pPr>
            <a:endParaRPr lang="en-US" sz="2200" dirty="0">
              <a:latin typeface="Goudy Old Style" panose="02020502050305020303" pitchFamily="18" charset="0"/>
            </a:endParaRPr>
          </a:p>
          <a:p>
            <a:pPr marL="542925" indent="-361950" algn="just">
              <a:buFont typeface="Arial" panose="020B0604020202020204" pitchFamily="34" charset="0"/>
              <a:buChar char="•"/>
            </a:pPr>
            <a:endParaRPr lang="en-US" sz="2200" dirty="0">
              <a:latin typeface="Goudy Old Style" panose="02020502050305020303" pitchFamily="18" charset="0"/>
            </a:endParaRPr>
          </a:p>
          <a:p>
            <a:pPr marL="542925" indent="-361950" algn="just">
              <a:buFont typeface="Arial" panose="020B0604020202020204" pitchFamily="34" charset="0"/>
              <a:buChar char="•"/>
            </a:pPr>
            <a:endParaRPr lang="en-US" sz="2200" dirty="0">
              <a:latin typeface="Goudy Old Style" panose="02020502050305020303" pitchFamily="18" charset="0"/>
            </a:endParaRPr>
          </a:p>
          <a:p>
            <a:pPr algn="just"/>
            <a:endParaRPr lang="en-US" sz="2400" dirty="0">
              <a:latin typeface="Goudy Old Style" panose="02020502050305020303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Shielded Twisted Pair: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shielded twisted pair is a cable that contains the mesh surrounding the wire that allows the higher transmission rate.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GUIDED MEDIA : Twisted Pair 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67DF64-4888-0DA6-3F53-D5E3D45731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215" y="853093"/>
            <a:ext cx="3485913" cy="25759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D20D322-D9A8-B1EB-0A53-ED5750FB48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1067" y="3957961"/>
            <a:ext cx="3696089" cy="2494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349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GUIDED MEDIA : Twisted Pair 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5B57FC-B288-BD83-6223-023CFBEEF9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26349"/>
              </p:ext>
            </p:extLst>
          </p:nvPr>
        </p:nvGraphicFramePr>
        <p:xfrm>
          <a:off x="459264" y="713783"/>
          <a:ext cx="10827861" cy="550096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74761">
                  <a:extLst>
                    <a:ext uri="{9D8B030D-6E8A-4147-A177-3AD203B41FA5}">
                      <a16:colId xmlns:a16="http://schemas.microsoft.com/office/drawing/2014/main" val="2665107341"/>
                    </a:ext>
                  </a:extLst>
                </a:gridCol>
                <a:gridCol w="5753100">
                  <a:extLst>
                    <a:ext uri="{9D8B030D-6E8A-4147-A177-3AD203B41FA5}">
                      <a16:colId xmlns:a16="http://schemas.microsoft.com/office/drawing/2014/main" val="2585483710"/>
                    </a:ext>
                  </a:extLst>
                </a:gridCol>
              </a:tblGrid>
              <a:tr h="495892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UTP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STP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8277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1" dirty="0"/>
                        <a:t>Advantages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Advantages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1362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dirty="0"/>
                        <a:t>It is cheap.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dirty="0"/>
                        <a:t>Installation of the unshielded twisted pair is easy.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dirty="0"/>
                        <a:t>It can be used for high-speed LAN.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dirty="0"/>
                        <a:t>An installation of STP is easy. 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dirty="0"/>
                        <a:t>It has higher capacity as compared to unshielded twisted pair cable. 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dirty="0"/>
                        <a:t>It has a higher attenuation. 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dirty="0"/>
                        <a:t>It is shielded that provides the higher data transmission rate.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2897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1" dirty="0"/>
                        <a:t>Disadvantages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/>
                        <a:t>Disadvantages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3234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dirty="0"/>
                        <a:t>This cable can only be used for shorter distances because of attenuation.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dirty="0"/>
                        <a:t>It is more expensive as compared to UTP and coaxial cable.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dirty="0"/>
                        <a:t>It has a higher attenuation rate.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0645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1740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516252" y="839306"/>
            <a:ext cx="11047097" cy="4399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Coaxial Cable: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Coaxial cable is very commonly used transmission media, for example, TV wire is usually a coaxial cable.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a higher frequency as compared to Twisted pair cable.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contains two conductors parallel to each other.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inner conductor of the coaxial cable is made up of copper, and the outer conductor is made up of copper mesh.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middle core is made up of non-conductive cover that separates the inner conductor from the outer conductor.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middle core is responsible for the data transferring whereas the copper mesh prevents from the EMI (Electromagnetic interference).</a:t>
            </a:r>
            <a:endParaRPr lang="en-US" dirty="0">
              <a:latin typeface="Goudy Old Style" panose="02020502050305020303" pitchFamily="18" charset="0"/>
            </a:endParaRPr>
          </a:p>
          <a:p>
            <a:pPr algn="just"/>
            <a:endParaRPr lang="en-US" dirty="0">
              <a:latin typeface="Goudy Old Style" panose="02020502050305020303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GUIDED MEDIA : Coaxial Cable 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D72DAC-8C99-B98D-9B79-6F73E89636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0463" y="3905250"/>
            <a:ext cx="6413050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107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681037" y="931200"/>
            <a:ext cx="11047097" cy="4399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Coaxial Cable Types: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Baseband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transmission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defined as the process of transmitting a single signal at high speed.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Broadband transmission: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defined as the process of transmitting multiple signals simultaneously.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Goudy Old Style" panose="02020502050305020303" pitchFamily="18" charset="0"/>
            </a:endParaRPr>
          </a:p>
          <a:p>
            <a:pPr algn="just"/>
            <a:endParaRPr lang="en-US" dirty="0">
              <a:latin typeface="Goudy Old Style" panose="02020502050305020303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GUIDED MEDIA : Coaxial Cable 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0CE813C-BB1D-FD85-29FA-81E2EF64AD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110216"/>
              </p:ext>
            </p:extLst>
          </p:nvPr>
        </p:nvGraphicFramePr>
        <p:xfrm>
          <a:off x="1097756" y="2845172"/>
          <a:ext cx="9996488" cy="379946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986338">
                  <a:extLst>
                    <a:ext uri="{9D8B030D-6E8A-4147-A177-3AD203B41FA5}">
                      <a16:colId xmlns:a16="http://schemas.microsoft.com/office/drawing/2014/main" val="3722747107"/>
                    </a:ext>
                  </a:extLst>
                </a:gridCol>
                <a:gridCol w="5010150">
                  <a:extLst>
                    <a:ext uri="{9D8B030D-6E8A-4147-A177-3AD203B41FA5}">
                      <a16:colId xmlns:a16="http://schemas.microsoft.com/office/drawing/2014/main" val="3529146929"/>
                    </a:ext>
                  </a:extLst>
                </a:gridCol>
              </a:tblGrid>
              <a:tr h="660028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Advantages of Coaxial Cable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Disadvantages of Coaxial Cable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5684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2000" dirty="0"/>
                        <a:t>The data can be transmitted at high speed.</a:t>
                      </a:r>
                    </a:p>
                    <a:p>
                      <a:pPr marL="342900" indent="-34290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endParaRPr lang="en-US" sz="2000" dirty="0"/>
                    </a:p>
                    <a:p>
                      <a:pPr marL="342900" indent="-34290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2000" dirty="0"/>
                        <a:t>It has better shielding as compared to twisted pair cable.</a:t>
                      </a:r>
                    </a:p>
                    <a:p>
                      <a:pPr marL="342900" indent="-34290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endParaRPr lang="en-US" sz="2000" dirty="0"/>
                    </a:p>
                    <a:p>
                      <a:pPr marL="342900" indent="-34290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2000" dirty="0"/>
                        <a:t>It provides higher bandwidth.</a:t>
                      </a:r>
                    </a:p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endParaRPr lang="en-IN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2000" dirty="0"/>
                        <a:t>It is more expensive as compared to twisted pair cable.</a:t>
                      </a:r>
                    </a:p>
                    <a:p>
                      <a:pPr marL="342900" indent="-34290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endParaRPr lang="en-US" sz="2000" dirty="0"/>
                    </a:p>
                    <a:p>
                      <a:pPr marL="342900" indent="-34290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2000" dirty="0"/>
                        <a:t>If any fault occurs in the cable causes the failure in the entire network.</a:t>
                      </a:r>
                    </a:p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endParaRPr lang="en-IN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79888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2906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572451" y="901218"/>
            <a:ext cx="11381424" cy="4399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1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sz="2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Optic: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optic cable uses electrical signals for communication.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holds the optical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coated in plastic that are used to send the data by pulses of light.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plastic coating protects the optical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heat, cold, electromagnetic interference from other types of wiring.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optics provide faster data transmission than copper wires.</a:t>
            </a:r>
          </a:p>
          <a:p>
            <a:pPr algn="just"/>
            <a:endParaRPr lang="en-US" dirty="0">
              <a:latin typeface="Goudy Old Style" panose="02020502050305020303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GUIDED MEDIA : </a:t>
            </a:r>
            <a:r>
              <a:rPr lang="en-US" sz="2400" dirty="0" err="1"/>
              <a:t>Fibre</a:t>
            </a:r>
            <a:r>
              <a:rPr lang="en-US" sz="2400" dirty="0"/>
              <a:t> Optic Cable 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6" name="Picture 5" descr="A diagram of a cylindrical object&#10;&#10;Description automatically generated">
            <a:extLst>
              <a:ext uri="{FF2B5EF4-FFF2-40B4-BE49-F238E27FC236}">
                <a16:creationId xmlns:a16="http://schemas.microsoft.com/office/drawing/2014/main" id="{E7195EE7-9B1A-CB9E-82B4-9531F2DFA9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96" y="3663940"/>
            <a:ext cx="5191332" cy="24118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BEB8A66-AA91-C83F-D3BC-E7D3F83605D5}"/>
              </a:ext>
            </a:extLst>
          </p:cNvPr>
          <p:cNvSpPr txBox="1"/>
          <p:nvPr/>
        </p:nvSpPr>
        <p:spPr>
          <a:xfrm>
            <a:off x="5430201" y="3282940"/>
            <a:ext cx="6704647" cy="3372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Strand of glass or plastic through which the light waves are transmitted. The more the area of the core, the more light will be transmitted into the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Cladding: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concentric layer of glass that is used to cause the reflection within the core so that the light waves are transmitted through the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Jacket: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protective coating that is used to preserve the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strength, absorb shock and extra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protection.</a:t>
            </a:r>
          </a:p>
        </p:txBody>
      </p:sp>
    </p:spTree>
    <p:extLst>
      <p:ext uri="{BB962C8B-B14F-4D97-AF65-F5344CB8AC3E}">
        <p14:creationId xmlns:p14="http://schemas.microsoft.com/office/powerpoint/2010/main" val="3741735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572451" y="901218"/>
            <a:ext cx="11381424" cy="5385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</a:t>
            </a:r>
            <a:r>
              <a:rPr lang="en-US" sz="21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sz="2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Optic:</a:t>
            </a:r>
          </a:p>
          <a:p>
            <a:endParaRPr lang="en-US" sz="21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Greater Bandwidth: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optic cable provides more bandwidth and therefore it carries more data as compared to copper cable.</a:t>
            </a:r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speed: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optic cable carries the data in the form of light and thus it carries the signals at a higher speed.</a:t>
            </a:r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Longer distances: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optic cable carries the data at a longer distance as compared to copper cable.</a:t>
            </a:r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reliability: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optic cable is more reliable than the copper cable as it is immune to any temperature changes.</a:t>
            </a:r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Thinner and Sturdier: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optic cable is thinner and lighter in weight.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Goudy Old Style" panose="02020502050305020303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GUIDED MEDIA : </a:t>
            </a:r>
            <a:r>
              <a:rPr lang="en-US" sz="2400" dirty="0" err="1"/>
              <a:t>Fibre</a:t>
            </a:r>
            <a:r>
              <a:rPr lang="en-US" sz="2400" dirty="0"/>
              <a:t> Optic Cable 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74537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FD99B80-3BAB-770C-AB56-6DBBF9C92432}"/>
              </a:ext>
            </a:extLst>
          </p:cNvPr>
          <p:cNvSpPr txBox="1"/>
          <p:nvPr/>
        </p:nvSpPr>
        <p:spPr>
          <a:xfrm>
            <a:off x="2628900" y="2529959"/>
            <a:ext cx="712469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dirty="0">
                <a:solidFill>
                  <a:srgbClr val="C00000"/>
                </a:solidFill>
              </a:rPr>
              <a:t>UNGUIDED MEDIA </a:t>
            </a:r>
          </a:p>
        </p:txBody>
      </p:sp>
    </p:spTree>
    <p:extLst>
      <p:ext uri="{BB962C8B-B14F-4D97-AF65-F5344CB8AC3E}">
        <p14:creationId xmlns:p14="http://schemas.microsoft.com/office/powerpoint/2010/main" val="40319229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572451" y="901218"/>
            <a:ext cx="11381424" cy="5385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/>
            <a:endParaRPr lang="en-US" sz="21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unguided transmission transmits the electromagnetic waves without using any physical medium. </a:t>
            </a:r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known as wireless transmission. </a:t>
            </a:r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unguided media, air is the media through which the electromagnetic energy can flow easily.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Goudy Old Style" panose="02020502050305020303" pitchFamily="18" charset="0"/>
            </a:endParaRPr>
          </a:p>
          <a:p>
            <a:pPr algn="just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Unguided Media:</a:t>
            </a:r>
          </a:p>
          <a:p>
            <a:pPr marL="800100" lvl="2" indent="-342900"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Radio Waves</a:t>
            </a:r>
          </a:p>
          <a:p>
            <a:pPr marL="800100" lvl="2" indent="-342900"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 Waves</a:t>
            </a:r>
          </a:p>
          <a:p>
            <a:pPr marL="800100" lvl="2" indent="-342900"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Infrared Waves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UNGUIDED MEDIA 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494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242371" y="901218"/>
            <a:ext cx="6048260" cy="5385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/>
            <a:r>
              <a:rPr lang="en-US" sz="2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Radio Waves:</a:t>
            </a:r>
          </a:p>
          <a:p>
            <a:pPr algn="just"/>
            <a:endParaRPr lang="en-US" sz="21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 waves are the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electromagnetic waves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are transmitted in all the directions of free space.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 waves are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omnidirectional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i.e., the signals are propagated in all the directions.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range in frequencies of radio waves is from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3Khz to 1Ghz.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sending and receiving antenna are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aligned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i.e., the wave sent by the sending antenna can be received by any receiving antenna.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example of the radio wave is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FM radio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Goudy Old Style" panose="02020502050305020303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UNGUIDED MEDIA : Radio Waves 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4" name="Picture 3" descr="A cartoon of a planet earth&#10;&#10;Description automatically generated">
            <a:extLst>
              <a:ext uri="{FF2B5EF4-FFF2-40B4-BE49-F238E27FC236}">
                <a16:creationId xmlns:a16="http://schemas.microsoft.com/office/drawing/2014/main" id="{BA7FC343-EA04-2783-5028-778016676F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8455" y="1870842"/>
            <a:ext cx="5486400" cy="36891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870284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830949" y="1576551"/>
            <a:ext cx="10709409" cy="5071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/>
            <a:r>
              <a:rPr lang="en-US" sz="21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Radio waves: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Radio wave is useful for multicasting when there is one sender and many receivers.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Radio Waves: FM radio, Television, Cordless phones.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1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Radio transmission: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 transmission is mainly used for wide area networks and mobile cellular phones.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 waves cover a large area.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 transmission provides a higher transmission rate.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Goudy Old Style" panose="02020502050305020303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UNGUIDED MEDIA : Radio Waves 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79570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610232" y="1187669"/>
            <a:ext cx="11371561" cy="5459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 Waves: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Electromagnetic waves having frequencies between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and 300 GHz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called microwaves.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Microwaves are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unidirectional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sending and receiving antennas need to be aligned.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pair of antennas can be aligned without interfering with another pair of aligned antennas.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Microwaves: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Terrestrial Microwave: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Microwaves that transmits the beam of a radio signal from one ground-based antenna to another ground-based antenna.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Satellite Microwave: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Microwaves that transmits data (in form of radio signals) between a ground-based station and an orbiting satellite.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Goudy Old Style" panose="02020502050305020303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UNGUIDED MEDIA : Micro Waves 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47473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610232" y="1187669"/>
            <a:ext cx="11371561" cy="5459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Infrared Waves: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infrared transmission is a wireless technology used for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over short ranges.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frequency range of the infrared is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300 GHz to 400 THz.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for short-range communication such as data transfer between two cell phones, TV remote operation, data transfer between a computer and cell phone resides in the same closed area.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0070C0"/>
                </a:solidFill>
              </a:rPr>
              <a:t>Characteristics Of Infrared:</a:t>
            </a:r>
            <a:endParaRPr lang="en-US" sz="2000" dirty="0">
              <a:solidFill>
                <a:srgbClr val="0070C0"/>
              </a:solidFill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high bandwidth, and hence the data rate will be very high.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Infrared waves cannot penetrate the walls. Therefore, the infrared communication in one room cannot be interrupted by the nearby rooms.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infrared communication provides better security with minimum interference.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Goudy Old Style" panose="02020502050305020303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UNGUIDED MEDIA : Infrared Waves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16851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946069" y="929962"/>
            <a:ext cx="10172210" cy="412293"/>
          </a:xfrm>
          <a:prstGeom prst="roundRect">
            <a:avLst>
              <a:gd name="adj" fmla="val 35613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Which of this is not a guided media?</a:t>
            </a: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09895" y="1501442"/>
            <a:ext cx="2901705" cy="103860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sz="1600" dirty="0"/>
              <a:t>Fiber Optic Cable</a:t>
            </a:r>
            <a:endParaRPr lang="en-US" sz="1600" dirty="0">
              <a:latin typeface="Arial" panose="020B0604020202020204" pitchFamily="34" charset="0"/>
            </a:endParaRPr>
          </a:p>
          <a:p>
            <a:pPr marL="342900" indent="-342900">
              <a:buAutoNum type="alphaLcParenBoth"/>
            </a:pPr>
            <a:r>
              <a:rPr lang="en-US" sz="1600" dirty="0"/>
              <a:t>Coaxial Cable</a:t>
            </a:r>
          </a:p>
          <a:p>
            <a:pPr marL="342900" indent="-342900">
              <a:buAutoNum type="alphaLcParenBoth"/>
            </a:pPr>
            <a:r>
              <a:rPr lang="en-US" sz="1600" dirty="0"/>
              <a:t>Wireless LAN</a:t>
            </a:r>
          </a:p>
          <a:p>
            <a:pPr marL="342900" indent="-342900">
              <a:buFontTx/>
              <a:buAutoNum type="alphaLcParenBoth"/>
            </a:pPr>
            <a:r>
              <a:rPr lang="en-US" sz="1600" dirty="0"/>
              <a:t>Twisted Pair</a:t>
            </a: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1009895" y="2872641"/>
            <a:ext cx="10172210" cy="364796"/>
          </a:xfrm>
          <a:prstGeom prst="roundRect">
            <a:avLst>
              <a:gd name="adj" fmla="val 35613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Coaxial cable consists of _______ concentric copper conductors.</a:t>
            </a: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995362" y="3401007"/>
            <a:ext cx="2901705" cy="111486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dirty="0"/>
              <a:t>1</a:t>
            </a:r>
          </a:p>
          <a:p>
            <a:pPr marL="342900" indent="-342900">
              <a:buAutoNum type="alphaLcParenBoth"/>
            </a:pPr>
            <a:r>
              <a:rPr lang="en-US" dirty="0"/>
              <a:t>2</a:t>
            </a:r>
          </a:p>
          <a:p>
            <a:pPr marL="342900" indent="-342900">
              <a:buAutoNum type="alphaLcParenBoth"/>
            </a:pPr>
            <a:r>
              <a:rPr lang="en-US" dirty="0"/>
              <a:t>3</a:t>
            </a:r>
          </a:p>
          <a:p>
            <a:pPr marL="342900" indent="-342900">
              <a:buAutoNum type="alphaLcParenBoth"/>
            </a:pPr>
            <a:r>
              <a:rPr lang="en-US" sz="1600" dirty="0"/>
              <a:t>4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Google Shape;502;p17">
            <a:extLst>
              <a:ext uri="{FF2B5EF4-FFF2-40B4-BE49-F238E27FC236}">
                <a16:creationId xmlns:a16="http://schemas.microsoft.com/office/drawing/2014/main" id="{232690F5-0E57-FFD3-E4AD-4B85BD78484B}"/>
              </a:ext>
            </a:extLst>
          </p:cNvPr>
          <p:cNvSpPr/>
          <p:nvPr/>
        </p:nvSpPr>
        <p:spPr>
          <a:xfrm>
            <a:off x="1009895" y="5003206"/>
            <a:ext cx="10172210" cy="364796"/>
          </a:xfrm>
          <a:prstGeom prst="roundRect">
            <a:avLst>
              <a:gd name="adj" fmla="val 35613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3.  _____ cable can carry signals of higher frequency ranges than _____ cable.</a:t>
            </a: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C0F3606B-7E0B-2822-3C70-DBFF563062C3}"/>
              </a:ext>
            </a:extLst>
          </p:cNvPr>
          <p:cNvSpPr/>
          <p:nvPr/>
        </p:nvSpPr>
        <p:spPr>
          <a:xfrm>
            <a:off x="1009894" y="5560052"/>
            <a:ext cx="3162713" cy="111486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dirty="0"/>
              <a:t>Twisted pair; Fiber Optic</a:t>
            </a:r>
          </a:p>
          <a:p>
            <a:pPr marL="342900" indent="-342900">
              <a:buAutoNum type="alphaLcParenBoth"/>
            </a:pPr>
            <a:r>
              <a:rPr lang="en-US" dirty="0"/>
              <a:t>Twisted pair; Fiber Optic</a:t>
            </a:r>
          </a:p>
          <a:p>
            <a:pPr marL="342900" indent="-342900">
              <a:buFontTx/>
              <a:buAutoNum type="alphaLcParenBoth"/>
            </a:pPr>
            <a:r>
              <a:rPr lang="en-US" dirty="0"/>
              <a:t>Fiber Optic; Coaxial Cable</a:t>
            </a:r>
          </a:p>
          <a:p>
            <a:pPr marL="342900" indent="-342900">
              <a:buAutoNum type="alphaLcParenBoth"/>
            </a:pPr>
            <a:r>
              <a:rPr lang="en-US" sz="1600" dirty="0"/>
              <a:t>None</a:t>
            </a:r>
          </a:p>
        </p:txBody>
      </p:sp>
    </p:spTree>
    <p:extLst>
      <p:ext uri="{BB962C8B-B14F-4D97-AF65-F5344CB8AC3E}">
        <p14:creationId xmlns:p14="http://schemas.microsoft.com/office/powerpoint/2010/main" val="10543486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  <p:bldP spid="2" grpId="0" animBg="1"/>
      <p:bldP spid="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946069" y="929962"/>
            <a:ext cx="10172210" cy="412293"/>
          </a:xfrm>
          <a:prstGeom prst="roundRect">
            <a:avLst>
              <a:gd name="adj" fmla="val 35613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Which of this is not a guided media?</a:t>
            </a: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09895" y="1501442"/>
            <a:ext cx="2901705" cy="103860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sz="1600" dirty="0"/>
              <a:t>Fiber Optic Cable</a:t>
            </a:r>
            <a:endParaRPr lang="en-US" sz="1600" dirty="0">
              <a:latin typeface="Arial" panose="020B0604020202020204" pitchFamily="34" charset="0"/>
            </a:endParaRPr>
          </a:p>
          <a:p>
            <a:pPr marL="342900" indent="-342900">
              <a:buAutoNum type="alphaLcParenBoth"/>
            </a:pPr>
            <a:r>
              <a:rPr lang="en-US" sz="1600" dirty="0"/>
              <a:t>Coaxial Cable</a:t>
            </a:r>
          </a:p>
          <a:p>
            <a:pPr marL="342900" indent="-342900">
              <a:buAutoNum type="alphaLcParenBoth"/>
            </a:pPr>
            <a:r>
              <a:rPr lang="en-US" sz="1600" b="1" dirty="0">
                <a:solidFill>
                  <a:schemeClr val="tx1"/>
                </a:solidFill>
              </a:rPr>
              <a:t>Wireless LAN</a:t>
            </a:r>
          </a:p>
          <a:p>
            <a:pPr marL="342900" indent="-342900">
              <a:buFontTx/>
              <a:buAutoNum type="alphaLcParenBoth"/>
            </a:pPr>
            <a:r>
              <a:rPr lang="en-US" sz="1600" dirty="0"/>
              <a:t>Twisted Pair</a:t>
            </a: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1009895" y="2872641"/>
            <a:ext cx="10172210" cy="364796"/>
          </a:xfrm>
          <a:prstGeom prst="roundRect">
            <a:avLst>
              <a:gd name="adj" fmla="val 35613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Coaxial cable consists of _______ concentric copper conductors.</a:t>
            </a: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995362" y="3401007"/>
            <a:ext cx="2901705" cy="111486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dirty="0"/>
              <a:t>1</a:t>
            </a:r>
          </a:p>
          <a:p>
            <a:pPr marL="342900" indent="-342900">
              <a:buAutoNum type="alphaLcParenBoth"/>
            </a:pPr>
            <a:r>
              <a:rPr lang="en-US" b="1" dirty="0">
                <a:solidFill>
                  <a:schemeClr val="tx1"/>
                </a:solidFill>
              </a:rPr>
              <a:t>2</a:t>
            </a:r>
          </a:p>
          <a:p>
            <a:pPr marL="342900" indent="-342900">
              <a:buAutoNum type="alphaLcParenBoth"/>
            </a:pPr>
            <a:r>
              <a:rPr lang="en-US" dirty="0"/>
              <a:t>3</a:t>
            </a:r>
          </a:p>
          <a:p>
            <a:pPr marL="342900" indent="-342900">
              <a:buAutoNum type="alphaLcParenBoth"/>
            </a:pPr>
            <a:r>
              <a:rPr lang="en-US" sz="1600" dirty="0"/>
              <a:t>4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Google Shape;502;p17">
            <a:extLst>
              <a:ext uri="{FF2B5EF4-FFF2-40B4-BE49-F238E27FC236}">
                <a16:creationId xmlns:a16="http://schemas.microsoft.com/office/drawing/2014/main" id="{232690F5-0E57-FFD3-E4AD-4B85BD78484B}"/>
              </a:ext>
            </a:extLst>
          </p:cNvPr>
          <p:cNvSpPr/>
          <p:nvPr/>
        </p:nvSpPr>
        <p:spPr>
          <a:xfrm>
            <a:off x="1009895" y="5003206"/>
            <a:ext cx="10172210" cy="364796"/>
          </a:xfrm>
          <a:prstGeom prst="roundRect">
            <a:avLst>
              <a:gd name="adj" fmla="val 35613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3.  _____ cable can carry signals of higher frequency ranges than _____ cable.</a:t>
            </a: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C0F3606B-7E0B-2822-3C70-DBFF563062C3}"/>
              </a:ext>
            </a:extLst>
          </p:cNvPr>
          <p:cNvSpPr/>
          <p:nvPr/>
        </p:nvSpPr>
        <p:spPr>
          <a:xfrm>
            <a:off x="1009894" y="5560052"/>
            <a:ext cx="3162713" cy="111486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dirty="0"/>
              <a:t>Twisted pair; Fiber Optic</a:t>
            </a:r>
          </a:p>
          <a:p>
            <a:pPr marL="342900" indent="-342900">
              <a:buAutoNum type="alphaLcParenBoth"/>
            </a:pPr>
            <a:r>
              <a:rPr lang="en-US" dirty="0"/>
              <a:t>Twisted pair; Fiber Optic</a:t>
            </a:r>
          </a:p>
          <a:p>
            <a:pPr marL="342900" indent="-342900">
              <a:buFontTx/>
              <a:buAutoNum type="alphaLcParenBoth"/>
            </a:pPr>
            <a:r>
              <a:rPr lang="en-US" b="1" dirty="0">
                <a:solidFill>
                  <a:schemeClr val="tx1"/>
                </a:solidFill>
              </a:rPr>
              <a:t>Fiber Optic; Coaxial Cable</a:t>
            </a:r>
          </a:p>
          <a:p>
            <a:pPr marL="342900" indent="-342900">
              <a:buAutoNum type="alphaLcParenBoth"/>
            </a:pPr>
            <a:r>
              <a:rPr lang="en-US" sz="1600" dirty="0"/>
              <a:t>None</a:t>
            </a:r>
          </a:p>
        </p:txBody>
      </p:sp>
    </p:spTree>
    <p:extLst>
      <p:ext uri="{BB962C8B-B14F-4D97-AF65-F5344CB8AC3E}">
        <p14:creationId xmlns:p14="http://schemas.microsoft.com/office/powerpoint/2010/main" val="2975424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  <p:bldP spid="2" grpId="0" animBg="1"/>
      <p:bldP spid="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00BC72CD-0E64-4837-A23F-71719B051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0487" y="1379529"/>
            <a:ext cx="4098941" cy="409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0631B-1888-44A3-956F-2018E4A03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3751" y="1379529"/>
            <a:ext cx="5761220" cy="479271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Goudy Old Style" panose="02020502050305020303" pitchFamily="18" charset="0"/>
              </a:rPr>
              <a:t>Transmission Media</a:t>
            </a:r>
          </a:p>
          <a:p>
            <a:pPr marL="0" indent="0">
              <a:buNone/>
            </a:pPr>
            <a:endParaRPr lang="en-US" b="1" dirty="0">
              <a:latin typeface="Goudy Old Style" panose="02020502050305020303" pitchFamily="18" charset="0"/>
            </a:endParaRPr>
          </a:p>
          <a:p>
            <a:pPr lvl="1"/>
            <a:r>
              <a:rPr lang="en-US" dirty="0">
                <a:latin typeface="Goudy Old Style" panose="02020502050305020303" pitchFamily="18" charset="0"/>
              </a:rPr>
              <a:t>Guided Media</a:t>
            </a:r>
          </a:p>
          <a:p>
            <a:pPr marL="2171700" lvl="4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Twisted pair</a:t>
            </a:r>
          </a:p>
          <a:p>
            <a:pPr marL="2171700" lvl="4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Coaxial Cable</a:t>
            </a:r>
          </a:p>
          <a:p>
            <a:pPr marL="2171700" lvl="4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Fiber-Optic Cable </a:t>
            </a:r>
          </a:p>
          <a:p>
            <a:pPr lvl="1"/>
            <a:endParaRPr lang="en-US" dirty="0">
              <a:latin typeface="Goudy Old Style" panose="02020502050305020303" pitchFamily="18" charset="0"/>
            </a:endParaRPr>
          </a:p>
          <a:p>
            <a:pPr lvl="2">
              <a:buFont typeface="Wingdings" panose="05000000000000000000" pitchFamily="2" charset="2"/>
              <a:buChar char="Ø"/>
            </a:pPr>
            <a:endParaRPr lang="en-US" dirty="0">
              <a:latin typeface="Goudy Old Style" panose="02020502050305020303" pitchFamily="18" charset="0"/>
            </a:endParaRPr>
          </a:p>
          <a:p>
            <a:pPr lvl="1"/>
            <a:r>
              <a:rPr lang="en-US" dirty="0">
                <a:latin typeface="Goudy Old Style" panose="02020502050305020303" pitchFamily="18" charset="0"/>
              </a:rPr>
              <a:t>Unguided Media </a:t>
            </a:r>
          </a:p>
          <a:p>
            <a:pPr marL="2171700" lvl="5" indent="-342900"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Radio Waves</a:t>
            </a:r>
          </a:p>
          <a:p>
            <a:pPr marL="2171700" lvl="5" indent="-342900"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 Waves</a:t>
            </a:r>
          </a:p>
          <a:p>
            <a:pPr marL="2171700" lvl="5" indent="-342900"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Infrared Waves</a:t>
            </a:r>
          </a:p>
          <a:p>
            <a:pPr lvl="1"/>
            <a:endParaRPr lang="en-US" dirty="0">
              <a:latin typeface="Goudy Old Style" panose="02020502050305020303" pitchFamily="18" charset="0"/>
            </a:endParaRPr>
          </a:p>
          <a:p>
            <a:pPr lvl="1"/>
            <a:endParaRPr lang="en-US" dirty="0">
              <a:latin typeface="Goudy Old Style" panose="02020502050305020303" pitchFamily="18" charset="0"/>
            </a:endParaRPr>
          </a:p>
          <a:p>
            <a:pPr marL="457200" lvl="1" indent="0">
              <a:buNone/>
            </a:pPr>
            <a:endParaRPr lang="en-US" dirty="0">
              <a:latin typeface="Goudy Old Style" panose="02020502050305020303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2000" dirty="0">
              <a:latin typeface="Goudy Old Style" panose="0202050205030502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42B019-8014-2532-89D1-4683F4DDF817}"/>
              </a:ext>
            </a:extLst>
          </p:cNvPr>
          <p:cNvSpPr txBox="1"/>
          <p:nvPr/>
        </p:nvSpPr>
        <p:spPr>
          <a:xfrm>
            <a:off x="5733798" y="300038"/>
            <a:ext cx="48205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Topic Summary</a:t>
            </a:r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A1791C71-108A-8B8A-15C6-BBE56E183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62976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Reference Books: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A.S. Tanenbaum, David J. </a:t>
            </a:r>
            <a:r>
              <a:rPr lang="en-US" dirty="0" err="1"/>
              <a:t>Wetheral</a:t>
            </a:r>
            <a:r>
              <a:rPr lang="en-US" dirty="0"/>
              <a:t> “Computer Networks” Pearson, 5th Edition.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Kurose, J and Ross, K Computer Networking: A Top-Down Approach Addison-Wesley- 6th edition.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Sites and Web links: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hlinkClick r:id="rId2"/>
              </a:rPr>
              <a:t>https://www.geeksforgeeks.org/types-of-transmission-technology/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hlinkClick r:id="rId3"/>
              </a:rPr>
              <a:t>https://www.tutorialspoint.com/data_communication_computer_network/computer_network_topologies.htm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3. </a:t>
            </a:r>
            <a:r>
              <a:rPr lang="en-US" dirty="0">
                <a:hlinkClick r:id="rId4"/>
              </a:rPr>
              <a:t>https://www.javatpoint.com/computer-network-transmission-modes</a:t>
            </a: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478698" y="17807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/>
                <a:cs typeface="Poppins"/>
              </a:rPr>
              <a:t>Team – Computer Networks</a:t>
            </a:r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op 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BD0A98-E68B-4DAA-8964-2F739D6D4075}">
  <ds:schemaRefs>
    <ds:schemaRef ds:uri="0125a647-8023-46ae-ae6e-85cf36d841bd"/>
    <ds:schemaRef ds:uri="d43ee83c-3e71-4748-8ebc-8eaadf79342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9A6ECA-0C1B-4F00-836D-A696F073E5C2}">
  <ds:schemaRefs>
    <ds:schemaRef ds:uri="0125a647-8023-46ae-ae6e-85cf36d841bd"/>
    <ds:schemaRef ds:uri="d43ee83c-3e71-4748-8ebc-8eaadf7934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1685</TotalTime>
  <Words>1687</Words>
  <Application>Microsoft Office PowerPoint</Application>
  <PresentationFormat>Widescreen</PresentationFormat>
  <Paragraphs>287</Paragraphs>
  <Slides>25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P Dinesh Chandra</cp:lastModifiedBy>
  <cp:revision>101</cp:revision>
  <dcterms:created xsi:type="dcterms:W3CDTF">2020-02-08T09:57:44Z</dcterms:created>
  <dcterms:modified xsi:type="dcterms:W3CDTF">2025-07-14T11:08:17Z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