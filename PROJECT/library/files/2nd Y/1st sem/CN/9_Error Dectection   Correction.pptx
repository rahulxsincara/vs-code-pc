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2"/>
  </p:notesMasterIdLst>
  <p:sldIdLst>
    <p:sldId id="271" r:id="rId5"/>
    <p:sldId id="300" r:id="rId6"/>
    <p:sldId id="349" r:id="rId7"/>
    <p:sldId id="350" r:id="rId8"/>
    <p:sldId id="351" r:id="rId9"/>
    <p:sldId id="352" r:id="rId10"/>
    <p:sldId id="353" r:id="rId11"/>
    <p:sldId id="354" r:id="rId12"/>
    <p:sldId id="438" r:id="rId13"/>
    <p:sldId id="355" r:id="rId14"/>
    <p:sldId id="399" r:id="rId15"/>
    <p:sldId id="449" r:id="rId16"/>
    <p:sldId id="357" r:id="rId17"/>
    <p:sldId id="447" r:id="rId18"/>
    <p:sldId id="358" r:id="rId19"/>
    <p:sldId id="359" r:id="rId20"/>
    <p:sldId id="445" r:id="rId21"/>
    <p:sldId id="362" r:id="rId22"/>
    <p:sldId id="402" r:id="rId23"/>
    <p:sldId id="401" r:id="rId24"/>
    <p:sldId id="434" r:id="rId25"/>
    <p:sldId id="430" r:id="rId26"/>
    <p:sldId id="431" r:id="rId27"/>
    <p:sldId id="432" r:id="rId28"/>
    <p:sldId id="433" r:id="rId29"/>
    <p:sldId id="451" r:id="rId30"/>
    <p:sldId id="435" r:id="rId31"/>
    <p:sldId id="369" r:id="rId32"/>
    <p:sldId id="436" r:id="rId33"/>
    <p:sldId id="437" r:id="rId34"/>
    <p:sldId id="408" r:id="rId35"/>
    <p:sldId id="301" r:id="rId36"/>
    <p:sldId id="448" r:id="rId37"/>
    <p:sldId id="274" r:id="rId38"/>
    <p:sldId id="302" r:id="rId39"/>
    <p:sldId id="303" r:id="rId40"/>
    <p:sldId id="304"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B05603-B2A4-2429-FEB3-FB033E9229C7}" v="6" dt="2025-07-14T11:11:04.8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91" autoAdjust="0"/>
    <p:restoredTop sz="94660"/>
  </p:normalViewPr>
  <p:slideViewPr>
    <p:cSldViewPr snapToGrid="0">
      <p:cViewPr varScale="1">
        <p:scale>
          <a:sx n="68" d="100"/>
          <a:sy n="68" d="100"/>
        </p:scale>
        <p:origin x="750"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ushar Kanti De" userId="S::vit.tushar@kluniversity.in::7b4f7e15-ba50-4f9a-a6ae-1e38b5a8a216" providerId="AD" clId="Web-{5CB05603-B2A4-2429-FEB3-FB033E9229C7}"/>
    <pc:docChg chg="modSld">
      <pc:chgData name="Tushar Kanti De" userId="S::vit.tushar@kluniversity.in::7b4f7e15-ba50-4f9a-a6ae-1e38b5a8a216" providerId="AD" clId="Web-{5CB05603-B2A4-2429-FEB3-FB033E9229C7}" dt="2025-07-14T11:11:01.843" v="0" actId="20577"/>
      <pc:docMkLst>
        <pc:docMk/>
      </pc:docMkLst>
      <pc:sldChg chg="modSp">
        <pc:chgData name="Tushar Kanti De" userId="S::vit.tushar@kluniversity.in::7b4f7e15-ba50-4f9a-a6ae-1e38b5a8a216" providerId="AD" clId="Web-{5CB05603-B2A4-2429-FEB3-FB033E9229C7}" dt="2025-07-14T11:11:01.843" v="0" actId="20577"/>
        <pc:sldMkLst>
          <pc:docMk/>
          <pc:sldMk cId="0" sldId="271"/>
        </pc:sldMkLst>
        <pc:spChg chg="mod">
          <ac:chgData name="Tushar Kanti De" userId="S::vit.tushar@kluniversity.in::7b4f7e15-ba50-4f9a-a6ae-1e38b5a8a216" providerId="AD" clId="Web-{5CB05603-B2A4-2429-FEB3-FB033E9229C7}" dt="2025-07-14T11:11:01.843" v="0" actId="20577"/>
          <ac:spMkLst>
            <pc:docMk/>
            <pc:sldMk cId="0" sldId="271"/>
            <ac:spMk id="476" creationId="{00000000-0000-0000-0000-000000000000}"/>
          </ac:spMkLst>
        </pc:spChg>
      </pc:sldChg>
    </pc:docChg>
  </pc:docChgLst>
  <pc:docChgLst>
    <pc:chgData clId="Web-{5CB05603-B2A4-2429-FEB3-FB033E9229C7}"/>
    <pc:docChg chg="modSld">
      <pc:chgData name="" userId="" providerId="" clId="Web-{5CB05603-B2A4-2429-FEB3-FB033E9229C7}" dt="2025-07-14T11:10:59.515" v="1" actId="20577"/>
      <pc:docMkLst>
        <pc:docMk/>
      </pc:docMkLst>
      <pc:sldChg chg="modSp">
        <pc:chgData name="" userId="" providerId="" clId="Web-{5CB05603-B2A4-2429-FEB3-FB033E9229C7}" dt="2025-07-14T11:10:59.515" v="1" actId="20577"/>
        <pc:sldMkLst>
          <pc:docMk/>
          <pc:sldMk cId="0" sldId="271"/>
        </pc:sldMkLst>
        <pc:spChg chg="mod">
          <ac:chgData name="" userId="" providerId="" clId="Web-{5CB05603-B2A4-2429-FEB3-FB033E9229C7}" dt="2025-07-14T11:10:59.515" v="1" actId="20577"/>
          <ac:spMkLst>
            <pc:docMk/>
            <pc:sldMk cId="0" sldId="271"/>
            <ac:spMk id="47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244196-20C1-42AF-B0BD-3A0C01340ABD}" type="datetimeFigureOut">
              <a:rPr lang="en-AU" smtClean="0"/>
              <a:pPr/>
              <a:t>14/07/2025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C46252-7977-470F-A63B-F34B0A5EB215}" type="slidenum">
              <a:rPr lang="en-AU" smtClean="0"/>
              <a:pPr/>
              <a:t>‹#›</a:t>
            </a:fld>
            <a:endParaRPr lang="en-AU"/>
          </a:p>
        </p:txBody>
      </p:sp>
    </p:spTree>
    <p:extLst>
      <p:ext uri="{BB962C8B-B14F-4D97-AF65-F5344CB8AC3E}">
        <p14:creationId xmlns:p14="http://schemas.microsoft.com/office/powerpoint/2010/main" val="3919497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0" y="1122363"/>
            <a:ext cx="9144000" cy="2387600"/>
          </a:xfrm>
        </p:spPr>
        <p:txBody>
          <a:bodyPr anchor="b"/>
          <a:lstStyle>
            <a:lvl1pPr algn="ctr">
              <a:defRPr sz="6000">
                <a:solidFill>
                  <a:srgbClr val="C00000"/>
                </a:solidFill>
              </a:defRPr>
            </a:lvl1pPr>
          </a:lstStyle>
          <a:p>
            <a:r>
              <a:rPr lang="en-US" dirty="0"/>
              <a:t>15CS2007</a:t>
            </a:r>
            <a:endParaRPr lang="en-AU"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Database Systems</a:t>
            </a:r>
            <a:endParaRPr lang="en-AU" dirty="0"/>
          </a:p>
        </p:txBody>
      </p:sp>
      <p:sp>
        <p:nvSpPr>
          <p:cNvPr id="5" name="Footer Placeholder 4"/>
          <p:cNvSpPr>
            <a:spLocks noGrp="1"/>
          </p:cNvSpPr>
          <p:nvPr>
            <p:ph type="ftr" sz="quarter" idx="11"/>
          </p:nvPr>
        </p:nvSpPr>
        <p:spPr>
          <a:xfrm>
            <a:off x="573578" y="6356350"/>
            <a:ext cx="9933709" cy="365125"/>
          </a:xfrm>
        </p:spPr>
        <p:txBody>
          <a:bodyPr/>
          <a:lstStyle/>
          <a:p>
            <a:r>
              <a:rPr lang="en-AU" dirty="0"/>
              <a:t>© 2016 KL University – The contents of this presentation are an intellectual and copyrighted property of KL University. ALL RIGHTS RESERVED</a:t>
            </a:r>
          </a:p>
        </p:txBody>
      </p:sp>
      <p:sp>
        <p:nvSpPr>
          <p:cNvPr id="6" name="Slide Number Placeholder 5"/>
          <p:cNvSpPr>
            <a:spLocks noGrp="1"/>
          </p:cNvSpPr>
          <p:nvPr>
            <p:ph type="sldNum" sz="quarter" idx="12"/>
          </p:nvPr>
        </p:nvSpPr>
        <p:spPr/>
        <p:txBody>
          <a:bodyPr/>
          <a:lstStyle/>
          <a:p>
            <a:fld id="{68187FF5-4BF9-4B21-B0D2-9B7FF2B27D7F}" type="slidenum">
              <a:rPr lang="en-AU" smtClean="0"/>
              <a:pPr/>
              <a:t>‹#›</a:t>
            </a:fld>
            <a:endParaRPr lang="en-AU"/>
          </a:p>
        </p:txBody>
      </p:sp>
      <p:pic>
        <p:nvPicPr>
          <p:cNvPr id="1026" name="Picture 2" descr="K L University Logo"/>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752850" y="5251479"/>
            <a:ext cx="46863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1982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Footer Placeholder 4"/>
          <p:cNvSpPr>
            <a:spLocks noGrp="1"/>
          </p:cNvSpPr>
          <p:nvPr>
            <p:ph type="ftr" sz="quarter" idx="11"/>
          </p:nvPr>
        </p:nvSpPr>
        <p:spPr>
          <a:xfrm>
            <a:off x="838200" y="6356350"/>
            <a:ext cx="9669087" cy="365125"/>
          </a:xfrm>
        </p:spPr>
        <p:txBody>
          <a:bodyPr/>
          <a:lstStyle/>
          <a:p>
            <a:r>
              <a:rPr lang="en-AU"/>
              <a:t>© 2016 KL University – The contents of this presentation are an intellectual and copyrighted property of KL University. ALL RIGHTS RESERVED</a:t>
            </a:r>
            <a:endParaRPr lang="en-AU" dirty="0"/>
          </a:p>
        </p:txBody>
      </p:sp>
      <p:sp>
        <p:nvSpPr>
          <p:cNvPr id="6" name="Slide Number Placeholder 5"/>
          <p:cNvSpPr>
            <a:spLocks noGrp="1"/>
          </p:cNvSpPr>
          <p:nvPr>
            <p:ph type="sldNum" sz="quarter" idx="12"/>
          </p:nvPr>
        </p:nvSpPr>
        <p:spPr/>
        <p:txBody>
          <a:bodyPr/>
          <a:lstStyle/>
          <a:p>
            <a:fld id="{68187FF5-4BF9-4B21-B0D2-9B7FF2B27D7F}" type="slidenum">
              <a:rPr lang="en-AU" smtClean="0"/>
              <a:pPr/>
              <a:t>‹#›</a:t>
            </a:fld>
            <a:endParaRPr lang="en-AU"/>
          </a:p>
        </p:txBody>
      </p:sp>
      <p:pic>
        <p:nvPicPr>
          <p:cNvPr id="2050" name="Picture 2" descr="K L University Logo"/>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r="77554"/>
          <a:stretch/>
        </p:blipFill>
        <p:spPr bwMode="auto">
          <a:xfrm>
            <a:off x="11140094" y="-15902"/>
            <a:ext cx="1051906"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5809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1709738"/>
            <a:ext cx="10515600" cy="2852737"/>
          </a:xfrm>
        </p:spPr>
        <p:txBody>
          <a:bodyPr anchor="b"/>
          <a:lstStyle>
            <a:lvl1pPr>
              <a:defRPr sz="6000"/>
            </a:lvl1pPr>
          </a:lstStyle>
          <a:p>
            <a:r>
              <a:rPr lang="en-US" dirty="0"/>
              <a:t>15CS2007</a:t>
            </a:r>
            <a:endParaRPr lang="en-AU"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Database Systems</a:t>
            </a:r>
          </a:p>
        </p:txBody>
      </p:sp>
      <p:sp>
        <p:nvSpPr>
          <p:cNvPr id="5" name="Footer Placeholder 4"/>
          <p:cNvSpPr>
            <a:spLocks noGrp="1"/>
          </p:cNvSpPr>
          <p:nvPr>
            <p:ph type="ftr" sz="quarter" idx="11"/>
          </p:nvPr>
        </p:nvSpPr>
        <p:spPr>
          <a:xfrm>
            <a:off x="831850" y="6356350"/>
            <a:ext cx="9160048" cy="365125"/>
          </a:xfrm>
        </p:spPr>
        <p:txBody>
          <a:bodyPr/>
          <a:lstStyle/>
          <a:p>
            <a:r>
              <a:rPr lang="en-AU" dirty="0"/>
              <a:t>© 2016 KL University – The contents of this presentation are an intellectual and copyrighted property of KL University. ALL RIGHTS RESERVED</a:t>
            </a:r>
          </a:p>
        </p:txBody>
      </p:sp>
      <p:sp>
        <p:nvSpPr>
          <p:cNvPr id="6" name="Slide Number Placeholder 5"/>
          <p:cNvSpPr>
            <a:spLocks noGrp="1"/>
          </p:cNvSpPr>
          <p:nvPr>
            <p:ph type="sldNum" sz="quarter" idx="12"/>
          </p:nvPr>
        </p:nvSpPr>
        <p:spPr/>
        <p:txBody>
          <a:bodyPr/>
          <a:lstStyle/>
          <a:p>
            <a:fld id="{68187FF5-4BF9-4B21-B0D2-9B7FF2B27D7F}" type="slidenum">
              <a:rPr lang="en-AU" smtClean="0"/>
              <a:pPr/>
              <a:t>‹#›</a:t>
            </a:fld>
            <a:endParaRPr lang="en-AU"/>
          </a:p>
        </p:txBody>
      </p:sp>
      <p:pic>
        <p:nvPicPr>
          <p:cNvPr id="3074" name="Picture 2" descr="K L University Logo"/>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746500" y="207818"/>
            <a:ext cx="46863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8191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85772"/>
          </a:xfrm>
        </p:spPr>
        <p:txBody>
          <a:bodyPr/>
          <a:lstStyle/>
          <a:p>
            <a:r>
              <a:rPr lang="en-US" dirty="0"/>
              <a:t>Click to edit Master title style</a:t>
            </a:r>
            <a:endParaRPr lang="en-AU" dirty="0"/>
          </a:p>
        </p:txBody>
      </p:sp>
      <p:sp>
        <p:nvSpPr>
          <p:cNvPr id="3" name="Content Placeholder 2"/>
          <p:cNvSpPr>
            <a:spLocks noGrp="1"/>
          </p:cNvSpPr>
          <p:nvPr>
            <p:ph sz="half" idx="1"/>
          </p:nvPr>
        </p:nvSpPr>
        <p:spPr>
          <a:xfrm>
            <a:off x="838200" y="1230284"/>
            <a:ext cx="5181600" cy="494667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246187"/>
            <a:ext cx="5181600" cy="49307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a:xfrm>
            <a:off x="838200" y="6356350"/>
            <a:ext cx="924098" cy="365125"/>
          </a:xfrm>
          <a:prstGeom prst="rect">
            <a:avLst/>
          </a:prstGeom>
        </p:spPr>
        <p:txBody>
          <a:bodyPr/>
          <a:lstStyle/>
          <a:p>
            <a:endParaRPr lang="en-AU"/>
          </a:p>
        </p:txBody>
      </p:sp>
      <p:sp>
        <p:nvSpPr>
          <p:cNvPr id="6" name="Footer Placeholder 5"/>
          <p:cNvSpPr>
            <a:spLocks noGrp="1"/>
          </p:cNvSpPr>
          <p:nvPr>
            <p:ph type="ftr" sz="quarter" idx="11"/>
          </p:nvPr>
        </p:nvSpPr>
        <p:spPr/>
        <p:txBody>
          <a:bodyPr/>
          <a:lstStyle/>
          <a:p>
            <a:r>
              <a:rPr lang="en-AU"/>
              <a:t>© 2016 KL University – The contents of this presentation are an intellectual and copyrighted property of KL University. ALL RIGHTS RESERVED</a:t>
            </a:r>
          </a:p>
        </p:txBody>
      </p:sp>
      <p:sp>
        <p:nvSpPr>
          <p:cNvPr id="7" name="Slide Number Placeholder 6"/>
          <p:cNvSpPr>
            <a:spLocks noGrp="1"/>
          </p:cNvSpPr>
          <p:nvPr>
            <p:ph type="sldNum" sz="quarter" idx="12"/>
          </p:nvPr>
        </p:nvSpPr>
        <p:spPr/>
        <p:txBody>
          <a:bodyPr/>
          <a:lstStyle/>
          <a:p>
            <a:fld id="{68187FF5-4BF9-4B21-B0D2-9B7FF2B27D7F}" type="slidenum">
              <a:rPr lang="en-AU" smtClean="0"/>
              <a:pPr/>
              <a:t>‹#›</a:t>
            </a:fld>
            <a:endParaRPr lang="en-AU"/>
          </a:p>
        </p:txBody>
      </p:sp>
      <p:pic>
        <p:nvPicPr>
          <p:cNvPr id="4098" name="Picture 2" descr="K L University Logo"/>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r="77376"/>
          <a:stretch/>
        </p:blipFill>
        <p:spPr bwMode="auto">
          <a:xfrm>
            <a:off x="11131781" y="0"/>
            <a:ext cx="1060219"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0865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699295"/>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10759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839788" y="2098190"/>
            <a:ext cx="5157787" cy="409147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5" name="Text Placeholder 4"/>
          <p:cNvSpPr>
            <a:spLocks noGrp="1"/>
          </p:cNvSpPr>
          <p:nvPr>
            <p:ph type="body" sz="quarter" idx="3"/>
          </p:nvPr>
        </p:nvSpPr>
        <p:spPr>
          <a:xfrm>
            <a:off x="6172200" y="110759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098190"/>
            <a:ext cx="5183188" cy="409147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8" name="Footer Placeholder 7"/>
          <p:cNvSpPr>
            <a:spLocks noGrp="1"/>
          </p:cNvSpPr>
          <p:nvPr>
            <p:ph type="ftr" sz="quarter" idx="11"/>
          </p:nvPr>
        </p:nvSpPr>
        <p:spPr>
          <a:xfrm>
            <a:off x="839788" y="6356350"/>
            <a:ext cx="9152110" cy="365125"/>
          </a:xfrm>
        </p:spPr>
        <p:txBody>
          <a:bodyPr/>
          <a:lstStyle/>
          <a:p>
            <a:r>
              <a:rPr lang="en-AU" dirty="0">
                <a:solidFill>
                  <a:srgbClr val="C00000"/>
                </a:solidFill>
              </a:rPr>
              <a:t>© 2016</a:t>
            </a:r>
            <a:r>
              <a:rPr lang="en-AU" dirty="0"/>
              <a:t> </a:t>
            </a:r>
            <a:r>
              <a:rPr lang="en-AU" dirty="0">
                <a:solidFill>
                  <a:srgbClr val="C00000"/>
                </a:solidFill>
              </a:rPr>
              <a:t>KL University </a:t>
            </a:r>
            <a:r>
              <a:rPr lang="en-AU" dirty="0"/>
              <a:t>– The contents of this presentation are an intellectual and copyrighted property of KL University. </a:t>
            </a:r>
            <a:r>
              <a:rPr lang="en-AU" dirty="0">
                <a:solidFill>
                  <a:srgbClr val="C00000"/>
                </a:solidFill>
              </a:rPr>
              <a:t>ALL RIGHTS RESERVED</a:t>
            </a:r>
          </a:p>
        </p:txBody>
      </p:sp>
      <p:sp>
        <p:nvSpPr>
          <p:cNvPr id="9" name="Slide Number Placeholder 8"/>
          <p:cNvSpPr>
            <a:spLocks noGrp="1"/>
          </p:cNvSpPr>
          <p:nvPr>
            <p:ph type="sldNum" sz="quarter" idx="12"/>
          </p:nvPr>
        </p:nvSpPr>
        <p:spPr/>
        <p:txBody>
          <a:bodyPr/>
          <a:lstStyle/>
          <a:p>
            <a:fld id="{68187FF5-4BF9-4B21-B0D2-9B7FF2B27D7F}" type="slidenum">
              <a:rPr lang="en-AU" smtClean="0"/>
              <a:pPr/>
              <a:t>‹#›</a:t>
            </a:fld>
            <a:endParaRPr lang="en-AU"/>
          </a:p>
        </p:txBody>
      </p:sp>
      <p:pic>
        <p:nvPicPr>
          <p:cNvPr id="5122" name="Picture 2" descr="K L University Logo"/>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r="77281"/>
          <a:stretch/>
        </p:blipFill>
        <p:spPr bwMode="auto">
          <a:xfrm>
            <a:off x="11127317" y="-2380"/>
            <a:ext cx="1064683"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5926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fade">
                                      <p:cBhvr>
                                        <p:cTn id="7"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9295"/>
          </a:xfrm>
        </p:spPr>
        <p:txBody>
          <a:bodyPr/>
          <a:lstStyle/>
          <a:p>
            <a:r>
              <a:rPr lang="en-US"/>
              <a:t>Click to edit Master title style</a:t>
            </a:r>
            <a:endParaRPr lang="en-AU"/>
          </a:p>
        </p:txBody>
      </p:sp>
      <p:sp>
        <p:nvSpPr>
          <p:cNvPr id="4" name="Footer Placeholder 3"/>
          <p:cNvSpPr>
            <a:spLocks noGrp="1"/>
          </p:cNvSpPr>
          <p:nvPr>
            <p:ph type="ftr" sz="quarter" idx="11"/>
          </p:nvPr>
        </p:nvSpPr>
        <p:spPr>
          <a:xfrm>
            <a:off x="838200" y="6356350"/>
            <a:ext cx="9153698" cy="365125"/>
          </a:xfrm>
        </p:spPr>
        <p:txBody>
          <a:bodyPr/>
          <a:lstStyle/>
          <a:p>
            <a:r>
              <a:rPr lang="en-AU" dirty="0">
                <a:solidFill>
                  <a:srgbClr val="C00000"/>
                </a:solidFill>
              </a:rPr>
              <a:t>© 2016 KL University </a:t>
            </a:r>
            <a:r>
              <a:rPr lang="en-AU" dirty="0"/>
              <a:t>– The contents of this presentation are an intellectual and copyrighted property of KL University. </a:t>
            </a:r>
            <a:r>
              <a:rPr lang="en-AU" dirty="0">
                <a:solidFill>
                  <a:srgbClr val="C00000"/>
                </a:solidFill>
              </a:rPr>
              <a:t>ALL RIGHTS RESERVED</a:t>
            </a:r>
          </a:p>
        </p:txBody>
      </p:sp>
      <p:sp>
        <p:nvSpPr>
          <p:cNvPr id="5" name="Slide Number Placeholder 4"/>
          <p:cNvSpPr>
            <a:spLocks noGrp="1"/>
          </p:cNvSpPr>
          <p:nvPr>
            <p:ph type="sldNum" sz="quarter" idx="12"/>
          </p:nvPr>
        </p:nvSpPr>
        <p:spPr/>
        <p:txBody>
          <a:bodyPr/>
          <a:lstStyle/>
          <a:p>
            <a:fld id="{68187FF5-4BF9-4B21-B0D2-9B7FF2B27D7F}" type="slidenum">
              <a:rPr lang="en-AU" smtClean="0"/>
              <a:pPr/>
              <a:t>‹#›</a:t>
            </a:fld>
            <a:endParaRPr lang="en-AU"/>
          </a:p>
        </p:txBody>
      </p:sp>
      <p:pic>
        <p:nvPicPr>
          <p:cNvPr id="6" name="Picture 2" descr="K L University Logo"/>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r="77281"/>
          <a:stretch/>
        </p:blipFill>
        <p:spPr bwMode="auto">
          <a:xfrm>
            <a:off x="11127317" y="-2380"/>
            <a:ext cx="1064683"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7570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847898" y="6356350"/>
            <a:ext cx="9144000" cy="365125"/>
          </a:xfrm>
        </p:spPr>
        <p:txBody>
          <a:bodyPr/>
          <a:lstStyle/>
          <a:p>
            <a:r>
              <a:rPr lang="en-AU" dirty="0">
                <a:solidFill>
                  <a:srgbClr val="C00000"/>
                </a:solidFill>
              </a:rPr>
              <a:t>© 2016 KL University </a:t>
            </a:r>
            <a:r>
              <a:rPr lang="en-AU" dirty="0"/>
              <a:t>– The contents of this presentation are an intellectual and copyrighted property of KL University. </a:t>
            </a:r>
            <a:r>
              <a:rPr lang="en-AU" dirty="0">
                <a:solidFill>
                  <a:srgbClr val="C00000"/>
                </a:solidFill>
              </a:rPr>
              <a:t>ALL RIGHTS RESERVED</a:t>
            </a:r>
          </a:p>
        </p:txBody>
      </p:sp>
      <p:sp>
        <p:nvSpPr>
          <p:cNvPr id="4" name="Slide Number Placeholder 3"/>
          <p:cNvSpPr>
            <a:spLocks noGrp="1"/>
          </p:cNvSpPr>
          <p:nvPr>
            <p:ph type="sldNum" sz="quarter" idx="12"/>
          </p:nvPr>
        </p:nvSpPr>
        <p:spPr/>
        <p:txBody>
          <a:bodyPr/>
          <a:lstStyle/>
          <a:p>
            <a:fld id="{68187FF5-4BF9-4B21-B0D2-9B7FF2B27D7F}" type="slidenum">
              <a:rPr lang="en-AU" smtClean="0"/>
              <a:pPr/>
              <a:t>‹#›</a:t>
            </a:fld>
            <a:endParaRPr lang="en-AU"/>
          </a:p>
        </p:txBody>
      </p:sp>
      <p:pic>
        <p:nvPicPr>
          <p:cNvPr id="5" name="Picture 2" descr="K L University Logo"/>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r="77281"/>
          <a:stretch/>
        </p:blipFill>
        <p:spPr bwMode="auto">
          <a:xfrm>
            <a:off x="11127317" y="-2380"/>
            <a:ext cx="1064683"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12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p:cNvSpPr>
            <a:spLocks noGrp="1"/>
          </p:cNvSpPr>
          <p:nvPr>
            <p:ph type="ftr" sz="quarter" idx="11"/>
          </p:nvPr>
        </p:nvSpPr>
        <p:spPr>
          <a:xfrm>
            <a:off x="839788" y="6356350"/>
            <a:ext cx="9152110" cy="365125"/>
          </a:xfrm>
        </p:spPr>
        <p:txBody>
          <a:bodyPr/>
          <a:lstStyle/>
          <a:p>
            <a:r>
              <a:rPr lang="en-AU" dirty="0">
                <a:solidFill>
                  <a:srgbClr val="C00000"/>
                </a:solidFill>
              </a:rPr>
              <a:t>© 2016 KL University </a:t>
            </a:r>
            <a:r>
              <a:rPr lang="en-AU" dirty="0"/>
              <a:t>– The contents of this presentation are an intellectual and copyrighted property of KL University. </a:t>
            </a:r>
            <a:r>
              <a:rPr lang="en-AU" dirty="0">
                <a:solidFill>
                  <a:srgbClr val="C00000"/>
                </a:solidFill>
              </a:rPr>
              <a:t>ALL RIGHTS RESERVED</a:t>
            </a:r>
          </a:p>
        </p:txBody>
      </p:sp>
      <p:sp>
        <p:nvSpPr>
          <p:cNvPr id="7" name="Slide Number Placeholder 6"/>
          <p:cNvSpPr>
            <a:spLocks noGrp="1"/>
          </p:cNvSpPr>
          <p:nvPr>
            <p:ph type="sldNum" sz="quarter" idx="12"/>
          </p:nvPr>
        </p:nvSpPr>
        <p:spPr/>
        <p:txBody>
          <a:bodyPr/>
          <a:lstStyle/>
          <a:p>
            <a:fld id="{68187FF5-4BF9-4B21-B0D2-9B7FF2B27D7F}" type="slidenum">
              <a:rPr lang="en-AU" smtClean="0"/>
              <a:pPr/>
              <a:t>‹#›</a:t>
            </a:fld>
            <a:endParaRPr lang="en-AU"/>
          </a:p>
        </p:txBody>
      </p:sp>
      <p:pic>
        <p:nvPicPr>
          <p:cNvPr id="8" name="Picture 2" descr="K L University Logo"/>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r="77281"/>
          <a:stretch/>
        </p:blipFill>
        <p:spPr bwMode="auto">
          <a:xfrm>
            <a:off x="11127317" y="-2380"/>
            <a:ext cx="1064683"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5806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p:cNvSpPr>
            <a:spLocks noGrp="1"/>
          </p:cNvSpPr>
          <p:nvPr>
            <p:ph type="ftr" sz="quarter" idx="11"/>
          </p:nvPr>
        </p:nvSpPr>
        <p:spPr>
          <a:xfrm>
            <a:off x="839788" y="6356350"/>
            <a:ext cx="9152110" cy="365125"/>
          </a:xfrm>
        </p:spPr>
        <p:txBody>
          <a:bodyPr/>
          <a:lstStyle/>
          <a:p>
            <a:r>
              <a:rPr lang="en-AU" dirty="0">
                <a:solidFill>
                  <a:srgbClr val="C00000"/>
                </a:solidFill>
              </a:rPr>
              <a:t>© 2016 KL University </a:t>
            </a:r>
            <a:r>
              <a:rPr lang="en-AU" dirty="0"/>
              <a:t>– The contents of this presentation are an intellectual and copyrighted property of KL University. </a:t>
            </a:r>
            <a:r>
              <a:rPr lang="en-AU" dirty="0">
                <a:solidFill>
                  <a:srgbClr val="C00000"/>
                </a:solidFill>
              </a:rPr>
              <a:t>ALL RIGHTS RESERVED</a:t>
            </a:r>
          </a:p>
        </p:txBody>
      </p:sp>
      <p:sp>
        <p:nvSpPr>
          <p:cNvPr id="7" name="Slide Number Placeholder 6"/>
          <p:cNvSpPr>
            <a:spLocks noGrp="1"/>
          </p:cNvSpPr>
          <p:nvPr>
            <p:ph type="sldNum" sz="quarter" idx="12"/>
          </p:nvPr>
        </p:nvSpPr>
        <p:spPr/>
        <p:txBody>
          <a:bodyPr/>
          <a:lstStyle/>
          <a:p>
            <a:fld id="{68187FF5-4BF9-4B21-B0D2-9B7FF2B27D7F}" type="slidenum">
              <a:rPr lang="en-AU" smtClean="0"/>
              <a:pPr/>
              <a:t>‹#›</a:t>
            </a:fld>
            <a:endParaRPr lang="en-AU"/>
          </a:p>
        </p:txBody>
      </p:sp>
      <p:pic>
        <p:nvPicPr>
          <p:cNvPr id="8" name="Picture 2" descr="K L University Logo"/>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r="77281"/>
          <a:stretch/>
        </p:blipFill>
        <p:spPr bwMode="auto">
          <a:xfrm>
            <a:off x="11127317" y="-2380"/>
            <a:ext cx="1064683"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4217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Footer Placeholder 4"/>
          <p:cNvSpPr>
            <a:spLocks noGrp="1"/>
          </p:cNvSpPr>
          <p:nvPr>
            <p:ph type="ftr" sz="quarter" idx="11"/>
          </p:nvPr>
        </p:nvSpPr>
        <p:spPr>
          <a:xfrm>
            <a:off x="838200" y="6356350"/>
            <a:ext cx="9153698" cy="365125"/>
          </a:xfrm>
        </p:spPr>
        <p:txBody>
          <a:bodyPr/>
          <a:lstStyle/>
          <a:p>
            <a:r>
              <a:rPr lang="en-AU" dirty="0">
                <a:solidFill>
                  <a:srgbClr val="C00000"/>
                </a:solidFill>
              </a:rPr>
              <a:t>© 2016 KL University </a:t>
            </a:r>
            <a:r>
              <a:rPr lang="en-AU" dirty="0"/>
              <a:t>– The contents of this presentation are an intellectual and copyrighted property of KL University. </a:t>
            </a:r>
            <a:r>
              <a:rPr lang="en-AU" dirty="0">
                <a:solidFill>
                  <a:srgbClr val="C00000"/>
                </a:solidFill>
              </a:rPr>
              <a:t>ALL RIGHTS RESERVED</a:t>
            </a:r>
          </a:p>
        </p:txBody>
      </p:sp>
      <p:sp>
        <p:nvSpPr>
          <p:cNvPr id="6" name="Slide Number Placeholder 5"/>
          <p:cNvSpPr>
            <a:spLocks noGrp="1"/>
          </p:cNvSpPr>
          <p:nvPr>
            <p:ph type="sldNum" sz="quarter" idx="12"/>
          </p:nvPr>
        </p:nvSpPr>
        <p:spPr/>
        <p:txBody>
          <a:bodyPr/>
          <a:lstStyle/>
          <a:p>
            <a:fld id="{68187FF5-4BF9-4B21-B0D2-9B7FF2B27D7F}" type="slidenum">
              <a:rPr lang="en-AU" smtClean="0"/>
              <a:pPr/>
              <a:t>‹#›</a:t>
            </a:fld>
            <a:endParaRPr lang="en-AU"/>
          </a:p>
        </p:txBody>
      </p:sp>
      <p:pic>
        <p:nvPicPr>
          <p:cNvPr id="7" name="Picture 2" descr="K L University Logo"/>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r="77281"/>
          <a:stretch/>
        </p:blipFill>
        <p:spPr bwMode="auto">
          <a:xfrm rot="5400000">
            <a:off x="11126258" y="-1059"/>
            <a:ext cx="1064683"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8412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Footer Placeholder 4"/>
          <p:cNvSpPr>
            <a:spLocks noGrp="1"/>
          </p:cNvSpPr>
          <p:nvPr>
            <p:ph type="ftr" sz="quarter" idx="11"/>
          </p:nvPr>
        </p:nvSpPr>
        <p:spPr>
          <a:xfrm>
            <a:off x="838200" y="6356350"/>
            <a:ext cx="9153698" cy="365125"/>
          </a:xfrm>
        </p:spPr>
        <p:txBody>
          <a:bodyPr/>
          <a:lstStyle/>
          <a:p>
            <a:r>
              <a:rPr lang="en-AU" dirty="0">
                <a:solidFill>
                  <a:srgbClr val="C00000"/>
                </a:solidFill>
              </a:rPr>
              <a:t>© 2016 KL University </a:t>
            </a:r>
            <a:r>
              <a:rPr lang="en-AU" dirty="0"/>
              <a:t>– The contents of this presentation are an intellectual and copyrighted property of KL University. </a:t>
            </a:r>
            <a:r>
              <a:rPr lang="en-AU" dirty="0">
                <a:solidFill>
                  <a:srgbClr val="C00000"/>
                </a:solidFill>
              </a:rPr>
              <a:t>ALL RIGHTS RESERVED</a:t>
            </a:r>
          </a:p>
        </p:txBody>
      </p:sp>
      <p:sp>
        <p:nvSpPr>
          <p:cNvPr id="6" name="Slide Number Placeholder 5"/>
          <p:cNvSpPr>
            <a:spLocks noGrp="1"/>
          </p:cNvSpPr>
          <p:nvPr>
            <p:ph type="sldNum" sz="quarter" idx="12"/>
          </p:nvPr>
        </p:nvSpPr>
        <p:spPr/>
        <p:txBody>
          <a:bodyPr/>
          <a:lstStyle/>
          <a:p>
            <a:fld id="{68187FF5-4BF9-4B21-B0D2-9B7FF2B27D7F}" type="slidenum">
              <a:rPr lang="en-AU" smtClean="0"/>
              <a:pPr/>
              <a:t>‹#›</a:t>
            </a:fld>
            <a:endParaRPr lang="en-AU"/>
          </a:p>
        </p:txBody>
      </p:sp>
      <p:pic>
        <p:nvPicPr>
          <p:cNvPr id="7" name="Picture 2" descr="K L University Logo"/>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r="77281"/>
          <a:stretch/>
        </p:blipFill>
        <p:spPr bwMode="auto">
          <a:xfrm rot="5400000">
            <a:off x="11126259" y="-59248"/>
            <a:ext cx="1064683"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6834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ferenc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References</a:t>
            </a:r>
            <a:endParaRPr lang="en-AU" dirty="0"/>
          </a:p>
        </p:txBody>
      </p:sp>
      <p:sp>
        <p:nvSpPr>
          <p:cNvPr id="3" name="Footer Placeholder 2"/>
          <p:cNvSpPr>
            <a:spLocks noGrp="1"/>
          </p:cNvSpPr>
          <p:nvPr>
            <p:ph type="ftr" sz="quarter" idx="10"/>
          </p:nvPr>
        </p:nvSpPr>
        <p:spPr/>
        <p:txBody>
          <a:bodyPr/>
          <a:lstStyle/>
          <a:p>
            <a:r>
              <a:rPr lang="en-AU" dirty="0">
                <a:solidFill>
                  <a:srgbClr val="C00000"/>
                </a:solidFill>
              </a:rPr>
              <a:t>© 2016 KL University </a:t>
            </a:r>
            <a:r>
              <a:rPr lang="en-AU" dirty="0"/>
              <a:t>– The contents of this presentation are an intellectual and copyrighted property of KL University. </a:t>
            </a:r>
            <a:r>
              <a:rPr lang="en-AU" dirty="0">
                <a:solidFill>
                  <a:srgbClr val="C00000"/>
                </a:solidFill>
              </a:rPr>
              <a:t>ALL RIGHTS RESERVED</a:t>
            </a:r>
          </a:p>
        </p:txBody>
      </p:sp>
      <p:sp>
        <p:nvSpPr>
          <p:cNvPr id="4" name="Slide Number Placeholder 3"/>
          <p:cNvSpPr>
            <a:spLocks noGrp="1"/>
          </p:cNvSpPr>
          <p:nvPr>
            <p:ph type="sldNum" sz="quarter" idx="11"/>
          </p:nvPr>
        </p:nvSpPr>
        <p:spPr/>
        <p:txBody>
          <a:bodyPr/>
          <a:lstStyle/>
          <a:p>
            <a:fld id="{68187FF5-4BF9-4B21-B0D2-9B7FF2B27D7F}" type="slidenum">
              <a:rPr lang="en-AU" smtClean="0"/>
              <a:pPr/>
              <a:t>‹#›</a:t>
            </a:fld>
            <a:endParaRPr lang="en-AU" dirty="0"/>
          </a:p>
        </p:txBody>
      </p:sp>
      <p:sp>
        <p:nvSpPr>
          <p:cNvPr id="8" name="Text Placeholder 7"/>
          <p:cNvSpPr>
            <a:spLocks noGrp="1"/>
          </p:cNvSpPr>
          <p:nvPr>
            <p:ph type="body" sz="quarter" idx="12"/>
          </p:nvPr>
        </p:nvSpPr>
        <p:spPr>
          <a:xfrm>
            <a:off x="838200" y="1238596"/>
            <a:ext cx="10515599" cy="5012575"/>
          </a:xfrm>
        </p:spPr>
        <p:txBody>
          <a:bodyPr/>
          <a:lstStyle>
            <a:lvl1pPr marL="514350" indent="-514350">
              <a:buFont typeface="+mj-lt"/>
              <a:buAutoNum type="arabicPeriod"/>
              <a:defRPr/>
            </a:lvl1pPr>
            <a:lvl2pPr marL="914400" indent="-457200">
              <a:buFont typeface="+mj-lt"/>
              <a:buAutoNum type="arabicPeriod"/>
              <a:defRPr/>
            </a:lvl2pPr>
            <a:lvl3pPr marL="1371600" indent="-4572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pic>
        <p:nvPicPr>
          <p:cNvPr id="9" name="Picture 2" descr="K L University Logo"/>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r="77281"/>
          <a:stretch/>
        </p:blipFill>
        <p:spPr bwMode="auto">
          <a:xfrm>
            <a:off x="11127317" y="-2380"/>
            <a:ext cx="1064683"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2160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571091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685772"/>
          </a:xfrm>
          <a:prstGeom prst="rect">
            <a:avLst/>
          </a:prstGeom>
        </p:spPr>
        <p:txBody>
          <a:bodyPr vert="horz" lIns="91440" tIns="45720" rIns="91440" bIns="45720" rtlCol="0" anchor="ctr">
            <a:normAutofit/>
          </a:bodyPr>
          <a:lstStyle/>
          <a:p>
            <a:r>
              <a:rPr lang="en-US" dirty="0"/>
              <a:t>Click to edit Master title style</a:t>
            </a:r>
            <a:endParaRPr lang="en-AU" dirty="0"/>
          </a:p>
        </p:txBody>
      </p:sp>
      <p:sp>
        <p:nvSpPr>
          <p:cNvPr id="3" name="Text Placeholder 2"/>
          <p:cNvSpPr>
            <a:spLocks noGrp="1"/>
          </p:cNvSpPr>
          <p:nvPr>
            <p:ph type="body" idx="1"/>
          </p:nvPr>
        </p:nvSpPr>
        <p:spPr>
          <a:xfrm>
            <a:off x="838200" y="1155470"/>
            <a:ext cx="10515600" cy="502149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5" name="Footer Placeholder 4"/>
          <p:cNvSpPr>
            <a:spLocks noGrp="1"/>
          </p:cNvSpPr>
          <p:nvPr>
            <p:ph type="ftr" sz="quarter" idx="3"/>
          </p:nvPr>
        </p:nvSpPr>
        <p:spPr>
          <a:xfrm>
            <a:off x="838200" y="6356350"/>
            <a:ext cx="9153698"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AU" dirty="0"/>
              <a:t>© 2016 KL University – The contents of this presentation are an intellectual and copyrighted property of KL University. ALL RIGHTS RESERVED</a:t>
            </a:r>
          </a:p>
        </p:txBody>
      </p:sp>
      <p:sp>
        <p:nvSpPr>
          <p:cNvPr id="6" name="Slide Number Placeholder 5"/>
          <p:cNvSpPr>
            <a:spLocks noGrp="1"/>
          </p:cNvSpPr>
          <p:nvPr>
            <p:ph type="sldNum" sz="quarter" idx="4"/>
          </p:nvPr>
        </p:nvSpPr>
        <p:spPr>
          <a:xfrm>
            <a:off x="10648604" y="6356350"/>
            <a:ext cx="705196" cy="365125"/>
          </a:xfrm>
          <a:prstGeom prst="rect">
            <a:avLst/>
          </a:prstGeom>
        </p:spPr>
        <p:txBody>
          <a:bodyPr vert="horz" lIns="91440" tIns="45720" rIns="91440" bIns="45720" rtlCol="0" anchor="ctr"/>
          <a:lstStyle>
            <a:lvl1pPr algn="r">
              <a:defRPr sz="1200" b="1">
                <a:solidFill>
                  <a:schemeClr val="tx1">
                    <a:tint val="75000"/>
                  </a:schemeClr>
                </a:solidFill>
              </a:defRPr>
            </a:lvl1pPr>
          </a:lstStyle>
          <a:p>
            <a:fld id="{68187FF5-4BF9-4B21-B0D2-9B7FF2B27D7F}" type="slidenum">
              <a:rPr lang="en-AU" smtClean="0"/>
              <a:pPr/>
              <a:t>‹#›</a:t>
            </a:fld>
            <a:endParaRPr lang="en-AU" dirty="0"/>
          </a:p>
        </p:txBody>
      </p:sp>
    </p:spTree>
    <p:extLst>
      <p:ext uri="{BB962C8B-B14F-4D97-AF65-F5344CB8AC3E}">
        <p14:creationId xmlns:p14="http://schemas.microsoft.com/office/powerpoint/2010/main" val="1220846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dt="0"/>
  <p:txStyles>
    <p:titleStyle>
      <a:lvl1pPr algn="l" defTabSz="914400" rtl="0" eaLnBrk="1" latinLnBrk="0" hangingPunct="1">
        <a:lnSpc>
          <a:spcPct val="90000"/>
        </a:lnSpc>
        <a:spcBef>
          <a:spcPct val="0"/>
        </a:spcBef>
        <a:buNone/>
        <a:defRPr sz="4400" kern="1200">
          <a:solidFill>
            <a:srgbClr val="C0000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tutorialspoint.com/data_communication_computer_network/error_detection_and_correction.htm"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43538"/>
            <a:ext cx="6027459" cy="6623931"/>
          </a:xfrm>
          <a:prstGeom prst="rect">
            <a:avLst/>
          </a:prstGeom>
          <a:noFill/>
          <a:ln>
            <a:noFill/>
          </a:ln>
        </p:spPr>
      </p:pic>
      <p:sp>
        <p:nvSpPr>
          <p:cNvPr id="476" name="Google Shape;476;p16"/>
          <p:cNvSpPr txBox="1"/>
          <p:nvPr/>
        </p:nvSpPr>
        <p:spPr>
          <a:xfrm>
            <a:off x="5394455" y="1933408"/>
            <a:ext cx="6902548" cy="2616060"/>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COMPUTER NETWORKS</a:t>
            </a:r>
          </a:p>
          <a:p>
            <a:pPr marR="0" lvl="0" indent="0" algn="ctr">
              <a:spcBef>
                <a:spcPts val="0"/>
              </a:spcBef>
              <a:spcAft>
                <a:spcPts val="0"/>
              </a:spcAft>
              <a:buNone/>
            </a:pPr>
            <a:r>
              <a:rPr lang="en-US" sz="3200" b="1" cap="all" dirty="0">
                <a:ln/>
                <a:solidFill>
                  <a:srgbClr val="C00000"/>
                </a:solidFill>
                <a:cs typeface="Poppins"/>
                <a:sym typeface="BioRhyme ExtraBold"/>
              </a:rPr>
              <a:t>24Cs2202</a:t>
            </a:r>
            <a:endParaRPr lang="en-US" sz="3200" b="1" cap="all" dirty="0">
              <a:ln/>
              <a:solidFill>
                <a:srgbClr val="C00000"/>
              </a:solidFill>
              <a:ea typeface="Calibri"/>
              <a:cs typeface="Poppins"/>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err="1">
                <a:ln/>
                <a:solidFill>
                  <a:srgbClr val="C00000"/>
                </a:solidFill>
                <a:effectLst/>
                <a:cs typeface="Poppins"/>
              </a:rPr>
              <a:t>ERROr</a:t>
            </a:r>
            <a:r>
              <a:rPr lang="en-US" sz="4000" b="1" cap="all" dirty="0">
                <a:ln/>
                <a:solidFill>
                  <a:srgbClr val="C00000"/>
                </a:solidFill>
                <a:effectLst/>
                <a:cs typeface="Poppins"/>
              </a:rPr>
              <a:t> CORRECTION &amp; DETECTION</a:t>
            </a:r>
            <a:endParaRPr lang="en-US" sz="4000" b="1" dirty="0">
              <a:solidFill>
                <a:srgbClr val="C00000"/>
              </a:solidFill>
              <a:effectLst/>
              <a:cs typeface="Poppins"/>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583411" y="4855998"/>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–10</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134953"/>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a:t>
            </a:r>
            <a:r>
              <a:rPr lang="en-US" sz="1600" dirty="0">
                <a:latin typeface="Poppins"/>
                <a:cs typeface="Poppins"/>
              </a:rPr>
              <a:t>idea</a:t>
            </a:r>
            <a:r>
              <a:rPr lang="en-US" sz="1600" b="0" i="0" dirty="0">
                <a:effectLst/>
                <a:latin typeface="Poppins"/>
                <a:cs typeface="Poppins"/>
              </a:rPr>
              <a:t> of Error Control in Data link layer.</a:t>
            </a: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rPr>
              <a:t>Describe different types of </a:t>
            </a:r>
            <a:r>
              <a:rPr lang="en-US" sz="1600" dirty="0">
                <a:latin typeface="Arial" panose="020B0604020202020204" pitchFamily="34" charset="0"/>
              </a:rPr>
              <a:t>errors.</a:t>
            </a:r>
            <a:endParaRPr lang="en-US" sz="1600" b="0" i="0" dirty="0">
              <a:effectLst/>
              <a:latin typeface="Arial" panose="020B0604020202020204" pitchFamily="34" charset="0"/>
            </a:endParaRPr>
          </a:p>
          <a:p>
            <a:pPr marL="342900" indent="-342900">
              <a:buAutoNum type="arabicPeriod"/>
            </a:pPr>
            <a:r>
              <a:rPr lang="en-US" sz="1600" dirty="0">
                <a:latin typeface="Arial" panose="020B0604020202020204" pitchFamily="34" charset="0"/>
              </a:rPr>
              <a:t>Understand different types of error detection methods.</a:t>
            </a:r>
            <a:endParaRPr lang="en-US" sz="1600" b="0" i="0" dirty="0">
              <a:effectLst/>
              <a:latin typeface="Arial" panose="020B0604020202020204" pitchFamily="34" charset="0"/>
            </a:endParaRPr>
          </a:p>
          <a:p>
            <a:pPr marL="342900" indent="-342900">
              <a:buAutoNum type="arabicPeriod"/>
            </a:pPr>
            <a:r>
              <a:rPr lang="en-US" sz="1600" b="0" i="0" dirty="0">
                <a:effectLst/>
                <a:latin typeface="Arial"/>
                <a:cs typeface="Arial"/>
              </a:rPr>
              <a:t>Understand error correction mechanism. </a:t>
            </a:r>
            <a:endParaRPr lang="en-US" sz="1600" dirty="0">
              <a:latin typeface="Arial"/>
              <a:cs typeface="Arial"/>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Identify the types of errors.</a:t>
            </a:r>
          </a:p>
          <a:p>
            <a:pPr marL="342900" indent="-342900">
              <a:buAutoNum type="arabicPeriod"/>
            </a:pPr>
            <a:r>
              <a:rPr lang="en-US" sz="1600" b="0" i="0" dirty="0">
                <a:effectLst/>
                <a:latin typeface="Arial" panose="020B0604020202020204" pitchFamily="34" charset="0"/>
              </a:rPr>
              <a:t>Apply different error detection techniques to identify the error.</a:t>
            </a:r>
          </a:p>
          <a:p>
            <a:pPr marL="342900" indent="-342900">
              <a:buAutoNum type="arabicPeriod"/>
            </a:pPr>
            <a:r>
              <a:rPr lang="en-US" sz="1600" dirty="0">
                <a:latin typeface="Arial" panose="020B0604020202020204" pitchFamily="34" charset="0"/>
              </a:rPr>
              <a:t>Apply hamming code to detect and correct the error in the data. </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algn="ctr" eaLnBrk="1" fontAlgn="auto" hangingPunct="1">
              <a:spcAft>
                <a:spcPts val="0"/>
              </a:spcAft>
              <a:defRPr/>
            </a:pPr>
            <a:r>
              <a:rPr lang="en-US" altLang="ko-KR" b="1" dirty="0">
                <a:effectLst>
                  <a:outerShdw blurRad="38100" dist="38100" dir="2700000" algn="tl">
                    <a:srgbClr val="FFFFFF"/>
                  </a:outerShdw>
                </a:effectLst>
              </a:rPr>
              <a:t>Error Detection and Correction</a:t>
            </a:r>
            <a:endParaRPr lang="en-US" b="1" dirty="0"/>
          </a:p>
        </p:txBody>
      </p:sp>
      <p:sp>
        <p:nvSpPr>
          <p:cNvPr id="10243" name="Content Placeholder 2"/>
          <p:cNvSpPr>
            <a:spLocks noGrp="1"/>
          </p:cNvSpPr>
          <p:nvPr>
            <p:ph idx="1"/>
          </p:nvPr>
        </p:nvSpPr>
        <p:spPr/>
        <p:txBody>
          <a:bodyPr/>
          <a:lstStyle/>
          <a:p>
            <a:pPr algn="just" eaLnBrk="1" hangingPunct="1">
              <a:lnSpc>
                <a:spcPct val="150000"/>
              </a:lnSpc>
            </a:pPr>
            <a:r>
              <a:rPr lang="en-US" altLang="ko-KR" dirty="0">
                <a:solidFill>
                  <a:srgbClr val="000000"/>
                </a:solidFill>
              </a:rPr>
              <a:t>Types of Errors</a:t>
            </a:r>
          </a:p>
          <a:p>
            <a:pPr algn="just" eaLnBrk="1" hangingPunct="1">
              <a:lnSpc>
                <a:spcPct val="150000"/>
              </a:lnSpc>
            </a:pPr>
            <a:r>
              <a:rPr lang="en-US" altLang="ko-KR">
                <a:solidFill>
                  <a:srgbClr val="000000"/>
                </a:solidFill>
              </a:rPr>
              <a:t>Error Detection</a:t>
            </a:r>
            <a:endParaRPr lang="en-US" altLang="ko-KR" dirty="0">
              <a:solidFill>
                <a:srgbClr val="000000"/>
              </a:solidFill>
            </a:endParaRPr>
          </a:p>
          <a:p>
            <a:pPr algn="just" eaLnBrk="1" hangingPunct="1">
              <a:lnSpc>
                <a:spcPct val="150000"/>
              </a:lnSpc>
            </a:pPr>
            <a:r>
              <a:rPr lang="en-US" altLang="ko-KR" dirty="0">
                <a:solidFill>
                  <a:srgbClr val="000000"/>
                </a:solidFill>
              </a:rPr>
              <a:t>Error Correction</a:t>
            </a:r>
            <a:endParaRPr lang="en-US" altLang="ko-KR" dirty="0"/>
          </a:p>
          <a:p>
            <a:pPr eaLnBrk="1" hangingPunct="1"/>
            <a:endParaRPr lang="en-US" dirty="0"/>
          </a:p>
        </p:txBody>
      </p:sp>
      <p:pic>
        <p:nvPicPr>
          <p:cNvPr id="3" name="Picture 2" descr="KL Deemed to be University Logo">
            <a:extLst>
              <a:ext uri="{FF2B5EF4-FFF2-40B4-BE49-F238E27FC236}">
                <a16:creationId xmlns:a16="http://schemas.microsoft.com/office/drawing/2014/main" id="{06856949-4CE2-70E4-D89D-9C3110CF9149}"/>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algn="ctr" eaLnBrk="1" fontAlgn="auto" hangingPunct="1">
              <a:spcAft>
                <a:spcPts val="0"/>
              </a:spcAft>
              <a:defRPr/>
            </a:pPr>
            <a:r>
              <a:rPr lang="en-US" altLang="ko-KR" b="1" dirty="0">
                <a:effectLst>
                  <a:outerShdw blurRad="38100" dist="38100" dir="2700000" algn="tl">
                    <a:srgbClr val="FFFFFF"/>
                  </a:outerShdw>
                </a:effectLst>
              </a:rPr>
              <a:t>Introduction</a:t>
            </a:r>
            <a:endParaRPr lang="en-US" b="1" dirty="0"/>
          </a:p>
        </p:txBody>
      </p:sp>
      <p:sp>
        <p:nvSpPr>
          <p:cNvPr id="11267" name="Content Placeholder 2"/>
          <p:cNvSpPr>
            <a:spLocks noGrp="1"/>
          </p:cNvSpPr>
          <p:nvPr>
            <p:ph idx="1"/>
          </p:nvPr>
        </p:nvSpPr>
        <p:spPr/>
        <p:txBody>
          <a:bodyPr/>
          <a:lstStyle/>
          <a:p>
            <a:pPr algn="just" eaLnBrk="1" hangingPunct="1"/>
            <a:endParaRPr lang="en-US" altLang="ko-KR" dirty="0">
              <a:solidFill>
                <a:srgbClr val="000000"/>
              </a:solidFill>
            </a:endParaRPr>
          </a:p>
          <a:p>
            <a:pPr algn="just" eaLnBrk="1" hangingPunct="1"/>
            <a:r>
              <a:rPr lang="en-US" altLang="ko-KR" dirty="0">
                <a:solidFill>
                  <a:srgbClr val="000000"/>
                </a:solidFill>
              </a:rPr>
              <a:t>Data can be corrupted during transmission. For reliable communication, error must be detected and corrected.</a:t>
            </a:r>
          </a:p>
          <a:p>
            <a:pPr algn="just" eaLnBrk="1" hangingPunct="1"/>
            <a:endParaRPr lang="en-US" altLang="ko-KR" dirty="0">
              <a:solidFill>
                <a:srgbClr val="000000"/>
              </a:solidFill>
            </a:endParaRPr>
          </a:p>
          <a:p>
            <a:pPr algn="just" eaLnBrk="1" hangingPunct="1"/>
            <a:r>
              <a:rPr lang="en-US" altLang="ko-KR" dirty="0">
                <a:solidFill>
                  <a:srgbClr val="000000"/>
                </a:solidFill>
              </a:rPr>
              <a:t>Error Detection and Correction are implemented either at the data link layer or the transport layer of the OSI model.</a:t>
            </a:r>
          </a:p>
          <a:p>
            <a:pPr eaLnBrk="1" hangingPunct="1"/>
            <a:endParaRPr lang="en-US" dirty="0"/>
          </a:p>
        </p:txBody>
      </p:sp>
      <p:pic>
        <p:nvPicPr>
          <p:cNvPr id="3" name="Picture 2" descr="KL Deemed to be University Logo">
            <a:extLst>
              <a:ext uri="{FF2B5EF4-FFF2-40B4-BE49-F238E27FC236}">
                <a16:creationId xmlns:a16="http://schemas.microsoft.com/office/drawing/2014/main" id="{F821F249-5DC5-819C-EF61-691333918B06}"/>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normAutofit fontScale="90000"/>
          </a:bodyPr>
          <a:lstStyle/>
          <a:p>
            <a:pPr algn="ctr" eaLnBrk="1" hangingPunct="1"/>
            <a:r>
              <a:rPr lang="en-US" altLang="ko-KR" b="1" dirty="0"/>
              <a:t>Type of Errors</a:t>
            </a:r>
            <a:endParaRPr lang="en-US" b="1" dirty="0"/>
          </a:p>
        </p:txBody>
      </p:sp>
      <p:pic>
        <p:nvPicPr>
          <p:cNvPr id="12291" name="Picture 4"/>
          <p:cNvPicPr>
            <a:picLocks noGrp="1" noChangeAspect="1" noChangeArrowheads="1"/>
          </p:cNvPicPr>
          <p:nvPr>
            <p:ph idx="1"/>
          </p:nvPr>
        </p:nvPicPr>
        <p:blipFill>
          <a:blip r:embed="rId2" cstate="print"/>
          <a:srcRect/>
          <a:stretch>
            <a:fillRect/>
          </a:stretch>
        </p:blipFill>
        <p:spPr>
          <a:xfrm>
            <a:off x="609600" y="2582864"/>
            <a:ext cx="10972800" cy="2560637"/>
          </a:xfrm>
          <a:noFill/>
        </p:spPr>
      </p:pic>
      <p:pic>
        <p:nvPicPr>
          <p:cNvPr id="2" name="Picture 2" descr="KL Deemed to be University Logo">
            <a:extLst>
              <a:ext uri="{FF2B5EF4-FFF2-40B4-BE49-F238E27FC236}">
                <a16:creationId xmlns:a16="http://schemas.microsoft.com/office/drawing/2014/main" id="{CA433826-0C66-328E-3F7B-F3CFDD26D2FD}"/>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normAutofit fontScale="90000"/>
          </a:bodyPr>
          <a:lstStyle/>
          <a:p>
            <a:pPr algn="ctr" eaLnBrk="1" hangingPunct="1"/>
            <a:r>
              <a:rPr lang="en-US" altLang="ko-KR" b="1" dirty="0"/>
              <a:t>Type of Errors(cont’d)</a:t>
            </a:r>
            <a:endParaRPr lang="en-US" b="1" dirty="0"/>
          </a:p>
        </p:txBody>
      </p:sp>
      <p:sp>
        <p:nvSpPr>
          <p:cNvPr id="13315" name="Content Placeholder 2"/>
          <p:cNvSpPr>
            <a:spLocks noGrp="1"/>
          </p:cNvSpPr>
          <p:nvPr>
            <p:ph idx="1"/>
          </p:nvPr>
        </p:nvSpPr>
        <p:spPr>
          <a:xfrm>
            <a:off x="441460" y="1631067"/>
            <a:ext cx="4832289" cy="4334096"/>
          </a:xfrm>
        </p:spPr>
        <p:txBody>
          <a:bodyPr>
            <a:normAutofit fontScale="85000" lnSpcReduction="20000"/>
          </a:bodyPr>
          <a:lstStyle/>
          <a:p>
            <a:pPr eaLnBrk="1" hangingPunct="1"/>
            <a:r>
              <a:rPr lang="en-US" altLang="ko-KR" b="1" dirty="0">
                <a:solidFill>
                  <a:srgbClr val="000000"/>
                </a:solidFill>
              </a:rPr>
              <a:t>Single-Bit Error</a:t>
            </a:r>
            <a:r>
              <a:rPr lang="en-US" altLang="ko-KR" dirty="0">
                <a:solidFill>
                  <a:srgbClr val="000000"/>
                </a:solidFill>
              </a:rPr>
              <a:t>: Only one bit in the data unit has changed</a:t>
            </a:r>
          </a:p>
          <a:p>
            <a:pPr eaLnBrk="1" hangingPunct="1"/>
            <a:endParaRPr lang="en-US" dirty="0"/>
          </a:p>
          <a:p>
            <a:pPr eaLnBrk="1" hangingPunct="1"/>
            <a:endParaRPr lang="en-US" dirty="0"/>
          </a:p>
          <a:p>
            <a:r>
              <a:rPr lang="en-US" altLang="ko-KR" b="1" dirty="0">
                <a:solidFill>
                  <a:srgbClr val="000000"/>
                </a:solidFill>
              </a:rPr>
              <a:t>Multiple-Bit Error: </a:t>
            </a:r>
            <a:r>
              <a:rPr lang="en-US" altLang="ko-KR" dirty="0">
                <a:solidFill>
                  <a:srgbClr val="000000"/>
                </a:solidFill>
              </a:rPr>
              <a:t>Two or more nonconsecutive bits in the data unit have changed.</a:t>
            </a:r>
          </a:p>
          <a:p>
            <a:endParaRPr lang="en-US" altLang="ko-KR" dirty="0">
              <a:solidFill>
                <a:srgbClr val="000000"/>
              </a:solidFill>
            </a:endParaRPr>
          </a:p>
          <a:p>
            <a:endParaRPr lang="en-US" altLang="ko-KR" dirty="0">
              <a:solidFill>
                <a:srgbClr val="000000"/>
              </a:solidFill>
            </a:endParaRPr>
          </a:p>
          <a:p>
            <a:endParaRPr lang="en-US" altLang="ko-KR" dirty="0">
              <a:solidFill>
                <a:srgbClr val="000000"/>
              </a:solidFill>
            </a:endParaRPr>
          </a:p>
          <a:p>
            <a:r>
              <a:rPr lang="en-US" altLang="ko-KR" b="1" dirty="0">
                <a:solidFill>
                  <a:srgbClr val="000000"/>
                </a:solidFill>
              </a:rPr>
              <a:t>Burst Error:</a:t>
            </a:r>
            <a:r>
              <a:rPr lang="en-US" altLang="ko-KR" dirty="0">
                <a:solidFill>
                  <a:srgbClr val="000000"/>
                </a:solidFill>
              </a:rPr>
              <a:t> Two or more consecutive bits in the data unit have changed</a:t>
            </a:r>
          </a:p>
          <a:p>
            <a:endParaRPr lang="en-US" altLang="ko-KR" dirty="0">
              <a:solidFill>
                <a:srgbClr val="000000"/>
              </a:solidFill>
            </a:endParaRPr>
          </a:p>
          <a:p>
            <a:pPr eaLnBrk="1" hangingPunct="1"/>
            <a:endParaRPr lang="en-US" dirty="0"/>
          </a:p>
        </p:txBody>
      </p:sp>
      <p:pic>
        <p:nvPicPr>
          <p:cNvPr id="2" name="Picture 2" descr="KL Deemed to be University Logo">
            <a:extLst>
              <a:ext uri="{FF2B5EF4-FFF2-40B4-BE49-F238E27FC236}">
                <a16:creationId xmlns:a16="http://schemas.microsoft.com/office/drawing/2014/main" id="{1C39BA1E-9FBB-838C-394D-619DE7B86209}"/>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6" name="Picture 5">
            <a:extLst>
              <a:ext uri="{FF2B5EF4-FFF2-40B4-BE49-F238E27FC236}">
                <a16:creationId xmlns:a16="http://schemas.microsoft.com/office/drawing/2014/main" id="{45503663-7580-572B-BC44-EEEA6AABB273}"/>
              </a:ext>
            </a:extLst>
          </p:cNvPr>
          <p:cNvPicPr>
            <a:picLocks noChangeAspect="1"/>
          </p:cNvPicPr>
          <p:nvPr/>
        </p:nvPicPr>
        <p:blipFill>
          <a:blip r:embed="rId3"/>
          <a:stretch>
            <a:fillRect/>
          </a:stretch>
        </p:blipFill>
        <p:spPr>
          <a:xfrm>
            <a:off x="5423437" y="1011246"/>
            <a:ext cx="6609386" cy="1239643"/>
          </a:xfrm>
          <a:prstGeom prst="rect">
            <a:avLst/>
          </a:prstGeom>
        </p:spPr>
      </p:pic>
      <p:pic>
        <p:nvPicPr>
          <p:cNvPr id="3" name="Picture 7">
            <a:extLst>
              <a:ext uri="{FF2B5EF4-FFF2-40B4-BE49-F238E27FC236}">
                <a16:creationId xmlns:a16="http://schemas.microsoft.com/office/drawing/2014/main" id="{CDA939B4-5CC2-E2D6-E0B9-A654217A91D8}"/>
              </a:ext>
            </a:extLst>
          </p:cNvPr>
          <p:cNvPicPr>
            <a:picLocks noChangeAspect="1" noChangeArrowheads="1"/>
          </p:cNvPicPr>
          <p:nvPr/>
        </p:nvPicPr>
        <p:blipFill>
          <a:blip r:embed="rId4" cstate="print"/>
          <a:srcRect/>
          <a:stretch>
            <a:fillRect/>
          </a:stretch>
        </p:blipFill>
        <p:spPr>
          <a:xfrm>
            <a:off x="6252777" y="2535311"/>
            <a:ext cx="5231588" cy="1390593"/>
          </a:xfrm>
          <a:prstGeom prst="rect">
            <a:avLst/>
          </a:prstGeom>
          <a:noFill/>
        </p:spPr>
      </p:pic>
      <p:pic>
        <p:nvPicPr>
          <p:cNvPr id="4" name="Picture 5">
            <a:extLst>
              <a:ext uri="{FF2B5EF4-FFF2-40B4-BE49-F238E27FC236}">
                <a16:creationId xmlns:a16="http://schemas.microsoft.com/office/drawing/2014/main" id="{91130435-C692-AC46-5464-9E229A8CC77B}"/>
              </a:ext>
            </a:extLst>
          </p:cNvPr>
          <p:cNvPicPr>
            <a:picLocks noChangeAspect="1" noChangeArrowheads="1"/>
          </p:cNvPicPr>
          <p:nvPr/>
        </p:nvPicPr>
        <p:blipFill>
          <a:blip r:embed="rId5" cstate="print"/>
          <a:srcRect/>
          <a:stretch>
            <a:fillRect/>
          </a:stretch>
        </p:blipFill>
        <p:spPr bwMode="auto">
          <a:xfrm>
            <a:off x="5423437" y="4439205"/>
            <a:ext cx="6609386" cy="1674714"/>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79174" y="247078"/>
            <a:ext cx="10515600" cy="685772"/>
          </a:xfrm>
        </p:spPr>
        <p:txBody>
          <a:bodyPr>
            <a:normAutofit fontScale="90000"/>
          </a:bodyPr>
          <a:lstStyle/>
          <a:p>
            <a:pPr algn="ctr" eaLnBrk="1" hangingPunct="1"/>
            <a:r>
              <a:rPr lang="en-US" altLang="ko-KR" b="1" dirty="0"/>
              <a:t>Type of Errors(cont’d)</a:t>
            </a:r>
            <a:endParaRPr lang="en-US" b="1" dirty="0"/>
          </a:p>
        </p:txBody>
      </p:sp>
      <p:sp>
        <p:nvSpPr>
          <p:cNvPr id="14339" name="Content Placeholder 2"/>
          <p:cNvSpPr>
            <a:spLocks noGrp="1"/>
          </p:cNvSpPr>
          <p:nvPr>
            <p:ph sz="half" idx="1"/>
          </p:nvPr>
        </p:nvSpPr>
        <p:spPr>
          <a:xfrm>
            <a:off x="838200" y="1786597"/>
            <a:ext cx="10515600" cy="4390366"/>
          </a:xfrm>
        </p:spPr>
        <p:txBody>
          <a:bodyPr/>
          <a:lstStyle/>
          <a:p>
            <a:pPr eaLnBrk="1" hangingPunct="1"/>
            <a:r>
              <a:rPr lang="en-US" altLang="ko-KR" b="1" dirty="0">
                <a:solidFill>
                  <a:srgbClr val="000000"/>
                </a:solidFill>
              </a:rPr>
              <a:t>Multiple-Bit Error: </a:t>
            </a:r>
            <a:r>
              <a:rPr lang="en-US" altLang="ko-KR" dirty="0">
                <a:solidFill>
                  <a:srgbClr val="000000"/>
                </a:solidFill>
              </a:rPr>
              <a:t>is when two or more nonconsecutive bits in the data unit have changed.</a:t>
            </a:r>
          </a:p>
          <a:p>
            <a:pPr eaLnBrk="1" hangingPunct="1"/>
            <a:endParaRPr lang="en-US" dirty="0"/>
          </a:p>
        </p:txBody>
      </p:sp>
      <p:pic>
        <p:nvPicPr>
          <p:cNvPr id="14340" name="Picture 7"/>
          <p:cNvPicPr>
            <a:picLocks noGrp="1" noChangeAspect="1" noChangeArrowheads="1"/>
          </p:cNvPicPr>
          <p:nvPr>
            <p:ph sz="half" idx="2"/>
          </p:nvPr>
        </p:nvPicPr>
        <p:blipFill>
          <a:blip r:embed="rId2" cstate="print"/>
          <a:srcRect/>
          <a:stretch>
            <a:fillRect/>
          </a:stretch>
        </p:blipFill>
        <p:spPr>
          <a:xfrm>
            <a:off x="5340522" y="3801035"/>
            <a:ext cx="6434667" cy="1710380"/>
          </a:xfrm>
          <a:noFill/>
        </p:spPr>
      </p:pic>
      <p:pic>
        <p:nvPicPr>
          <p:cNvPr id="2" name="Picture 2" descr="KL Deemed to be University Logo">
            <a:extLst>
              <a:ext uri="{FF2B5EF4-FFF2-40B4-BE49-F238E27FC236}">
                <a16:creationId xmlns:a16="http://schemas.microsoft.com/office/drawing/2014/main" id="{8A57ED21-0A18-2FEC-8530-C276034C1D2E}"/>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838200" y="308856"/>
            <a:ext cx="10515600" cy="685772"/>
          </a:xfrm>
        </p:spPr>
        <p:txBody>
          <a:bodyPr>
            <a:normAutofit fontScale="90000"/>
          </a:bodyPr>
          <a:lstStyle/>
          <a:p>
            <a:pPr algn="ctr" eaLnBrk="1" hangingPunct="1"/>
            <a:r>
              <a:rPr lang="en-US" altLang="ko-KR" b="1" dirty="0"/>
              <a:t>Type of Errors(cont’d)</a:t>
            </a:r>
            <a:endParaRPr lang="en-US" b="1" dirty="0"/>
          </a:p>
        </p:txBody>
      </p:sp>
      <p:sp>
        <p:nvSpPr>
          <p:cNvPr id="15363" name="Content Placeholder 2"/>
          <p:cNvSpPr>
            <a:spLocks noGrp="1"/>
          </p:cNvSpPr>
          <p:nvPr>
            <p:ph idx="1"/>
          </p:nvPr>
        </p:nvSpPr>
        <p:spPr>
          <a:xfrm>
            <a:off x="838200" y="1631852"/>
            <a:ext cx="10515600" cy="4545112"/>
          </a:xfrm>
        </p:spPr>
        <p:txBody>
          <a:bodyPr/>
          <a:lstStyle/>
          <a:p>
            <a:pPr eaLnBrk="1" hangingPunct="1"/>
            <a:r>
              <a:rPr lang="en-US" altLang="ko-KR" b="1" dirty="0">
                <a:solidFill>
                  <a:srgbClr val="000000"/>
                </a:solidFill>
              </a:rPr>
              <a:t>Burst Error</a:t>
            </a:r>
            <a:r>
              <a:rPr lang="en-US" altLang="ko-KR" dirty="0">
                <a:solidFill>
                  <a:srgbClr val="000000"/>
                </a:solidFill>
              </a:rPr>
              <a:t> means that 2 or more consecutive bits in the data unit have changed</a:t>
            </a:r>
          </a:p>
          <a:p>
            <a:pPr eaLnBrk="1" hangingPunct="1"/>
            <a:endParaRPr lang="en-US" dirty="0"/>
          </a:p>
        </p:txBody>
      </p:sp>
      <p:pic>
        <p:nvPicPr>
          <p:cNvPr id="15364" name="Picture 5"/>
          <p:cNvPicPr>
            <a:picLocks noChangeAspect="1" noChangeArrowheads="1"/>
          </p:cNvPicPr>
          <p:nvPr/>
        </p:nvPicPr>
        <p:blipFill>
          <a:blip r:embed="rId2" cstate="print"/>
          <a:srcRect/>
          <a:stretch>
            <a:fillRect/>
          </a:stretch>
        </p:blipFill>
        <p:spPr bwMode="auto">
          <a:xfrm>
            <a:off x="1665784" y="2981055"/>
            <a:ext cx="8860431" cy="2245093"/>
          </a:xfrm>
          <a:prstGeom prst="rect">
            <a:avLst/>
          </a:prstGeom>
          <a:noFill/>
          <a:ln w="9525">
            <a:noFill/>
            <a:miter lim="800000"/>
            <a:headEnd/>
            <a:tailEnd/>
          </a:ln>
        </p:spPr>
      </p:pic>
      <p:pic>
        <p:nvPicPr>
          <p:cNvPr id="2" name="Picture 2" descr="KL Deemed to be University Logo">
            <a:extLst>
              <a:ext uri="{FF2B5EF4-FFF2-40B4-BE49-F238E27FC236}">
                <a16:creationId xmlns:a16="http://schemas.microsoft.com/office/drawing/2014/main" id="{C47358B3-23DC-976A-C99B-54B31F9EC5FA}"/>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A5BCF-6DF0-4269-8512-F9A6C595C237}"/>
              </a:ext>
            </a:extLst>
          </p:cNvPr>
          <p:cNvSpPr>
            <a:spLocks noGrp="1"/>
          </p:cNvSpPr>
          <p:nvPr>
            <p:ph type="title"/>
          </p:nvPr>
        </p:nvSpPr>
        <p:spPr>
          <a:xfrm>
            <a:off x="711591" y="2293034"/>
            <a:ext cx="10515600" cy="1478852"/>
          </a:xfrm>
        </p:spPr>
        <p:txBody>
          <a:bodyPr>
            <a:normAutofit/>
          </a:bodyPr>
          <a:lstStyle/>
          <a:p>
            <a:pPr algn="ctr"/>
            <a:r>
              <a:rPr lang="en-US" sz="6000" b="1" dirty="0"/>
              <a:t>Error Detection</a:t>
            </a:r>
          </a:p>
        </p:txBody>
      </p:sp>
      <p:sp>
        <p:nvSpPr>
          <p:cNvPr id="5" name="Slide Number Placeholder 4">
            <a:extLst>
              <a:ext uri="{FF2B5EF4-FFF2-40B4-BE49-F238E27FC236}">
                <a16:creationId xmlns:a16="http://schemas.microsoft.com/office/drawing/2014/main" id="{FE339921-9C2F-486B-8243-FBF9703045F3}"/>
              </a:ext>
            </a:extLst>
          </p:cNvPr>
          <p:cNvSpPr>
            <a:spLocks noGrp="1"/>
          </p:cNvSpPr>
          <p:nvPr>
            <p:ph type="sldNum" sz="quarter" idx="12"/>
          </p:nvPr>
        </p:nvSpPr>
        <p:spPr/>
        <p:txBody>
          <a:bodyPr/>
          <a:lstStyle/>
          <a:p>
            <a:fld id="{68187FF5-4BF9-4B21-B0D2-9B7FF2B27D7F}" type="slidenum">
              <a:rPr lang="en-AU" smtClean="0"/>
              <a:pPr/>
              <a:t>9</a:t>
            </a:fld>
            <a:endParaRPr lang="en-AU"/>
          </a:p>
        </p:txBody>
      </p:sp>
      <p:pic>
        <p:nvPicPr>
          <p:cNvPr id="3" name="Picture 2" descr="KL Deemed to be University Logo">
            <a:extLst>
              <a:ext uri="{FF2B5EF4-FFF2-40B4-BE49-F238E27FC236}">
                <a16:creationId xmlns:a16="http://schemas.microsoft.com/office/drawing/2014/main" id="{2A9B5E4F-5B21-21A0-C749-C7E2C62377FB}"/>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209705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algn="ctr" eaLnBrk="1" fontAlgn="auto" hangingPunct="1">
              <a:spcAft>
                <a:spcPts val="0"/>
              </a:spcAft>
              <a:defRPr/>
            </a:pPr>
            <a:r>
              <a:rPr lang="en-US" altLang="ko-KR" b="1" dirty="0">
                <a:effectLst>
                  <a:outerShdw blurRad="38100" dist="38100" dir="2700000" algn="tl">
                    <a:srgbClr val="FFFFFF"/>
                  </a:outerShdw>
                </a:effectLst>
              </a:rPr>
              <a:t>Error Detection</a:t>
            </a:r>
            <a:endParaRPr lang="en-US" b="1" dirty="0"/>
          </a:p>
        </p:txBody>
      </p:sp>
      <p:sp>
        <p:nvSpPr>
          <p:cNvPr id="16387" name="Content Placeholder 2"/>
          <p:cNvSpPr>
            <a:spLocks noGrp="1"/>
          </p:cNvSpPr>
          <p:nvPr>
            <p:ph idx="1"/>
          </p:nvPr>
        </p:nvSpPr>
        <p:spPr>
          <a:xfrm>
            <a:off x="838200" y="1828800"/>
            <a:ext cx="10515600" cy="4348164"/>
          </a:xfrm>
        </p:spPr>
        <p:txBody>
          <a:bodyPr/>
          <a:lstStyle/>
          <a:p>
            <a:pPr algn="just" eaLnBrk="1" hangingPunct="1"/>
            <a:r>
              <a:rPr lang="en-US" altLang="ko-KR" dirty="0">
                <a:solidFill>
                  <a:srgbClr val="000000"/>
                </a:solidFill>
              </a:rPr>
              <a:t>Error detection uses the concept of redundancy, which means adding extra bits for detecting errors at the destination.</a:t>
            </a:r>
          </a:p>
          <a:p>
            <a:pPr algn="just" eaLnBrk="1" hangingPunct="1"/>
            <a:endParaRPr lang="en-US" altLang="ko-KR" dirty="0">
              <a:solidFill>
                <a:srgbClr val="000000"/>
              </a:solidFill>
            </a:endParaRPr>
          </a:p>
          <a:p>
            <a:pPr algn="just" eaLnBrk="1" hangingPunct="1"/>
            <a:r>
              <a:rPr lang="en-US" b="1" dirty="0">
                <a:effectLst>
                  <a:outerShdw blurRad="38100" dist="38100" dir="2700000" algn="tl">
                    <a:srgbClr val="C0C0C0"/>
                  </a:outerShdw>
                </a:effectLst>
                <a:latin typeface="Times" pitchFamily="18" charset="0"/>
              </a:rPr>
              <a:t>BLOCK CODING</a:t>
            </a:r>
            <a:r>
              <a:rPr lang="en-US" b="1" dirty="0">
                <a:solidFill>
                  <a:srgbClr val="000000"/>
                </a:solidFill>
                <a:effectLst>
                  <a:outerShdw blurRad="38100" dist="38100" dir="2700000" algn="tl">
                    <a:srgbClr val="C0C0C0"/>
                  </a:outerShdw>
                </a:effectLst>
                <a:latin typeface="Times" pitchFamily="18" charset="0"/>
              </a:rPr>
              <a:t>:</a:t>
            </a:r>
          </a:p>
          <a:p>
            <a:pPr lvl="1" algn="just">
              <a:buFont typeface="Courier New" panose="02070309020205020404" pitchFamily="49" charset="0"/>
              <a:buChar char="o"/>
            </a:pPr>
            <a:r>
              <a:rPr lang="en-US" i="1" dirty="0">
                <a:effectLst>
                  <a:outerShdw blurRad="38100" dist="38100" dir="2700000" algn="tl">
                    <a:srgbClr val="C0C0C0"/>
                  </a:outerShdw>
                </a:effectLst>
                <a:latin typeface="Times New Roman" pitchFamily="18" charset="0"/>
              </a:rPr>
              <a:t>In block coding, we divide our message into blocks, each of k bits, called </a:t>
            </a:r>
            <a:r>
              <a:rPr lang="en-US" i="1" dirty="0" err="1">
                <a:solidFill>
                  <a:schemeClr val="hlink"/>
                </a:solidFill>
                <a:effectLst>
                  <a:outerShdw blurRad="38100" dist="38100" dir="2700000" algn="tl">
                    <a:srgbClr val="C0C0C0"/>
                  </a:outerShdw>
                </a:effectLst>
                <a:latin typeface="Times New Roman" pitchFamily="18" charset="0"/>
              </a:rPr>
              <a:t>datawords</a:t>
            </a:r>
            <a:r>
              <a:rPr lang="en-US" i="1" dirty="0">
                <a:effectLst>
                  <a:outerShdw blurRad="38100" dist="38100" dir="2700000" algn="tl">
                    <a:srgbClr val="C0C0C0"/>
                  </a:outerShdw>
                </a:effectLst>
                <a:latin typeface="Times New Roman" pitchFamily="18" charset="0"/>
              </a:rPr>
              <a:t>. </a:t>
            </a:r>
          </a:p>
          <a:p>
            <a:pPr lvl="1" algn="just">
              <a:buFont typeface="Courier New" panose="02070309020205020404" pitchFamily="49" charset="0"/>
              <a:buChar char="o"/>
            </a:pPr>
            <a:r>
              <a:rPr lang="en-US" i="1" dirty="0">
                <a:effectLst>
                  <a:outerShdw blurRad="38100" dist="38100" dir="2700000" algn="tl">
                    <a:srgbClr val="C0C0C0"/>
                  </a:outerShdw>
                </a:effectLst>
                <a:latin typeface="Times New Roman" pitchFamily="18" charset="0"/>
              </a:rPr>
              <a:t>We add r redundant bits to each block to make the length n = k + r. </a:t>
            </a:r>
          </a:p>
          <a:p>
            <a:pPr lvl="1" algn="just">
              <a:buFont typeface="Courier New" panose="02070309020205020404" pitchFamily="49" charset="0"/>
              <a:buChar char="o"/>
            </a:pPr>
            <a:r>
              <a:rPr lang="en-US" i="1" dirty="0">
                <a:effectLst>
                  <a:outerShdw blurRad="38100" dist="38100" dir="2700000" algn="tl">
                    <a:srgbClr val="C0C0C0"/>
                  </a:outerShdw>
                </a:effectLst>
                <a:latin typeface="Times New Roman" pitchFamily="18" charset="0"/>
              </a:rPr>
              <a:t>The resulting n-bit blocks are called </a:t>
            </a:r>
            <a:r>
              <a:rPr lang="en-US" i="1" dirty="0">
                <a:solidFill>
                  <a:schemeClr val="hlink"/>
                </a:solidFill>
                <a:effectLst>
                  <a:outerShdw blurRad="38100" dist="38100" dir="2700000" algn="tl">
                    <a:srgbClr val="C0C0C0"/>
                  </a:outerShdw>
                </a:effectLst>
                <a:latin typeface="Times New Roman" pitchFamily="18" charset="0"/>
              </a:rPr>
              <a:t>codewords</a:t>
            </a:r>
            <a:r>
              <a:rPr lang="en-US" i="1" dirty="0">
                <a:effectLst>
                  <a:outerShdw blurRad="38100" dist="38100" dir="2700000" algn="tl">
                    <a:srgbClr val="C0C0C0"/>
                  </a:outerShdw>
                </a:effectLst>
                <a:latin typeface="Times New Roman" pitchFamily="18" charset="0"/>
              </a:rPr>
              <a:t>.</a:t>
            </a:r>
          </a:p>
          <a:p>
            <a:pPr algn="just" eaLnBrk="1" hangingPunct="1">
              <a:buFont typeface="Courier New" panose="02070309020205020404" pitchFamily="49" charset="0"/>
              <a:buChar char="o"/>
            </a:pPr>
            <a:endParaRPr lang="en-US" altLang="ko-KR" dirty="0">
              <a:solidFill>
                <a:srgbClr val="000000"/>
              </a:solidFill>
            </a:endParaRPr>
          </a:p>
          <a:p>
            <a:pPr algn="just" eaLnBrk="1" hangingPunct="1"/>
            <a:endParaRPr lang="en-US" dirty="0">
              <a:solidFill>
                <a:srgbClr val="000000"/>
              </a:solidFill>
            </a:endParaRPr>
          </a:p>
          <a:p>
            <a:pPr algn="just" eaLnBrk="1" hangingPunct="1"/>
            <a:endParaRPr lang="en-US" dirty="0"/>
          </a:p>
        </p:txBody>
      </p:sp>
      <p:pic>
        <p:nvPicPr>
          <p:cNvPr id="3" name="Picture 2" descr="KL Deemed to be University Logo">
            <a:extLst>
              <a:ext uri="{FF2B5EF4-FFF2-40B4-BE49-F238E27FC236}">
                <a16:creationId xmlns:a16="http://schemas.microsoft.com/office/drawing/2014/main" id="{B83528CE-E66F-DD33-559B-5C9C79E3D9C2}"/>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i="1" dirty="0">
                <a:latin typeface="Times New Roman" pitchFamily="18" charset="0"/>
              </a:rPr>
              <a:t>The structure of encoder and decoder</a:t>
            </a:r>
            <a:endParaRPr lang="en-US" dirty="0"/>
          </a:p>
        </p:txBody>
      </p:sp>
      <p:sp>
        <p:nvSpPr>
          <p:cNvPr id="5" name="Slide Number Placeholder 4"/>
          <p:cNvSpPr>
            <a:spLocks noGrp="1"/>
          </p:cNvSpPr>
          <p:nvPr>
            <p:ph type="sldNum" sz="quarter" idx="12"/>
          </p:nvPr>
        </p:nvSpPr>
        <p:spPr/>
        <p:txBody>
          <a:bodyPr/>
          <a:lstStyle/>
          <a:p>
            <a:fld id="{68187FF5-4BF9-4B21-B0D2-9B7FF2B27D7F}" type="slidenum">
              <a:rPr lang="en-AU" smtClean="0"/>
              <a:pPr/>
              <a:t>11</a:t>
            </a:fld>
            <a:endParaRPr lang="en-AU"/>
          </a:p>
        </p:txBody>
      </p:sp>
      <p:sp>
        <p:nvSpPr>
          <p:cNvPr id="7" name="Text Box 7"/>
          <p:cNvSpPr txBox="1">
            <a:spLocks noChangeArrowheads="1"/>
          </p:cNvSpPr>
          <p:nvPr/>
        </p:nvSpPr>
        <p:spPr bwMode="auto">
          <a:xfrm>
            <a:off x="1127125" y="5649913"/>
            <a:ext cx="7318375" cy="396875"/>
          </a:xfrm>
          <a:prstGeom prst="rect">
            <a:avLst/>
          </a:prstGeom>
          <a:noFill/>
          <a:ln w="9525">
            <a:noFill/>
            <a:miter lim="800000"/>
            <a:headEnd/>
            <a:tailEnd/>
          </a:ln>
        </p:spPr>
        <p:txBody>
          <a:bodyPr wrap="none">
            <a:spAutoFit/>
          </a:bodyPr>
          <a:lstStyle/>
          <a:p>
            <a:r>
              <a:rPr lang="en-US" sz="2000" dirty="0"/>
              <a:t>To detect or correct errors, we need to send redundant bits</a:t>
            </a:r>
          </a:p>
        </p:txBody>
      </p:sp>
      <p:pic>
        <p:nvPicPr>
          <p:cNvPr id="3" name="Picture 2" descr="KL Deemed to be University Logo">
            <a:extLst>
              <a:ext uri="{FF2B5EF4-FFF2-40B4-BE49-F238E27FC236}">
                <a16:creationId xmlns:a16="http://schemas.microsoft.com/office/drawing/2014/main" id="{C8CAAE8B-C2B0-05F3-6905-C8B6ADCDE32B}"/>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8" name="Content Placeholder 7">
            <a:extLst>
              <a:ext uri="{FF2B5EF4-FFF2-40B4-BE49-F238E27FC236}">
                <a16:creationId xmlns:a16="http://schemas.microsoft.com/office/drawing/2014/main" id="{570D16D8-77CB-E98B-9F63-8A77A2D57670}"/>
              </a:ext>
            </a:extLst>
          </p:cNvPr>
          <p:cNvSpPr>
            <a:spLocks noGrp="1"/>
          </p:cNvSpPr>
          <p:nvPr>
            <p:ph idx="1"/>
          </p:nvPr>
        </p:nvSpPr>
        <p:spPr/>
        <p:txBody>
          <a:bodyPr/>
          <a:lstStyle/>
          <a:p>
            <a:endParaRPr lang="en-US"/>
          </a:p>
        </p:txBody>
      </p:sp>
      <p:pic>
        <p:nvPicPr>
          <p:cNvPr id="10" name="Picture 9">
            <a:extLst>
              <a:ext uri="{FF2B5EF4-FFF2-40B4-BE49-F238E27FC236}">
                <a16:creationId xmlns:a16="http://schemas.microsoft.com/office/drawing/2014/main" id="{D965124C-4753-CFD3-7595-0C50EEA03B23}"/>
              </a:ext>
            </a:extLst>
          </p:cNvPr>
          <p:cNvPicPr>
            <a:picLocks noChangeAspect="1"/>
          </p:cNvPicPr>
          <p:nvPr/>
        </p:nvPicPr>
        <p:blipFill>
          <a:blip r:embed="rId3"/>
          <a:stretch>
            <a:fillRect/>
          </a:stretch>
        </p:blipFill>
        <p:spPr>
          <a:xfrm>
            <a:off x="1766887" y="1495425"/>
            <a:ext cx="8658225" cy="38671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682E02E-22EA-3E0F-8855-75C9D67622DB}"/>
              </a:ext>
            </a:extLst>
          </p:cNvPr>
          <p:cNvSpPr>
            <a:spLocks noGrp="1"/>
          </p:cNvSpPr>
          <p:nvPr>
            <p:ph type="ftr" sz="quarter" idx="11"/>
          </p:nvPr>
        </p:nvSpPr>
        <p:spPr/>
        <p:txBody>
          <a:bodyPr/>
          <a:lstStyle/>
          <a:p>
            <a:r>
              <a:rPr lang="en-AU"/>
              <a:t>© 2016 KL University – The contents of this presentation are an intellectual and copyrighted property of KL University. ALL RIGHTS RESERVED</a:t>
            </a:r>
            <a:endParaRPr lang="en-AU" dirty="0"/>
          </a:p>
        </p:txBody>
      </p:sp>
      <p:sp>
        <p:nvSpPr>
          <p:cNvPr id="5" name="Slide Number Placeholder 4">
            <a:extLst>
              <a:ext uri="{FF2B5EF4-FFF2-40B4-BE49-F238E27FC236}">
                <a16:creationId xmlns:a16="http://schemas.microsoft.com/office/drawing/2014/main" id="{61E1E1F3-ED3D-07A2-47EC-62496505445F}"/>
              </a:ext>
            </a:extLst>
          </p:cNvPr>
          <p:cNvSpPr>
            <a:spLocks noGrp="1"/>
          </p:cNvSpPr>
          <p:nvPr>
            <p:ph type="sldNum" sz="quarter" idx="12"/>
          </p:nvPr>
        </p:nvSpPr>
        <p:spPr/>
        <p:txBody>
          <a:bodyPr/>
          <a:lstStyle/>
          <a:p>
            <a:fld id="{68187FF5-4BF9-4B21-B0D2-9B7FF2B27D7F}" type="slidenum">
              <a:rPr lang="en-AU" smtClean="0"/>
              <a:pPr/>
              <a:t>12</a:t>
            </a:fld>
            <a:endParaRPr lang="en-AU"/>
          </a:p>
        </p:txBody>
      </p:sp>
      <p:sp>
        <p:nvSpPr>
          <p:cNvPr id="7" name="TextBox 6">
            <a:extLst>
              <a:ext uri="{FF2B5EF4-FFF2-40B4-BE49-F238E27FC236}">
                <a16:creationId xmlns:a16="http://schemas.microsoft.com/office/drawing/2014/main" id="{A440B355-631C-5F37-5697-897A6272BF09}"/>
              </a:ext>
            </a:extLst>
          </p:cNvPr>
          <p:cNvSpPr txBox="1"/>
          <p:nvPr/>
        </p:nvSpPr>
        <p:spPr>
          <a:xfrm>
            <a:off x="3285349" y="2760112"/>
            <a:ext cx="6093618" cy="769441"/>
          </a:xfrm>
          <a:prstGeom prst="rect">
            <a:avLst/>
          </a:prstGeom>
          <a:noFill/>
        </p:spPr>
        <p:txBody>
          <a:bodyPr wrap="square">
            <a:spAutoFit/>
          </a:bodyPr>
          <a:lstStyle/>
          <a:p>
            <a:r>
              <a:rPr lang="en-US" sz="4400" b="1" dirty="0">
                <a:solidFill>
                  <a:srgbClr val="C00000"/>
                </a:solidFill>
                <a:ea typeface="新細明體" pitchFamily="18" charset="-120"/>
              </a:rPr>
              <a:t>Error Detection Methods</a:t>
            </a:r>
            <a:endParaRPr lang="en-US" sz="4400" dirty="0">
              <a:solidFill>
                <a:srgbClr val="C00000"/>
              </a:solidFill>
            </a:endParaRPr>
          </a:p>
        </p:txBody>
      </p:sp>
      <p:pic>
        <p:nvPicPr>
          <p:cNvPr id="8" name="Picture 7" descr="KL Deemed to be University Logo">
            <a:extLst>
              <a:ext uri="{FF2B5EF4-FFF2-40B4-BE49-F238E27FC236}">
                <a16:creationId xmlns:a16="http://schemas.microsoft.com/office/drawing/2014/main" id="{3B478F3B-F0E8-E89A-303A-CE26C004BA0B}"/>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307957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algn="ctr" eaLnBrk="1" fontAlgn="auto" hangingPunct="1">
              <a:spcAft>
                <a:spcPts val="0"/>
              </a:spcAft>
              <a:defRPr/>
            </a:pPr>
            <a:r>
              <a:rPr lang="en-US" altLang="ko-KR" b="1" dirty="0">
                <a:effectLst>
                  <a:outerShdw blurRad="38100" dist="38100" dir="2700000" algn="tl">
                    <a:srgbClr val="FFFFFF"/>
                  </a:outerShdw>
                </a:effectLst>
              </a:rPr>
              <a:t>Error Detection Methods</a:t>
            </a:r>
            <a:endParaRPr lang="en-US" dirty="0"/>
          </a:p>
        </p:txBody>
      </p:sp>
      <p:sp>
        <p:nvSpPr>
          <p:cNvPr id="18435" name="Content Placeholder 2"/>
          <p:cNvSpPr>
            <a:spLocks noGrp="1"/>
          </p:cNvSpPr>
          <p:nvPr>
            <p:ph idx="1"/>
          </p:nvPr>
        </p:nvSpPr>
        <p:spPr/>
        <p:txBody>
          <a:bodyPr/>
          <a:lstStyle/>
          <a:p>
            <a:pPr eaLnBrk="1" hangingPunct="1"/>
            <a:r>
              <a:rPr lang="en-US" altLang="ko-KR">
                <a:solidFill>
                  <a:srgbClr val="000000"/>
                </a:solidFill>
              </a:rPr>
              <a:t>Detection methods</a:t>
            </a:r>
          </a:p>
          <a:p>
            <a:pPr eaLnBrk="1" hangingPunct="1"/>
            <a:endParaRPr lang="en-US"/>
          </a:p>
        </p:txBody>
      </p:sp>
      <p:pic>
        <p:nvPicPr>
          <p:cNvPr id="18436" name="Picture 11"/>
          <p:cNvPicPr>
            <a:picLocks noChangeAspect="1" noChangeArrowheads="1"/>
          </p:cNvPicPr>
          <p:nvPr/>
        </p:nvPicPr>
        <p:blipFill>
          <a:blip r:embed="rId2" cstate="print"/>
          <a:srcRect/>
          <a:stretch>
            <a:fillRect/>
          </a:stretch>
        </p:blipFill>
        <p:spPr bwMode="auto">
          <a:xfrm>
            <a:off x="334433" y="2781300"/>
            <a:ext cx="11616267" cy="2058988"/>
          </a:xfrm>
          <a:prstGeom prst="rect">
            <a:avLst/>
          </a:prstGeom>
          <a:noFill/>
          <a:ln w="9525">
            <a:noFill/>
            <a:miter lim="800000"/>
            <a:headEnd/>
            <a:tailEnd/>
          </a:ln>
        </p:spPr>
      </p:pic>
      <p:pic>
        <p:nvPicPr>
          <p:cNvPr id="3" name="Picture 2" descr="KL Deemed to be University Logo">
            <a:extLst>
              <a:ext uri="{FF2B5EF4-FFF2-40B4-BE49-F238E27FC236}">
                <a16:creationId xmlns:a16="http://schemas.microsoft.com/office/drawing/2014/main" id="{5C975F09-2199-A87E-9AAC-97541B508C35}"/>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3723C-2F80-4F61-98CE-2AC34739A56B}"/>
              </a:ext>
            </a:extLst>
          </p:cNvPr>
          <p:cNvSpPr>
            <a:spLocks noGrp="1"/>
          </p:cNvSpPr>
          <p:nvPr>
            <p:ph type="title"/>
          </p:nvPr>
        </p:nvSpPr>
        <p:spPr>
          <a:xfrm>
            <a:off x="838200" y="365126"/>
            <a:ext cx="10515600" cy="5991224"/>
          </a:xfrm>
        </p:spPr>
        <p:txBody>
          <a:bodyPr>
            <a:normAutofit/>
          </a:bodyPr>
          <a:lstStyle/>
          <a:p>
            <a:pPr algn="ctr"/>
            <a:r>
              <a:rPr lang="en-US" b="1" dirty="0">
                <a:latin typeface="Goudy Old Style" panose="02020502050305020303" pitchFamily="18" charset="0"/>
              </a:rPr>
              <a:t>1. Parity Method</a:t>
            </a:r>
            <a:endParaRPr lang="en-US" dirty="0"/>
          </a:p>
        </p:txBody>
      </p:sp>
      <p:sp>
        <p:nvSpPr>
          <p:cNvPr id="5" name="Slide Number Placeholder 4">
            <a:extLst>
              <a:ext uri="{FF2B5EF4-FFF2-40B4-BE49-F238E27FC236}">
                <a16:creationId xmlns:a16="http://schemas.microsoft.com/office/drawing/2014/main" id="{DD7D5438-4AA5-40A8-8A54-388192168EF3}"/>
              </a:ext>
            </a:extLst>
          </p:cNvPr>
          <p:cNvSpPr>
            <a:spLocks noGrp="1"/>
          </p:cNvSpPr>
          <p:nvPr>
            <p:ph type="sldNum" sz="quarter" idx="12"/>
          </p:nvPr>
        </p:nvSpPr>
        <p:spPr/>
        <p:txBody>
          <a:bodyPr/>
          <a:lstStyle/>
          <a:p>
            <a:fld id="{68187FF5-4BF9-4B21-B0D2-9B7FF2B27D7F}" type="slidenum">
              <a:rPr lang="en-AU" smtClean="0"/>
              <a:pPr/>
              <a:t>14</a:t>
            </a:fld>
            <a:endParaRPr lang="en-AU"/>
          </a:p>
        </p:txBody>
      </p:sp>
      <p:pic>
        <p:nvPicPr>
          <p:cNvPr id="3" name="Picture 2" descr="KL Deemed to be University Logo">
            <a:extLst>
              <a:ext uri="{FF2B5EF4-FFF2-40B4-BE49-F238E27FC236}">
                <a16:creationId xmlns:a16="http://schemas.microsoft.com/office/drawing/2014/main" id="{925F3BA5-3830-25E0-4703-1501300CA8CC}"/>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003729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algn="ctr" eaLnBrk="1" fontAlgn="auto" hangingPunct="1">
              <a:spcAft>
                <a:spcPts val="0"/>
              </a:spcAft>
              <a:defRPr/>
            </a:pPr>
            <a:r>
              <a:rPr lang="en-US" altLang="ko-KR" b="1" dirty="0">
                <a:effectLst>
                  <a:outerShdw blurRad="38100" dist="38100" dir="2700000" algn="tl">
                    <a:srgbClr val="FFFFFF"/>
                  </a:outerShdw>
                </a:effectLst>
              </a:rPr>
              <a:t>Simple Parity Method</a:t>
            </a:r>
            <a:endParaRPr lang="en-US" b="1" dirty="0"/>
          </a:p>
        </p:txBody>
      </p:sp>
      <p:sp>
        <p:nvSpPr>
          <p:cNvPr id="19459" name="Content Placeholder 2"/>
          <p:cNvSpPr>
            <a:spLocks noGrp="1"/>
          </p:cNvSpPr>
          <p:nvPr>
            <p:ph idx="1"/>
          </p:nvPr>
        </p:nvSpPr>
        <p:spPr/>
        <p:txBody>
          <a:bodyPr/>
          <a:lstStyle/>
          <a:p>
            <a:pPr marL="0" indent="0" eaLnBrk="1" hangingPunct="1">
              <a:buNone/>
            </a:pPr>
            <a:r>
              <a:rPr lang="en-US" altLang="ko-KR" sz="2400" b="1" dirty="0">
                <a:solidFill>
                  <a:srgbClr val="000000"/>
                </a:solidFill>
              </a:rPr>
              <a:t>1. Parity Check:</a:t>
            </a:r>
          </a:p>
          <a:p>
            <a:pPr lvl="1" eaLnBrk="1" hangingPunct="1"/>
            <a:r>
              <a:rPr lang="en-US" altLang="ko-KR" sz="2000" dirty="0">
                <a:solidFill>
                  <a:srgbClr val="000000"/>
                </a:solidFill>
              </a:rPr>
              <a:t>A parity bit is added to every data unit so that the total number of 1s(including the parity bit) becomes even for even-parity check or odd for odd-parity check.</a:t>
            </a:r>
          </a:p>
          <a:p>
            <a:pPr marL="457200" lvl="1" indent="0" eaLnBrk="1" hangingPunct="1">
              <a:buNone/>
            </a:pPr>
            <a:endParaRPr lang="en-US" altLang="ko-KR" sz="2000" dirty="0">
              <a:solidFill>
                <a:srgbClr val="000000"/>
              </a:solidFill>
            </a:endParaRPr>
          </a:p>
          <a:p>
            <a:pPr lvl="1" eaLnBrk="1" hangingPunct="1"/>
            <a:r>
              <a:rPr lang="en-US" altLang="ko-KR" sz="2000" dirty="0">
                <a:solidFill>
                  <a:srgbClr val="000000"/>
                </a:solidFill>
              </a:rPr>
              <a:t> </a:t>
            </a:r>
            <a:r>
              <a:rPr lang="en-US" altLang="ko-KR" sz="2000" b="1" dirty="0">
                <a:solidFill>
                  <a:srgbClr val="000000"/>
                </a:solidFill>
              </a:rPr>
              <a:t>Simple parity check</a:t>
            </a:r>
          </a:p>
          <a:p>
            <a:pPr eaLnBrk="1" hangingPunct="1"/>
            <a:endParaRPr lang="en-US" dirty="0"/>
          </a:p>
        </p:txBody>
      </p:sp>
      <p:pic>
        <p:nvPicPr>
          <p:cNvPr id="19460" name="Picture 4"/>
          <p:cNvPicPr>
            <a:picLocks noChangeAspect="1" noChangeArrowheads="1"/>
          </p:cNvPicPr>
          <p:nvPr/>
        </p:nvPicPr>
        <p:blipFill>
          <a:blip r:embed="rId2" cstate="print"/>
          <a:srcRect/>
          <a:stretch>
            <a:fillRect/>
          </a:stretch>
        </p:blipFill>
        <p:spPr bwMode="auto">
          <a:xfrm>
            <a:off x="2404664" y="3068639"/>
            <a:ext cx="7586133" cy="3585379"/>
          </a:xfrm>
          <a:prstGeom prst="rect">
            <a:avLst/>
          </a:prstGeom>
          <a:noFill/>
          <a:ln w="9525">
            <a:noFill/>
            <a:miter lim="800000"/>
            <a:headEnd/>
            <a:tailEnd/>
          </a:ln>
        </p:spPr>
      </p:pic>
      <p:pic>
        <p:nvPicPr>
          <p:cNvPr id="3" name="Picture 2" descr="KL Deemed to be University Logo">
            <a:extLst>
              <a:ext uri="{FF2B5EF4-FFF2-40B4-BE49-F238E27FC236}">
                <a16:creationId xmlns:a16="http://schemas.microsoft.com/office/drawing/2014/main" id="{EFF37DE8-CD36-985A-9C78-B288E4DEA02F}"/>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algn="ctr" eaLnBrk="1" fontAlgn="auto" hangingPunct="1">
              <a:spcAft>
                <a:spcPts val="0"/>
              </a:spcAft>
              <a:defRPr/>
            </a:pPr>
            <a:r>
              <a:rPr lang="en-US" altLang="ko-KR" b="1" dirty="0">
                <a:solidFill>
                  <a:srgbClr val="000000"/>
                </a:solidFill>
                <a:effectLst>
                  <a:outerShdw blurRad="38100" dist="38100" dir="2700000" algn="tl">
                    <a:srgbClr val="FFFFFF"/>
                  </a:outerShdw>
                </a:effectLst>
              </a:rPr>
              <a:t>Parity method examples</a:t>
            </a:r>
            <a:endParaRPr lang="en-US" b="1" dirty="0"/>
          </a:p>
        </p:txBody>
      </p:sp>
      <p:sp>
        <p:nvSpPr>
          <p:cNvPr id="20483" name="Content Placeholder 2"/>
          <p:cNvSpPr>
            <a:spLocks noGrp="1"/>
          </p:cNvSpPr>
          <p:nvPr>
            <p:ph idx="1"/>
          </p:nvPr>
        </p:nvSpPr>
        <p:spPr>
          <a:xfrm>
            <a:off x="239185" y="1600201"/>
            <a:ext cx="11713633" cy="4525963"/>
          </a:xfrm>
        </p:spPr>
        <p:txBody>
          <a:bodyPr>
            <a:normAutofit/>
          </a:bodyPr>
          <a:lstStyle/>
          <a:p>
            <a:pPr eaLnBrk="1" hangingPunct="1">
              <a:buFont typeface="Arial" charset="0"/>
              <a:buNone/>
            </a:pPr>
            <a:r>
              <a:rPr lang="en-US" altLang="ko-KR" b="1" i="1" dirty="0">
                <a:latin typeface="Times New Roman" pitchFamily="18" charset="0"/>
                <a:ea typeface="굴림" pitchFamily="50" charset="-127"/>
              </a:rPr>
              <a:t>Example 1</a:t>
            </a:r>
          </a:p>
          <a:p>
            <a:pPr eaLnBrk="1" hangingPunct="1">
              <a:spcBef>
                <a:spcPct val="50000"/>
              </a:spcBef>
              <a:buFont typeface="Arial" charset="0"/>
              <a:buNone/>
            </a:pPr>
            <a:r>
              <a:rPr lang="en-US" altLang="ko-KR" dirty="0">
                <a:latin typeface="Times" pitchFamily="18" charset="0"/>
                <a:ea typeface="굴림" pitchFamily="50" charset="-127"/>
              </a:rPr>
              <a:t>Suppose the sender wants to send the word “</a:t>
            </a:r>
            <a:r>
              <a:rPr lang="en-US" altLang="ko-KR" b="1" i="1" dirty="0">
                <a:latin typeface="Times" pitchFamily="18" charset="0"/>
                <a:ea typeface="굴림" pitchFamily="50" charset="-127"/>
              </a:rPr>
              <a:t>world”</a:t>
            </a:r>
            <a:r>
              <a:rPr lang="en-US" altLang="ko-KR" dirty="0">
                <a:latin typeface="Times" pitchFamily="18" charset="0"/>
                <a:ea typeface="굴림" pitchFamily="50" charset="-127"/>
              </a:rPr>
              <a:t>. </a:t>
            </a:r>
          </a:p>
          <a:p>
            <a:pPr eaLnBrk="1" hangingPunct="1">
              <a:spcBef>
                <a:spcPct val="50000"/>
              </a:spcBef>
              <a:buFont typeface="Arial" charset="0"/>
              <a:buNone/>
            </a:pPr>
            <a:r>
              <a:rPr lang="en-US" altLang="ko-KR" dirty="0">
                <a:latin typeface="Times" pitchFamily="18" charset="0"/>
                <a:ea typeface="굴림" pitchFamily="50" charset="-127"/>
              </a:rPr>
              <a:t>In ASCII the five characters are coded as </a:t>
            </a:r>
          </a:p>
          <a:p>
            <a:pPr eaLnBrk="1" hangingPunct="1">
              <a:spcBef>
                <a:spcPct val="50000"/>
              </a:spcBef>
              <a:buFont typeface="Arial" charset="0"/>
              <a:buNone/>
            </a:pPr>
            <a:r>
              <a:rPr lang="en-US" altLang="ko-KR" dirty="0">
                <a:latin typeface="Times" pitchFamily="18" charset="0"/>
                <a:ea typeface="굴림" pitchFamily="50" charset="-127"/>
              </a:rPr>
              <a:t>    </a:t>
            </a:r>
            <a:r>
              <a:rPr lang="en-US" altLang="ko-KR" b="1" dirty="0">
                <a:latin typeface="Times New Roman" pitchFamily="18" charset="0"/>
                <a:ea typeface="굴림" pitchFamily="50" charset="-127"/>
              </a:rPr>
              <a:t>1110111     1101111     1110010     1101100     1100100</a:t>
            </a:r>
          </a:p>
          <a:p>
            <a:pPr eaLnBrk="1" hangingPunct="1">
              <a:spcBef>
                <a:spcPct val="50000"/>
              </a:spcBef>
              <a:buFont typeface="Arial" charset="0"/>
              <a:buNone/>
            </a:pPr>
            <a:endParaRPr lang="en-US" altLang="ko-KR" b="1" dirty="0">
              <a:latin typeface="Times New Roman" pitchFamily="18" charset="0"/>
              <a:ea typeface="굴림" pitchFamily="50" charset="-127"/>
            </a:endParaRPr>
          </a:p>
          <a:p>
            <a:pPr eaLnBrk="1" hangingPunct="1">
              <a:spcBef>
                <a:spcPct val="50000"/>
              </a:spcBef>
              <a:buFont typeface="Arial" charset="0"/>
              <a:buNone/>
            </a:pPr>
            <a:r>
              <a:rPr lang="en-US" altLang="ko-KR" b="1" dirty="0">
                <a:latin typeface="Times New Roman" pitchFamily="18" charset="0"/>
                <a:ea typeface="굴림" pitchFamily="50" charset="-127"/>
              </a:rPr>
              <a:t>Sent data:</a:t>
            </a:r>
          </a:p>
          <a:p>
            <a:pPr eaLnBrk="1" hangingPunct="1">
              <a:spcBef>
                <a:spcPct val="50000"/>
              </a:spcBef>
              <a:buFont typeface="Arial" charset="0"/>
              <a:buNone/>
            </a:pPr>
            <a:r>
              <a:rPr lang="en-US" altLang="ko-KR" dirty="0">
                <a:latin typeface="Times" pitchFamily="18" charset="0"/>
                <a:ea typeface="굴림" pitchFamily="50" charset="-127"/>
              </a:rPr>
              <a:t> </a:t>
            </a:r>
            <a:endParaRPr lang="en-US" dirty="0"/>
          </a:p>
        </p:txBody>
      </p:sp>
      <p:sp>
        <p:nvSpPr>
          <p:cNvPr id="3" name="TextBox 2">
            <a:extLst>
              <a:ext uri="{FF2B5EF4-FFF2-40B4-BE49-F238E27FC236}">
                <a16:creationId xmlns:a16="http://schemas.microsoft.com/office/drawing/2014/main" id="{E1DE97DD-D6F5-408F-8C42-BD8253D12D5E}"/>
              </a:ext>
            </a:extLst>
          </p:cNvPr>
          <p:cNvSpPr txBox="1"/>
          <p:nvPr/>
        </p:nvSpPr>
        <p:spPr>
          <a:xfrm>
            <a:off x="492369" y="5627077"/>
            <a:ext cx="1424369" cy="461665"/>
          </a:xfrm>
          <a:prstGeom prst="rect">
            <a:avLst/>
          </a:prstGeom>
          <a:noFill/>
          <a:ln>
            <a:solidFill>
              <a:schemeClr val="tx1"/>
            </a:solidFill>
          </a:ln>
        </p:spPr>
        <p:txBody>
          <a:bodyPr wrap="square" rtlCol="0">
            <a:spAutoFit/>
          </a:bodyPr>
          <a:lstStyle/>
          <a:p>
            <a:r>
              <a:rPr lang="en-US" altLang="ko-KR" sz="2400" dirty="0">
                <a:latin typeface="Times" pitchFamily="18" charset="0"/>
                <a:ea typeface="굴림" pitchFamily="50" charset="-127"/>
              </a:rPr>
              <a:t>1110111</a:t>
            </a:r>
            <a:r>
              <a:rPr lang="en-US" altLang="ko-KR" sz="2400" b="1" u="sng" dirty="0">
                <a:solidFill>
                  <a:schemeClr val="hlink"/>
                </a:solidFill>
                <a:latin typeface="Times" pitchFamily="18" charset="0"/>
                <a:ea typeface="굴림" pitchFamily="50" charset="-127"/>
              </a:rPr>
              <a:t>0</a:t>
            </a:r>
            <a:endParaRPr lang="en-US" sz="2400" dirty="0"/>
          </a:p>
        </p:txBody>
      </p:sp>
      <p:sp>
        <p:nvSpPr>
          <p:cNvPr id="6" name="TextBox 5">
            <a:extLst>
              <a:ext uri="{FF2B5EF4-FFF2-40B4-BE49-F238E27FC236}">
                <a16:creationId xmlns:a16="http://schemas.microsoft.com/office/drawing/2014/main" id="{0EB6D906-D020-4DFE-9968-D0158910AEDD}"/>
              </a:ext>
            </a:extLst>
          </p:cNvPr>
          <p:cNvSpPr txBox="1"/>
          <p:nvPr/>
        </p:nvSpPr>
        <p:spPr>
          <a:xfrm>
            <a:off x="2150012" y="5633795"/>
            <a:ext cx="1505243" cy="461665"/>
          </a:xfrm>
          <a:prstGeom prst="rect">
            <a:avLst/>
          </a:prstGeom>
          <a:noFill/>
          <a:ln>
            <a:solidFill>
              <a:schemeClr val="tx1"/>
            </a:solidFill>
          </a:ln>
        </p:spPr>
        <p:txBody>
          <a:bodyPr wrap="square" rtlCol="0">
            <a:spAutoFit/>
          </a:bodyPr>
          <a:lstStyle/>
          <a:p>
            <a:r>
              <a:rPr lang="en-US" altLang="ko-KR" sz="2400">
                <a:latin typeface="Times" pitchFamily="18" charset="0"/>
                <a:ea typeface="굴림" pitchFamily="50" charset="-127"/>
              </a:rPr>
              <a:t>1101111</a:t>
            </a:r>
            <a:r>
              <a:rPr lang="en-US" altLang="ko-KR" sz="2400" b="1" u="sng">
                <a:solidFill>
                  <a:schemeClr val="hlink"/>
                </a:solidFill>
                <a:latin typeface="Times" pitchFamily="18" charset="0"/>
                <a:ea typeface="굴림" pitchFamily="50" charset="-127"/>
              </a:rPr>
              <a:t>0</a:t>
            </a:r>
            <a:endParaRPr lang="en-US" sz="2400" dirty="0"/>
          </a:p>
        </p:txBody>
      </p:sp>
      <p:sp>
        <p:nvSpPr>
          <p:cNvPr id="7" name="TextBox 6">
            <a:extLst>
              <a:ext uri="{FF2B5EF4-FFF2-40B4-BE49-F238E27FC236}">
                <a16:creationId xmlns:a16="http://schemas.microsoft.com/office/drawing/2014/main" id="{71F8A828-4EFC-4804-AAD8-C2C54A73E3AB}"/>
              </a:ext>
            </a:extLst>
          </p:cNvPr>
          <p:cNvSpPr txBox="1"/>
          <p:nvPr/>
        </p:nvSpPr>
        <p:spPr>
          <a:xfrm>
            <a:off x="3888529" y="5633795"/>
            <a:ext cx="1505243" cy="461665"/>
          </a:xfrm>
          <a:prstGeom prst="rect">
            <a:avLst/>
          </a:prstGeom>
          <a:noFill/>
          <a:ln>
            <a:solidFill>
              <a:schemeClr val="tx1"/>
            </a:solidFill>
          </a:ln>
        </p:spPr>
        <p:txBody>
          <a:bodyPr wrap="square" rtlCol="0">
            <a:spAutoFit/>
          </a:bodyPr>
          <a:lstStyle/>
          <a:p>
            <a:r>
              <a:rPr lang="en-US" altLang="ko-KR" sz="2400">
                <a:latin typeface="Times" pitchFamily="18" charset="0"/>
                <a:ea typeface="굴림" pitchFamily="50" charset="-127"/>
              </a:rPr>
              <a:t>1110010</a:t>
            </a:r>
            <a:r>
              <a:rPr lang="en-US" altLang="ko-KR" sz="2400" b="1" u="sng">
                <a:solidFill>
                  <a:schemeClr val="hlink"/>
                </a:solidFill>
                <a:latin typeface="Times" pitchFamily="18" charset="0"/>
                <a:ea typeface="굴림" pitchFamily="50" charset="-127"/>
              </a:rPr>
              <a:t>0</a:t>
            </a:r>
            <a:endParaRPr lang="en-US" sz="2400" dirty="0"/>
          </a:p>
        </p:txBody>
      </p:sp>
      <p:sp>
        <p:nvSpPr>
          <p:cNvPr id="8" name="TextBox 7">
            <a:extLst>
              <a:ext uri="{FF2B5EF4-FFF2-40B4-BE49-F238E27FC236}">
                <a16:creationId xmlns:a16="http://schemas.microsoft.com/office/drawing/2014/main" id="{3BB83694-9651-4D3F-B7B7-9E19BB6C9381}"/>
              </a:ext>
            </a:extLst>
          </p:cNvPr>
          <p:cNvSpPr txBox="1"/>
          <p:nvPr/>
        </p:nvSpPr>
        <p:spPr>
          <a:xfrm>
            <a:off x="5566082" y="5633795"/>
            <a:ext cx="1505243" cy="461665"/>
          </a:xfrm>
          <a:prstGeom prst="rect">
            <a:avLst/>
          </a:prstGeom>
          <a:noFill/>
          <a:ln>
            <a:solidFill>
              <a:schemeClr val="tx1"/>
            </a:solidFill>
          </a:ln>
        </p:spPr>
        <p:txBody>
          <a:bodyPr wrap="square" rtlCol="0">
            <a:spAutoFit/>
          </a:bodyPr>
          <a:lstStyle/>
          <a:p>
            <a:r>
              <a:rPr lang="en-US" altLang="ko-KR" sz="2400">
                <a:latin typeface="Times" pitchFamily="18" charset="0"/>
                <a:ea typeface="굴림" pitchFamily="50" charset="-127"/>
              </a:rPr>
              <a:t>1101100</a:t>
            </a:r>
            <a:r>
              <a:rPr lang="en-US" altLang="ko-KR" sz="2400" b="1" u="sng">
                <a:solidFill>
                  <a:schemeClr val="hlink"/>
                </a:solidFill>
                <a:latin typeface="Times" pitchFamily="18" charset="0"/>
                <a:ea typeface="굴림" pitchFamily="50" charset="-127"/>
              </a:rPr>
              <a:t>0</a:t>
            </a:r>
            <a:endParaRPr lang="en-US" sz="2400" dirty="0"/>
          </a:p>
        </p:txBody>
      </p:sp>
      <p:sp>
        <p:nvSpPr>
          <p:cNvPr id="9" name="TextBox 8">
            <a:extLst>
              <a:ext uri="{FF2B5EF4-FFF2-40B4-BE49-F238E27FC236}">
                <a16:creationId xmlns:a16="http://schemas.microsoft.com/office/drawing/2014/main" id="{13B59CFE-DA6E-4B8B-B517-CD88A081AF6C}"/>
              </a:ext>
            </a:extLst>
          </p:cNvPr>
          <p:cNvSpPr txBox="1"/>
          <p:nvPr/>
        </p:nvSpPr>
        <p:spPr>
          <a:xfrm>
            <a:off x="7243635" y="5627077"/>
            <a:ext cx="1505243" cy="461665"/>
          </a:xfrm>
          <a:prstGeom prst="rect">
            <a:avLst/>
          </a:prstGeom>
          <a:noFill/>
          <a:ln>
            <a:solidFill>
              <a:schemeClr val="tx1"/>
            </a:solidFill>
          </a:ln>
        </p:spPr>
        <p:txBody>
          <a:bodyPr wrap="square" rtlCol="0">
            <a:spAutoFit/>
          </a:bodyPr>
          <a:lstStyle/>
          <a:p>
            <a:pPr eaLnBrk="1" hangingPunct="1">
              <a:spcBef>
                <a:spcPct val="50000"/>
              </a:spcBef>
              <a:buFont typeface="Arial" charset="0"/>
              <a:buNone/>
            </a:pPr>
            <a:r>
              <a:rPr lang="en-US" altLang="ko-KR" sz="2400">
                <a:latin typeface="Times" pitchFamily="18" charset="0"/>
                <a:ea typeface="굴림" pitchFamily="50" charset="-127"/>
              </a:rPr>
              <a:t>1100100</a:t>
            </a:r>
            <a:r>
              <a:rPr lang="en-US" altLang="ko-KR" sz="2400" b="1" u="sng">
                <a:solidFill>
                  <a:schemeClr val="hlink"/>
                </a:solidFill>
                <a:latin typeface="Times" pitchFamily="18" charset="0"/>
                <a:ea typeface="굴림" pitchFamily="50" charset="-127"/>
              </a:rPr>
              <a:t>1</a:t>
            </a:r>
            <a:endParaRPr lang="en-US" altLang="ko-KR" sz="2400" b="1" u="sng" dirty="0">
              <a:solidFill>
                <a:schemeClr val="hlink"/>
              </a:solidFill>
              <a:latin typeface="Times" pitchFamily="18" charset="0"/>
              <a:ea typeface="굴림" pitchFamily="50" charset="-127"/>
            </a:endParaRPr>
          </a:p>
        </p:txBody>
      </p:sp>
      <p:pic>
        <p:nvPicPr>
          <p:cNvPr id="4" name="Picture 3" descr="KL Deemed to be University Logo">
            <a:extLst>
              <a:ext uri="{FF2B5EF4-FFF2-40B4-BE49-F238E27FC236}">
                <a16:creationId xmlns:a16="http://schemas.microsoft.com/office/drawing/2014/main" id="{43DFBC62-9F7E-D742-21A7-8EC8BF50A551}"/>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1000" fill="hold"/>
                                        <p:tgtEl>
                                          <p:spTgt spid="2048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2048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8" fill="hold" nodeType="afterEffect">
                                  <p:stCondLst>
                                    <p:cond delay="0"/>
                                  </p:stCondLst>
                                  <p:childTnLst>
                                    <p:set>
                                      <p:cBhvr>
                                        <p:cTn id="11" dur="1" fill="hold">
                                          <p:stCondLst>
                                            <p:cond delay="0"/>
                                          </p:stCondLst>
                                        </p:cTn>
                                        <p:tgtEl>
                                          <p:spTgt spid="20483">
                                            <p:txEl>
                                              <p:pRg st="1" end="1"/>
                                            </p:txEl>
                                          </p:spTgt>
                                        </p:tgtEl>
                                        <p:attrNameLst>
                                          <p:attrName>style.visibility</p:attrName>
                                        </p:attrNameLst>
                                      </p:cBhvr>
                                      <p:to>
                                        <p:strVal val="visible"/>
                                      </p:to>
                                    </p:set>
                                    <p:anim calcmode="lin" valueType="num">
                                      <p:cBhvr additive="base">
                                        <p:cTn id="12" dur="1000" fill="hold"/>
                                        <p:tgtEl>
                                          <p:spTgt spid="20483">
                                            <p:txEl>
                                              <p:pRg st="1" end="1"/>
                                            </p:txEl>
                                          </p:spTgt>
                                        </p:tgtEl>
                                        <p:attrNameLst>
                                          <p:attrName>ppt_x</p:attrName>
                                        </p:attrNameLst>
                                      </p:cBhvr>
                                      <p:tavLst>
                                        <p:tav tm="0">
                                          <p:val>
                                            <p:strVal val="0-#ppt_w/2"/>
                                          </p:val>
                                        </p:tav>
                                        <p:tav tm="100000">
                                          <p:val>
                                            <p:strVal val="#ppt_x"/>
                                          </p:val>
                                        </p:tav>
                                      </p:tavLst>
                                    </p:anim>
                                    <p:anim calcmode="lin" valueType="num">
                                      <p:cBhvr additive="base">
                                        <p:cTn id="13" dur="1000" fill="hold"/>
                                        <p:tgtEl>
                                          <p:spTgt spid="204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0483">
                                            <p:txEl>
                                              <p:pRg st="2" end="2"/>
                                            </p:txEl>
                                          </p:spTgt>
                                        </p:tgtEl>
                                        <p:attrNameLst>
                                          <p:attrName>style.visibility</p:attrName>
                                        </p:attrNameLst>
                                      </p:cBhvr>
                                      <p:to>
                                        <p:strVal val="visible"/>
                                      </p:to>
                                    </p:set>
                                    <p:anim calcmode="lin" valueType="num">
                                      <p:cBhvr additive="base">
                                        <p:cTn id="18" dur="1000" fill="hold"/>
                                        <p:tgtEl>
                                          <p:spTgt spid="20483">
                                            <p:txEl>
                                              <p:pRg st="2" end="2"/>
                                            </p:txEl>
                                          </p:spTgt>
                                        </p:tgtEl>
                                        <p:attrNameLst>
                                          <p:attrName>ppt_x</p:attrName>
                                        </p:attrNameLst>
                                      </p:cBhvr>
                                      <p:tavLst>
                                        <p:tav tm="0">
                                          <p:val>
                                            <p:strVal val="0-#ppt_w/2"/>
                                          </p:val>
                                        </p:tav>
                                        <p:tav tm="100000">
                                          <p:val>
                                            <p:strVal val="#ppt_x"/>
                                          </p:val>
                                        </p:tav>
                                      </p:tavLst>
                                    </p:anim>
                                    <p:anim calcmode="lin" valueType="num">
                                      <p:cBhvr additive="base">
                                        <p:cTn id="19" dur="1000" fill="hold"/>
                                        <p:tgtEl>
                                          <p:spTgt spid="20483">
                                            <p:txEl>
                                              <p:pRg st="2" end="2"/>
                                            </p:txEl>
                                          </p:spTgt>
                                        </p:tgtEl>
                                        <p:attrNameLst>
                                          <p:attrName>ppt_y</p:attrName>
                                        </p:attrNameLst>
                                      </p:cBhvr>
                                      <p:tavLst>
                                        <p:tav tm="0">
                                          <p:val>
                                            <p:strVal val="#ppt_y"/>
                                          </p:val>
                                        </p:tav>
                                        <p:tav tm="100000">
                                          <p:val>
                                            <p:strVal val="#ppt_y"/>
                                          </p:val>
                                        </p:tav>
                                      </p:tavLst>
                                    </p:anim>
                                  </p:childTnLst>
                                </p:cTn>
                              </p:par>
                            </p:childTnLst>
                          </p:cTn>
                        </p:par>
                        <p:par>
                          <p:cTn id="20" fill="hold">
                            <p:stCondLst>
                              <p:cond delay="1000"/>
                            </p:stCondLst>
                            <p:childTnLst>
                              <p:par>
                                <p:cTn id="21" presetID="2" presetClass="entr" presetSubtype="4" fill="hold" nodeType="afterEffect">
                                  <p:stCondLst>
                                    <p:cond delay="0"/>
                                  </p:stCondLst>
                                  <p:childTnLst>
                                    <p:set>
                                      <p:cBhvr>
                                        <p:cTn id="22" dur="1" fill="hold">
                                          <p:stCondLst>
                                            <p:cond delay="0"/>
                                          </p:stCondLst>
                                        </p:cTn>
                                        <p:tgtEl>
                                          <p:spTgt spid="20483">
                                            <p:txEl>
                                              <p:pRg st="3" end="3"/>
                                            </p:txEl>
                                          </p:spTgt>
                                        </p:tgtEl>
                                        <p:attrNameLst>
                                          <p:attrName>style.visibility</p:attrName>
                                        </p:attrNameLst>
                                      </p:cBhvr>
                                      <p:to>
                                        <p:strVal val="visible"/>
                                      </p:to>
                                    </p:set>
                                    <p:anim calcmode="lin" valueType="num">
                                      <p:cBhvr additive="base">
                                        <p:cTn id="23" dur="10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4" dur="1000" fill="hold"/>
                                        <p:tgtEl>
                                          <p:spTgt spid="204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0483">
                                            <p:txEl>
                                              <p:pRg st="5" end="5"/>
                                            </p:txEl>
                                          </p:spTgt>
                                        </p:tgtEl>
                                        <p:attrNameLst>
                                          <p:attrName>style.visibility</p:attrName>
                                        </p:attrNameLst>
                                      </p:cBhvr>
                                      <p:to>
                                        <p:strVal val="visible"/>
                                      </p:to>
                                    </p:set>
                                    <p:anim calcmode="lin" valueType="num">
                                      <p:cBhvr additive="base">
                                        <p:cTn id="29" dur="10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30" dur="1000" fill="hold"/>
                                        <p:tgtEl>
                                          <p:spTgt spid="2048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1000" fill="hold"/>
                                        <p:tgtEl>
                                          <p:spTgt spid="3"/>
                                        </p:tgtEl>
                                        <p:attrNameLst>
                                          <p:attrName>ppt_x</p:attrName>
                                        </p:attrNameLst>
                                      </p:cBhvr>
                                      <p:tavLst>
                                        <p:tav tm="0">
                                          <p:val>
                                            <p:strVal val="#ppt_x"/>
                                          </p:val>
                                        </p:tav>
                                        <p:tav tm="100000">
                                          <p:val>
                                            <p:strVal val="#ppt_x"/>
                                          </p:val>
                                        </p:tav>
                                      </p:tavLst>
                                    </p:anim>
                                    <p:anim calcmode="lin" valueType="num">
                                      <p:cBhvr additive="base">
                                        <p:cTn id="36" dur="10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additive="base">
                                        <p:cTn id="41" dur="1000" fill="hold"/>
                                        <p:tgtEl>
                                          <p:spTgt spid="6"/>
                                        </p:tgtEl>
                                        <p:attrNameLst>
                                          <p:attrName>ppt_x</p:attrName>
                                        </p:attrNameLst>
                                      </p:cBhvr>
                                      <p:tavLst>
                                        <p:tav tm="0">
                                          <p:val>
                                            <p:strVal val="#ppt_x"/>
                                          </p:val>
                                        </p:tav>
                                        <p:tav tm="100000">
                                          <p:val>
                                            <p:strVal val="#ppt_x"/>
                                          </p:val>
                                        </p:tav>
                                      </p:tavLst>
                                    </p:anim>
                                    <p:anim calcmode="lin" valueType="num">
                                      <p:cBhvr additive="base">
                                        <p:cTn id="42" dur="10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additive="base">
                                        <p:cTn id="47" dur="1000" fill="hold"/>
                                        <p:tgtEl>
                                          <p:spTgt spid="7"/>
                                        </p:tgtEl>
                                        <p:attrNameLst>
                                          <p:attrName>ppt_x</p:attrName>
                                        </p:attrNameLst>
                                      </p:cBhvr>
                                      <p:tavLst>
                                        <p:tav tm="0">
                                          <p:val>
                                            <p:strVal val="#ppt_x"/>
                                          </p:val>
                                        </p:tav>
                                        <p:tav tm="100000">
                                          <p:val>
                                            <p:strVal val="#ppt_x"/>
                                          </p:val>
                                        </p:tav>
                                      </p:tavLst>
                                    </p:anim>
                                    <p:anim calcmode="lin" valueType="num">
                                      <p:cBhvr additive="base">
                                        <p:cTn id="48" dur="10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8"/>
                                        </p:tgtEl>
                                        <p:attrNameLst>
                                          <p:attrName>style.visibility</p:attrName>
                                        </p:attrNameLst>
                                      </p:cBhvr>
                                      <p:to>
                                        <p:strVal val="visible"/>
                                      </p:to>
                                    </p:set>
                                    <p:anim calcmode="lin" valueType="num">
                                      <p:cBhvr additive="base">
                                        <p:cTn id="53" dur="1000" fill="hold"/>
                                        <p:tgtEl>
                                          <p:spTgt spid="8"/>
                                        </p:tgtEl>
                                        <p:attrNameLst>
                                          <p:attrName>ppt_x</p:attrName>
                                        </p:attrNameLst>
                                      </p:cBhvr>
                                      <p:tavLst>
                                        <p:tav tm="0">
                                          <p:val>
                                            <p:strVal val="#ppt_x"/>
                                          </p:val>
                                        </p:tav>
                                        <p:tav tm="100000">
                                          <p:val>
                                            <p:strVal val="#ppt_x"/>
                                          </p:val>
                                        </p:tav>
                                      </p:tavLst>
                                    </p:anim>
                                    <p:anim calcmode="lin" valueType="num">
                                      <p:cBhvr additive="base">
                                        <p:cTn id="54" dur="10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9"/>
                                        </p:tgtEl>
                                        <p:attrNameLst>
                                          <p:attrName>style.visibility</p:attrName>
                                        </p:attrNameLst>
                                      </p:cBhvr>
                                      <p:to>
                                        <p:strVal val="visible"/>
                                      </p:to>
                                    </p:set>
                                    <p:anim calcmode="lin" valueType="num">
                                      <p:cBhvr additive="base">
                                        <p:cTn id="59" dur="1000" fill="hold"/>
                                        <p:tgtEl>
                                          <p:spTgt spid="9"/>
                                        </p:tgtEl>
                                        <p:attrNameLst>
                                          <p:attrName>ppt_x</p:attrName>
                                        </p:attrNameLst>
                                      </p:cBhvr>
                                      <p:tavLst>
                                        <p:tav tm="0">
                                          <p:val>
                                            <p:strVal val="#ppt_x"/>
                                          </p:val>
                                        </p:tav>
                                        <p:tav tm="100000">
                                          <p:val>
                                            <p:strVal val="#ppt_x"/>
                                          </p:val>
                                        </p:tav>
                                      </p:tavLst>
                                    </p:anim>
                                    <p:anim calcmode="lin" valueType="num">
                                      <p:cBhvr additive="base">
                                        <p:cTn id="60" dur="10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D3842-8F47-4CDF-4BFC-3D0BBBDCE536}"/>
              </a:ext>
            </a:extLst>
          </p:cNvPr>
          <p:cNvSpPr>
            <a:spLocks noGrp="1"/>
          </p:cNvSpPr>
          <p:nvPr>
            <p:ph type="title"/>
          </p:nvPr>
        </p:nvSpPr>
        <p:spPr/>
        <p:txBody>
          <a:bodyPr>
            <a:normAutofit fontScale="90000"/>
          </a:bodyPr>
          <a:lstStyle/>
          <a:p>
            <a:pPr algn="ctr"/>
            <a:r>
              <a:rPr lang="en-US" dirty="0"/>
              <a:t>Drawback of Simple Parity </a:t>
            </a:r>
          </a:p>
        </p:txBody>
      </p:sp>
      <p:sp>
        <p:nvSpPr>
          <p:cNvPr id="3" name="Content Placeholder 2">
            <a:extLst>
              <a:ext uri="{FF2B5EF4-FFF2-40B4-BE49-F238E27FC236}">
                <a16:creationId xmlns:a16="http://schemas.microsoft.com/office/drawing/2014/main" id="{7199190D-3829-B0C7-741A-B585D609109F}"/>
              </a:ext>
            </a:extLst>
          </p:cNvPr>
          <p:cNvSpPr>
            <a:spLocks noGrp="1"/>
          </p:cNvSpPr>
          <p:nvPr>
            <p:ph idx="1"/>
          </p:nvPr>
        </p:nvSpPr>
        <p:spPr/>
        <p:txBody>
          <a:bodyPr/>
          <a:lstStyle/>
          <a:p>
            <a:r>
              <a:rPr lang="en-US" dirty="0"/>
              <a:t>M = 1100101</a:t>
            </a:r>
          </a:p>
          <a:p>
            <a:r>
              <a:rPr lang="en-US" dirty="0"/>
              <a:t>Parity followed: Even</a:t>
            </a:r>
          </a:p>
        </p:txBody>
      </p:sp>
      <p:sp>
        <p:nvSpPr>
          <p:cNvPr id="4" name="Footer Placeholder 3">
            <a:extLst>
              <a:ext uri="{FF2B5EF4-FFF2-40B4-BE49-F238E27FC236}">
                <a16:creationId xmlns:a16="http://schemas.microsoft.com/office/drawing/2014/main" id="{CB2E70E6-42B3-AE22-7726-996B9576883E}"/>
              </a:ext>
            </a:extLst>
          </p:cNvPr>
          <p:cNvSpPr>
            <a:spLocks noGrp="1"/>
          </p:cNvSpPr>
          <p:nvPr>
            <p:ph type="ftr" sz="quarter" idx="11"/>
          </p:nvPr>
        </p:nvSpPr>
        <p:spPr/>
        <p:txBody>
          <a:bodyPr/>
          <a:lstStyle/>
          <a:p>
            <a:r>
              <a:rPr lang="en-AU"/>
              <a:t>© 2016 KL University – The contents of this presentation are an intellectual and copyrighted property of KL University. ALL RIGHTS RESERVED</a:t>
            </a:r>
            <a:endParaRPr lang="en-AU" dirty="0"/>
          </a:p>
        </p:txBody>
      </p:sp>
      <p:sp>
        <p:nvSpPr>
          <p:cNvPr id="5" name="Slide Number Placeholder 4">
            <a:extLst>
              <a:ext uri="{FF2B5EF4-FFF2-40B4-BE49-F238E27FC236}">
                <a16:creationId xmlns:a16="http://schemas.microsoft.com/office/drawing/2014/main" id="{15A1C9AE-D880-C844-72BE-D475473A36E0}"/>
              </a:ext>
            </a:extLst>
          </p:cNvPr>
          <p:cNvSpPr>
            <a:spLocks noGrp="1"/>
          </p:cNvSpPr>
          <p:nvPr>
            <p:ph type="sldNum" sz="quarter" idx="12"/>
          </p:nvPr>
        </p:nvSpPr>
        <p:spPr/>
        <p:txBody>
          <a:bodyPr/>
          <a:lstStyle/>
          <a:p>
            <a:fld id="{68187FF5-4BF9-4B21-B0D2-9B7FF2B27D7F}" type="slidenum">
              <a:rPr lang="en-AU" smtClean="0"/>
              <a:pPr/>
              <a:t>17</a:t>
            </a:fld>
            <a:endParaRPr lang="en-AU"/>
          </a:p>
        </p:txBody>
      </p:sp>
      <p:graphicFrame>
        <p:nvGraphicFramePr>
          <p:cNvPr id="6" name="Table 6">
            <a:extLst>
              <a:ext uri="{FF2B5EF4-FFF2-40B4-BE49-F238E27FC236}">
                <a16:creationId xmlns:a16="http://schemas.microsoft.com/office/drawing/2014/main" id="{FDE076D2-B116-4443-A3BF-A9EC4692653F}"/>
              </a:ext>
            </a:extLst>
          </p:cNvPr>
          <p:cNvGraphicFramePr>
            <a:graphicFrameLocks noGrp="1"/>
          </p:cNvGraphicFramePr>
          <p:nvPr>
            <p:extLst>
              <p:ext uri="{D42A27DB-BD31-4B8C-83A1-F6EECF244321}">
                <p14:modId xmlns:p14="http://schemas.microsoft.com/office/powerpoint/2010/main" val="1888580083"/>
              </p:ext>
            </p:extLst>
          </p:nvPr>
        </p:nvGraphicFramePr>
        <p:xfrm>
          <a:off x="2129182" y="2437297"/>
          <a:ext cx="7933635" cy="1983406"/>
        </p:xfrm>
        <a:graphic>
          <a:graphicData uri="http://schemas.openxmlformats.org/drawingml/2006/table">
            <a:tbl>
              <a:tblPr firstRow="1" bandRow="1">
                <a:tableStyleId>{5C22544A-7EE6-4342-B048-85BDC9FD1C3A}</a:tableStyleId>
              </a:tblPr>
              <a:tblGrid>
                <a:gridCol w="1837635">
                  <a:extLst>
                    <a:ext uri="{9D8B030D-6E8A-4147-A177-3AD203B41FA5}">
                      <a16:colId xmlns:a16="http://schemas.microsoft.com/office/drawing/2014/main" val="1588581205"/>
                    </a:ext>
                  </a:extLst>
                </a:gridCol>
                <a:gridCol w="2032000">
                  <a:extLst>
                    <a:ext uri="{9D8B030D-6E8A-4147-A177-3AD203B41FA5}">
                      <a16:colId xmlns:a16="http://schemas.microsoft.com/office/drawing/2014/main" val="1264699783"/>
                    </a:ext>
                  </a:extLst>
                </a:gridCol>
                <a:gridCol w="2032000">
                  <a:extLst>
                    <a:ext uri="{9D8B030D-6E8A-4147-A177-3AD203B41FA5}">
                      <a16:colId xmlns:a16="http://schemas.microsoft.com/office/drawing/2014/main" val="587466001"/>
                    </a:ext>
                  </a:extLst>
                </a:gridCol>
                <a:gridCol w="2032000">
                  <a:extLst>
                    <a:ext uri="{9D8B030D-6E8A-4147-A177-3AD203B41FA5}">
                      <a16:colId xmlns:a16="http://schemas.microsoft.com/office/drawing/2014/main" val="24338669"/>
                    </a:ext>
                  </a:extLst>
                </a:gridCol>
              </a:tblGrid>
              <a:tr h="370840">
                <a:tc>
                  <a:txBody>
                    <a:bodyPr/>
                    <a:lstStyle/>
                    <a:p>
                      <a:pPr algn="ctr"/>
                      <a:r>
                        <a:rPr lang="en-US" dirty="0"/>
                        <a:t>Sent Message </a:t>
                      </a:r>
                    </a:p>
                  </a:txBody>
                  <a:tcPr/>
                </a:tc>
                <a:tc>
                  <a:txBody>
                    <a:bodyPr/>
                    <a:lstStyle/>
                    <a:p>
                      <a:pPr algn="ctr"/>
                      <a:r>
                        <a:rPr lang="en-US" dirty="0"/>
                        <a:t>Received Message</a:t>
                      </a:r>
                    </a:p>
                  </a:txBody>
                  <a:tcPr/>
                </a:tc>
                <a:tc>
                  <a:txBody>
                    <a:bodyPr/>
                    <a:lstStyle/>
                    <a:p>
                      <a:pPr algn="ctr"/>
                      <a:r>
                        <a:rPr lang="en-US" dirty="0"/>
                        <a:t>Parity </a:t>
                      </a:r>
                    </a:p>
                  </a:txBody>
                  <a:tcPr/>
                </a:tc>
                <a:tc>
                  <a:txBody>
                    <a:bodyPr/>
                    <a:lstStyle/>
                    <a:p>
                      <a:pPr algn="ctr"/>
                      <a:r>
                        <a:rPr lang="en-US" dirty="0"/>
                        <a:t>Message Status</a:t>
                      </a:r>
                    </a:p>
                  </a:txBody>
                  <a:tcPr/>
                </a:tc>
                <a:extLst>
                  <a:ext uri="{0D108BD9-81ED-4DB2-BD59-A6C34878D82A}">
                    <a16:rowId xmlns:a16="http://schemas.microsoft.com/office/drawing/2014/main" val="1985156423"/>
                  </a:ext>
                </a:extLst>
              </a:tr>
              <a:tr h="370840">
                <a:tc>
                  <a:txBody>
                    <a:bodyPr/>
                    <a:lstStyle/>
                    <a:p>
                      <a:pPr algn="ctr"/>
                      <a:r>
                        <a:rPr kumimoji="0" lang="en-US" sz="2000" b="0" i="0" u="none" strike="noStrike" kern="1200" cap="none" spc="0" normalizeH="0" baseline="0" noProof="0" dirty="0">
                          <a:ln>
                            <a:noFill/>
                          </a:ln>
                          <a:solidFill>
                            <a:prstClr val="black"/>
                          </a:solidFill>
                          <a:effectLst/>
                          <a:uLnTx/>
                          <a:uFillTx/>
                          <a:latin typeface="Calibri"/>
                          <a:ea typeface="+mn-ea"/>
                          <a:cs typeface="+mn-cs"/>
                        </a:rPr>
                        <a:t>11001010</a:t>
                      </a:r>
                      <a:endParaRPr lang="en-US" sz="1400" dirty="0"/>
                    </a:p>
                  </a:txBody>
                  <a:tcPr/>
                </a:tc>
                <a:tc>
                  <a:txBody>
                    <a:bodyPr/>
                    <a:lstStyle/>
                    <a:p>
                      <a:pPr algn="ctr"/>
                      <a:r>
                        <a:rPr kumimoji="0" lang="en-US" sz="2000" b="0" i="0" u="none" strike="noStrike" kern="1200" cap="none" spc="0" normalizeH="0" baseline="0" noProof="0" dirty="0">
                          <a:ln>
                            <a:noFill/>
                          </a:ln>
                          <a:solidFill>
                            <a:prstClr val="black"/>
                          </a:solidFill>
                          <a:effectLst/>
                          <a:uLnTx/>
                          <a:uFillTx/>
                          <a:latin typeface="Calibri"/>
                          <a:ea typeface="+mn-ea"/>
                          <a:cs typeface="+mn-cs"/>
                        </a:rPr>
                        <a:t>11001</a:t>
                      </a:r>
                      <a:r>
                        <a:rPr kumimoji="0" lang="en-US" sz="2000" b="0" i="0" u="none" strike="noStrike" kern="1200" cap="none" spc="0" normalizeH="0" baseline="0" noProof="0" dirty="0">
                          <a:ln>
                            <a:noFill/>
                          </a:ln>
                          <a:solidFill>
                            <a:srgbClr val="FF0000"/>
                          </a:solidFill>
                          <a:effectLst/>
                          <a:uLnTx/>
                          <a:uFillTx/>
                          <a:latin typeface="Calibri"/>
                          <a:ea typeface="+mn-ea"/>
                          <a:cs typeface="+mn-cs"/>
                        </a:rPr>
                        <a:t>1</a:t>
                      </a:r>
                      <a:r>
                        <a:rPr kumimoji="0" lang="en-US" sz="2000" b="0" i="0" u="none" strike="noStrike" kern="1200" cap="none" spc="0" normalizeH="0" baseline="0" noProof="0" dirty="0">
                          <a:ln>
                            <a:noFill/>
                          </a:ln>
                          <a:solidFill>
                            <a:prstClr val="black"/>
                          </a:solidFill>
                          <a:effectLst/>
                          <a:uLnTx/>
                          <a:uFillTx/>
                          <a:latin typeface="Calibri"/>
                          <a:ea typeface="+mn-ea"/>
                          <a:cs typeface="+mn-cs"/>
                        </a:rPr>
                        <a:t>10</a:t>
                      </a:r>
                      <a:endParaRPr lang="en-US" sz="1400" dirty="0"/>
                    </a:p>
                  </a:txBody>
                  <a:tcPr/>
                </a:tc>
                <a:tc>
                  <a:txBody>
                    <a:bodyPr/>
                    <a:lstStyle/>
                    <a:p>
                      <a:pPr algn="ctr"/>
                      <a:r>
                        <a:rPr lang="en-US" dirty="0"/>
                        <a:t>Odd</a:t>
                      </a:r>
                    </a:p>
                  </a:txBody>
                  <a:tcPr/>
                </a:tc>
                <a:tc>
                  <a:txBody>
                    <a:bodyPr/>
                    <a:lstStyle/>
                    <a:p>
                      <a:pPr algn="ctr"/>
                      <a:r>
                        <a:rPr lang="en-US" dirty="0"/>
                        <a:t>Discard</a:t>
                      </a:r>
                    </a:p>
                  </a:txBody>
                  <a:tcPr/>
                </a:tc>
                <a:extLst>
                  <a:ext uri="{0D108BD9-81ED-4DB2-BD59-A6C34878D82A}">
                    <a16:rowId xmlns:a16="http://schemas.microsoft.com/office/drawing/2014/main" val="3553529624"/>
                  </a:ext>
                </a:extLst>
              </a:tr>
              <a:tr h="370840">
                <a:tc>
                  <a:txBody>
                    <a:bodyPr/>
                    <a:lstStyle/>
                    <a:p>
                      <a:pPr algn="ctr"/>
                      <a:r>
                        <a:rPr kumimoji="0" lang="en-US" sz="2000" b="0" i="0" u="none" strike="noStrike" kern="1200" cap="none" spc="0" normalizeH="0" baseline="0" noProof="0" dirty="0">
                          <a:ln>
                            <a:noFill/>
                          </a:ln>
                          <a:solidFill>
                            <a:prstClr val="black"/>
                          </a:solidFill>
                          <a:effectLst/>
                          <a:uLnTx/>
                          <a:uFillTx/>
                          <a:latin typeface="Calibri"/>
                          <a:ea typeface="+mn-ea"/>
                          <a:cs typeface="+mn-cs"/>
                        </a:rPr>
                        <a:t>11001010</a:t>
                      </a:r>
                      <a:endParaRPr lang="en-US" sz="1400" dirty="0"/>
                    </a:p>
                  </a:txBody>
                  <a:tcPr/>
                </a:tc>
                <a:tc>
                  <a:txBody>
                    <a:bodyPr/>
                    <a:lstStyle/>
                    <a:p>
                      <a:pPr algn="ctr"/>
                      <a:r>
                        <a:rPr kumimoji="0" lang="en-US" sz="2000" b="0" i="0" u="none" strike="noStrike" kern="1200" cap="none" spc="0" normalizeH="0" baseline="0" noProof="0" dirty="0">
                          <a:ln>
                            <a:noFill/>
                          </a:ln>
                          <a:solidFill>
                            <a:prstClr val="black"/>
                          </a:solidFill>
                          <a:effectLst/>
                          <a:uLnTx/>
                          <a:uFillTx/>
                          <a:latin typeface="Calibri"/>
                          <a:ea typeface="+mn-ea"/>
                          <a:cs typeface="+mn-cs"/>
                        </a:rPr>
                        <a:t>11</a:t>
                      </a:r>
                      <a:r>
                        <a:rPr kumimoji="0" lang="en-US" sz="2000" b="0" i="0" u="none" strike="noStrike" kern="1200" cap="none" spc="0" normalizeH="0" baseline="0" noProof="0" dirty="0">
                          <a:ln>
                            <a:noFill/>
                          </a:ln>
                          <a:solidFill>
                            <a:srgbClr val="FF0000"/>
                          </a:solidFill>
                          <a:effectLst/>
                          <a:uLnTx/>
                          <a:uFillTx/>
                          <a:latin typeface="Calibri"/>
                          <a:ea typeface="+mn-ea"/>
                          <a:cs typeface="+mn-cs"/>
                        </a:rPr>
                        <a:t>1</a:t>
                      </a:r>
                      <a:r>
                        <a:rPr kumimoji="0" lang="en-US" sz="2000" b="0" i="0" u="none" strike="noStrike" kern="1200" cap="none" spc="0" normalizeH="0" baseline="0" noProof="0" dirty="0">
                          <a:ln>
                            <a:noFill/>
                          </a:ln>
                          <a:solidFill>
                            <a:prstClr val="black"/>
                          </a:solidFill>
                          <a:effectLst/>
                          <a:uLnTx/>
                          <a:uFillTx/>
                          <a:latin typeface="Calibri"/>
                          <a:ea typeface="+mn-ea"/>
                          <a:cs typeface="+mn-cs"/>
                        </a:rPr>
                        <a:t>01</a:t>
                      </a:r>
                      <a:r>
                        <a:rPr kumimoji="0" lang="en-US" sz="2000" b="0" i="0" u="none" strike="noStrike" kern="1200" cap="none" spc="0" normalizeH="0" baseline="0" noProof="0" dirty="0">
                          <a:ln>
                            <a:noFill/>
                          </a:ln>
                          <a:solidFill>
                            <a:srgbClr val="FF0000"/>
                          </a:solidFill>
                          <a:effectLst/>
                          <a:uLnTx/>
                          <a:uFillTx/>
                          <a:latin typeface="Calibri"/>
                          <a:ea typeface="+mn-ea"/>
                          <a:cs typeface="+mn-cs"/>
                        </a:rPr>
                        <a:t>1</a:t>
                      </a:r>
                      <a:r>
                        <a:rPr kumimoji="0" lang="en-US" sz="2000" b="0" i="0" u="none" strike="noStrike" kern="1200" cap="none" spc="0" normalizeH="0" baseline="0" noProof="0" dirty="0">
                          <a:ln>
                            <a:noFill/>
                          </a:ln>
                          <a:solidFill>
                            <a:prstClr val="black"/>
                          </a:solidFill>
                          <a:effectLst/>
                          <a:uLnTx/>
                          <a:uFillTx/>
                          <a:latin typeface="Calibri"/>
                          <a:ea typeface="+mn-ea"/>
                          <a:cs typeface="+mn-cs"/>
                        </a:rPr>
                        <a:t>10</a:t>
                      </a:r>
                      <a:endParaRPr lang="en-US" sz="1400" dirty="0"/>
                    </a:p>
                  </a:txBody>
                  <a:tcPr/>
                </a:tc>
                <a:tc>
                  <a:txBody>
                    <a:bodyPr/>
                    <a:lstStyle/>
                    <a:p>
                      <a:pPr algn="ctr"/>
                      <a:r>
                        <a:rPr lang="en-US" dirty="0"/>
                        <a:t>Even</a:t>
                      </a:r>
                    </a:p>
                  </a:txBody>
                  <a:tcPr/>
                </a:tc>
                <a:tc>
                  <a:txBody>
                    <a:bodyPr/>
                    <a:lstStyle/>
                    <a:p>
                      <a:pPr algn="ctr"/>
                      <a:r>
                        <a:rPr lang="en-US" dirty="0">
                          <a:solidFill>
                            <a:srgbClr val="FF0000"/>
                          </a:solidFill>
                        </a:rPr>
                        <a:t>Accept</a:t>
                      </a:r>
                    </a:p>
                  </a:txBody>
                  <a:tcPr/>
                </a:tc>
                <a:extLst>
                  <a:ext uri="{0D108BD9-81ED-4DB2-BD59-A6C34878D82A}">
                    <a16:rowId xmlns:a16="http://schemas.microsoft.com/office/drawing/2014/main" val="2931754934"/>
                  </a:ext>
                </a:extLst>
              </a:tr>
              <a:tr h="423846">
                <a:tc>
                  <a:txBody>
                    <a:bodyPr/>
                    <a:lstStyle/>
                    <a:p>
                      <a:pPr algn="ctr"/>
                      <a:r>
                        <a:rPr kumimoji="0" lang="en-US" sz="2000" b="0" i="0" u="none" strike="noStrike" kern="1200" cap="none" spc="0" normalizeH="0" baseline="0" noProof="0" dirty="0">
                          <a:ln>
                            <a:noFill/>
                          </a:ln>
                          <a:solidFill>
                            <a:prstClr val="black"/>
                          </a:solidFill>
                          <a:effectLst/>
                          <a:uLnTx/>
                          <a:uFillTx/>
                          <a:latin typeface="Calibri"/>
                          <a:ea typeface="+mn-ea"/>
                          <a:cs typeface="+mn-cs"/>
                        </a:rPr>
                        <a:t>11001010</a:t>
                      </a:r>
                      <a:endParaRPr lang="en-US" sz="1400" dirty="0"/>
                    </a:p>
                  </a:txBody>
                  <a:tcPr/>
                </a:tc>
                <a:tc>
                  <a:txBody>
                    <a:bodyPr/>
                    <a:lstStyle/>
                    <a:p>
                      <a:pPr algn="ctr"/>
                      <a:r>
                        <a:rPr kumimoji="0" lang="en-US" sz="2000" b="0" i="0" u="none" strike="noStrike" kern="1200" cap="none" spc="0" normalizeH="0" baseline="0" noProof="0" dirty="0">
                          <a:ln>
                            <a:noFill/>
                          </a:ln>
                          <a:solidFill>
                            <a:prstClr val="black"/>
                          </a:solidFill>
                          <a:effectLst/>
                          <a:uLnTx/>
                          <a:uFillTx/>
                          <a:latin typeface="Calibri"/>
                          <a:ea typeface="+mn-ea"/>
                          <a:cs typeface="+mn-cs"/>
                        </a:rPr>
                        <a:t>11</a:t>
                      </a:r>
                      <a:r>
                        <a:rPr kumimoji="0" lang="en-US" sz="2000" b="0" i="0" u="none" strike="noStrike" kern="1200" cap="none" spc="0" normalizeH="0" baseline="0" noProof="0" dirty="0">
                          <a:ln>
                            <a:noFill/>
                          </a:ln>
                          <a:solidFill>
                            <a:srgbClr val="FF0000"/>
                          </a:solidFill>
                          <a:effectLst/>
                          <a:uLnTx/>
                          <a:uFillTx/>
                          <a:latin typeface="Calibri"/>
                          <a:ea typeface="+mn-ea"/>
                          <a:cs typeface="+mn-cs"/>
                        </a:rPr>
                        <a:t>1</a:t>
                      </a:r>
                      <a:r>
                        <a:rPr kumimoji="0" lang="en-US" sz="2000" b="0" i="0" u="none" strike="noStrike" kern="1200" cap="none" spc="0" normalizeH="0" baseline="0" noProof="0" dirty="0">
                          <a:ln>
                            <a:noFill/>
                          </a:ln>
                          <a:solidFill>
                            <a:prstClr val="black"/>
                          </a:solidFill>
                          <a:effectLst/>
                          <a:uLnTx/>
                          <a:uFillTx/>
                          <a:latin typeface="Calibri"/>
                          <a:ea typeface="+mn-ea"/>
                          <a:cs typeface="+mn-cs"/>
                        </a:rPr>
                        <a:t>01</a:t>
                      </a:r>
                      <a:r>
                        <a:rPr kumimoji="0" lang="en-US" sz="2000" b="0" i="0" u="none" strike="noStrike" kern="1200" cap="none" spc="0" normalizeH="0" baseline="0" noProof="0" dirty="0">
                          <a:ln>
                            <a:noFill/>
                          </a:ln>
                          <a:solidFill>
                            <a:srgbClr val="FF0000"/>
                          </a:solidFill>
                          <a:effectLst/>
                          <a:uLnTx/>
                          <a:uFillTx/>
                          <a:latin typeface="Calibri"/>
                          <a:ea typeface="+mn-ea"/>
                          <a:cs typeface="+mn-cs"/>
                        </a:rPr>
                        <a:t>10</a:t>
                      </a:r>
                      <a:r>
                        <a:rPr kumimoji="0" lang="en-US" sz="2000" b="0" i="0" u="none" strike="noStrike" kern="1200" cap="none" spc="0" normalizeH="0" baseline="0" noProof="0" dirty="0">
                          <a:ln>
                            <a:noFill/>
                          </a:ln>
                          <a:solidFill>
                            <a:prstClr val="black"/>
                          </a:solidFill>
                          <a:effectLst/>
                          <a:uLnTx/>
                          <a:uFillTx/>
                          <a:latin typeface="Calibri"/>
                          <a:ea typeface="+mn-ea"/>
                          <a:cs typeface="+mn-cs"/>
                        </a:rPr>
                        <a:t>0</a:t>
                      </a:r>
                      <a:endParaRPr lang="en-US" sz="1400" dirty="0"/>
                    </a:p>
                  </a:txBody>
                  <a:tcPr/>
                </a:tc>
                <a:tc>
                  <a:txBody>
                    <a:bodyPr/>
                    <a:lstStyle/>
                    <a:p>
                      <a:pPr algn="ctr"/>
                      <a:r>
                        <a:rPr lang="en-US" dirty="0"/>
                        <a:t>Odd</a:t>
                      </a:r>
                    </a:p>
                  </a:txBody>
                  <a:tcPr/>
                </a:tc>
                <a:tc>
                  <a:txBody>
                    <a:bodyPr/>
                    <a:lstStyle/>
                    <a:p>
                      <a:pPr algn="ctr"/>
                      <a:r>
                        <a:rPr lang="en-US" dirty="0"/>
                        <a:t>Discard</a:t>
                      </a:r>
                    </a:p>
                  </a:txBody>
                  <a:tcPr/>
                </a:tc>
                <a:extLst>
                  <a:ext uri="{0D108BD9-81ED-4DB2-BD59-A6C34878D82A}">
                    <a16:rowId xmlns:a16="http://schemas.microsoft.com/office/drawing/2014/main" val="1583049647"/>
                  </a:ext>
                </a:extLst>
              </a:tr>
              <a:tr h="370840">
                <a:tc>
                  <a:txBody>
                    <a:bodyPr/>
                    <a:lstStyle/>
                    <a:p>
                      <a:pPr algn="ctr"/>
                      <a:r>
                        <a:rPr kumimoji="0" lang="en-US" sz="2000" b="0" i="0" u="none" strike="noStrike" kern="1200" cap="none" spc="0" normalizeH="0" baseline="0" noProof="0" dirty="0">
                          <a:ln>
                            <a:noFill/>
                          </a:ln>
                          <a:solidFill>
                            <a:prstClr val="black"/>
                          </a:solidFill>
                          <a:effectLst/>
                          <a:uLnTx/>
                          <a:uFillTx/>
                          <a:latin typeface="Calibri"/>
                          <a:ea typeface="+mn-ea"/>
                          <a:cs typeface="+mn-cs"/>
                        </a:rPr>
                        <a:t>11001010</a:t>
                      </a:r>
                      <a:endParaRPr lang="en-US" sz="1400" dirty="0"/>
                    </a:p>
                  </a:txBody>
                  <a:tcPr/>
                </a:tc>
                <a:tc>
                  <a:txBody>
                    <a:bodyPr/>
                    <a:lstStyle/>
                    <a:p>
                      <a:pPr algn="ctr"/>
                      <a:r>
                        <a:rPr kumimoji="0" lang="en-US" sz="2000" b="0" i="0" u="none" strike="noStrike" kern="1200" cap="none" spc="0" normalizeH="0" baseline="0" noProof="0" dirty="0">
                          <a:ln>
                            <a:noFill/>
                          </a:ln>
                          <a:solidFill>
                            <a:prstClr val="black"/>
                          </a:solidFill>
                          <a:effectLst/>
                          <a:uLnTx/>
                          <a:uFillTx/>
                          <a:latin typeface="Calibri"/>
                          <a:ea typeface="+mn-ea"/>
                          <a:cs typeface="+mn-cs"/>
                        </a:rPr>
                        <a:t>1</a:t>
                      </a:r>
                      <a:r>
                        <a:rPr kumimoji="0" lang="en-US" sz="2000" b="0" i="0" u="none" strike="noStrike" kern="1200" cap="none" spc="0" normalizeH="0" baseline="0" noProof="0" dirty="0">
                          <a:ln>
                            <a:noFill/>
                          </a:ln>
                          <a:solidFill>
                            <a:srgbClr val="FF0000"/>
                          </a:solidFill>
                          <a:effectLst/>
                          <a:uLnTx/>
                          <a:uFillTx/>
                          <a:latin typeface="Calibri"/>
                          <a:ea typeface="+mn-ea"/>
                          <a:cs typeface="+mn-cs"/>
                        </a:rPr>
                        <a:t>01</a:t>
                      </a:r>
                      <a:r>
                        <a:rPr kumimoji="0" lang="en-US" sz="2000" b="0" i="0" u="none" strike="noStrike" kern="1200" cap="none" spc="0" normalizeH="0" baseline="0" noProof="0" dirty="0">
                          <a:ln>
                            <a:noFill/>
                          </a:ln>
                          <a:solidFill>
                            <a:prstClr val="black"/>
                          </a:solidFill>
                          <a:effectLst/>
                          <a:uLnTx/>
                          <a:uFillTx/>
                          <a:latin typeface="Calibri"/>
                          <a:ea typeface="+mn-ea"/>
                          <a:cs typeface="+mn-cs"/>
                        </a:rPr>
                        <a:t>01</a:t>
                      </a:r>
                      <a:r>
                        <a:rPr kumimoji="0" lang="en-US" sz="2000" b="0" i="0" u="none" strike="noStrike" kern="1200" cap="none" spc="0" normalizeH="0" baseline="0" noProof="0" dirty="0">
                          <a:ln>
                            <a:noFill/>
                          </a:ln>
                          <a:solidFill>
                            <a:srgbClr val="FF0000"/>
                          </a:solidFill>
                          <a:effectLst/>
                          <a:uLnTx/>
                          <a:uFillTx/>
                          <a:latin typeface="Calibri"/>
                          <a:ea typeface="+mn-ea"/>
                          <a:cs typeface="+mn-cs"/>
                        </a:rPr>
                        <a:t>10</a:t>
                      </a:r>
                      <a:r>
                        <a:rPr kumimoji="0" lang="en-US" sz="2000" b="0" i="0" u="none" strike="noStrike" kern="1200" cap="none" spc="0" normalizeH="0" baseline="0" noProof="0" dirty="0">
                          <a:ln>
                            <a:noFill/>
                          </a:ln>
                          <a:solidFill>
                            <a:prstClr val="black"/>
                          </a:solidFill>
                          <a:effectLst/>
                          <a:uLnTx/>
                          <a:uFillTx/>
                          <a:latin typeface="Calibri"/>
                          <a:ea typeface="+mn-ea"/>
                          <a:cs typeface="+mn-cs"/>
                        </a:rPr>
                        <a:t>0</a:t>
                      </a:r>
                      <a:endParaRPr lang="en-US" sz="1400" dirty="0"/>
                    </a:p>
                  </a:txBody>
                  <a:tcPr/>
                </a:tc>
                <a:tc>
                  <a:txBody>
                    <a:bodyPr/>
                    <a:lstStyle/>
                    <a:p>
                      <a:pPr algn="ctr"/>
                      <a:r>
                        <a:rPr lang="en-US" dirty="0"/>
                        <a:t>Even</a:t>
                      </a:r>
                    </a:p>
                  </a:txBody>
                  <a:tcPr/>
                </a:tc>
                <a:tc>
                  <a:txBody>
                    <a:bodyPr/>
                    <a:lstStyle/>
                    <a:p>
                      <a:pPr algn="ctr"/>
                      <a:r>
                        <a:rPr lang="en-US" dirty="0">
                          <a:solidFill>
                            <a:srgbClr val="FF0000"/>
                          </a:solidFill>
                        </a:rPr>
                        <a:t>Accept</a:t>
                      </a:r>
                    </a:p>
                  </a:txBody>
                  <a:tcPr/>
                </a:tc>
                <a:extLst>
                  <a:ext uri="{0D108BD9-81ED-4DB2-BD59-A6C34878D82A}">
                    <a16:rowId xmlns:a16="http://schemas.microsoft.com/office/drawing/2014/main" val="71864855"/>
                  </a:ext>
                </a:extLst>
              </a:tr>
            </a:tbl>
          </a:graphicData>
        </a:graphic>
      </p:graphicFrame>
      <p:sp>
        <p:nvSpPr>
          <p:cNvPr id="7" name="TextBox 6">
            <a:extLst>
              <a:ext uri="{FF2B5EF4-FFF2-40B4-BE49-F238E27FC236}">
                <a16:creationId xmlns:a16="http://schemas.microsoft.com/office/drawing/2014/main" id="{278F2A94-4B67-121F-D06A-491BA55F6626}"/>
              </a:ext>
            </a:extLst>
          </p:cNvPr>
          <p:cNvSpPr txBox="1"/>
          <p:nvPr/>
        </p:nvSpPr>
        <p:spPr>
          <a:xfrm>
            <a:off x="1683026" y="4876800"/>
            <a:ext cx="8965578" cy="369332"/>
          </a:xfrm>
          <a:prstGeom prst="rect">
            <a:avLst/>
          </a:prstGeom>
          <a:noFill/>
        </p:spPr>
        <p:txBody>
          <a:bodyPr wrap="square" rtlCol="0">
            <a:spAutoFit/>
          </a:bodyPr>
          <a:lstStyle/>
          <a:p>
            <a:r>
              <a:rPr lang="en-US" dirty="0"/>
              <a:t>Disadvantage: </a:t>
            </a:r>
            <a:r>
              <a:rPr lang="en-US" dirty="0">
                <a:solidFill>
                  <a:srgbClr val="C00000"/>
                </a:solidFill>
              </a:rPr>
              <a:t>With Simple parity method, only the odd number errors can be detected.</a:t>
            </a:r>
          </a:p>
        </p:txBody>
      </p:sp>
      <p:pic>
        <p:nvPicPr>
          <p:cNvPr id="8" name="Picture 7" descr="KL Deemed to be University Logo">
            <a:extLst>
              <a:ext uri="{FF2B5EF4-FFF2-40B4-BE49-F238E27FC236}">
                <a16:creationId xmlns:a16="http://schemas.microsoft.com/office/drawing/2014/main" id="{6F2630FE-CA39-5B24-6EB5-083B5A07A792}"/>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8000005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algn="ctr" eaLnBrk="1" fontAlgn="auto" hangingPunct="1">
              <a:spcAft>
                <a:spcPts val="0"/>
              </a:spcAft>
              <a:defRPr/>
            </a:pPr>
            <a:r>
              <a:rPr lang="en-US" altLang="ko-KR" b="1" dirty="0">
                <a:effectLst>
                  <a:outerShdw blurRad="38100" dist="38100" dir="2700000" algn="tl">
                    <a:srgbClr val="FFFFFF"/>
                  </a:outerShdw>
                </a:effectLst>
              </a:rPr>
              <a:t>Two-Dimensional Parity Method</a:t>
            </a:r>
            <a:endParaRPr lang="en-US" dirty="0"/>
          </a:p>
        </p:txBody>
      </p:sp>
      <p:pic>
        <p:nvPicPr>
          <p:cNvPr id="23555" name="Picture 4"/>
          <p:cNvPicPr>
            <a:picLocks noGrp="1" noChangeAspect="1" noChangeArrowheads="1"/>
          </p:cNvPicPr>
          <p:nvPr>
            <p:ph idx="1"/>
          </p:nvPr>
        </p:nvPicPr>
        <p:blipFill>
          <a:blip r:embed="rId2" cstate="print"/>
          <a:srcRect/>
          <a:stretch>
            <a:fillRect/>
          </a:stretch>
        </p:blipFill>
        <p:spPr>
          <a:xfrm>
            <a:off x="527051" y="1600200"/>
            <a:ext cx="11137900" cy="4852988"/>
          </a:xfrm>
          <a:noFill/>
        </p:spPr>
      </p:pic>
      <p:pic>
        <p:nvPicPr>
          <p:cNvPr id="3" name="Picture 2" descr="KL Deemed to be University Logo">
            <a:extLst>
              <a:ext uri="{FF2B5EF4-FFF2-40B4-BE49-F238E27FC236}">
                <a16:creationId xmlns:a16="http://schemas.microsoft.com/office/drawing/2014/main" id="{6C3AD877-2830-045F-FD95-19B8788D119B}"/>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i="1" dirty="0">
                <a:latin typeface="Times New Roman" pitchFamily="18" charset="0"/>
              </a:rPr>
              <a:t>Two-dimensional parity-check code</a:t>
            </a:r>
            <a:endParaRPr lang="en-US" dirty="0"/>
          </a:p>
        </p:txBody>
      </p:sp>
      <p:sp>
        <p:nvSpPr>
          <p:cNvPr id="5" name="Slide Number Placeholder 4"/>
          <p:cNvSpPr>
            <a:spLocks noGrp="1"/>
          </p:cNvSpPr>
          <p:nvPr>
            <p:ph type="sldNum" sz="quarter" idx="12"/>
          </p:nvPr>
        </p:nvSpPr>
        <p:spPr/>
        <p:txBody>
          <a:bodyPr/>
          <a:lstStyle/>
          <a:p>
            <a:fld id="{68187FF5-4BF9-4B21-B0D2-9B7FF2B27D7F}" type="slidenum">
              <a:rPr lang="en-AU" smtClean="0"/>
              <a:pPr/>
              <a:t>19</a:t>
            </a:fld>
            <a:endParaRPr lang="en-AU"/>
          </a:p>
        </p:txBody>
      </p:sp>
      <p:pic>
        <p:nvPicPr>
          <p:cNvPr id="6" name="Picture 8"/>
          <p:cNvPicPr>
            <a:picLocks noGrp="1" noChangeAspect="1" noChangeArrowheads="1"/>
          </p:cNvPicPr>
          <p:nvPr>
            <p:ph idx="1"/>
          </p:nvPr>
        </p:nvPicPr>
        <p:blipFill>
          <a:blip r:embed="rId2" cstate="print"/>
          <a:srcRect/>
          <a:stretch>
            <a:fillRect/>
          </a:stretch>
        </p:blipFill>
        <p:spPr bwMode="auto">
          <a:xfrm>
            <a:off x="1812324" y="1919147"/>
            <a:ext cx="7092779" cy="3494368"/>
          </a:xfrm>
          <a:prstGeom prst="rect">
            <a:avLst/>
          </a:prstGeom>
          <a:noFill/>
          <a:ln w="9525">
            <a:noFill/>
            <a:miter lim="800000"/>
            <a:headEnd/>
            <a:tailEnd/>
          </a:ln>
        </p:spPr>
      </p:pic>
      <p:pic>
        <p:nvPicPr>
          <p:cNvPr id="3" name="Picture 2" descr="KL Deemed to be University Logo">
            <a:extLst>
              <a:ext uri="{FF2B5EF4-FFF2-40B4-BE49-F238E27FC236}">
                <a16:creationId xmlns:a16="http://schemas.microsoft.com/office/drawing/2014/main" id="{297355F6-A1E6-4391-EA86-8E0C1B74B66E}"/>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i="1" dirty="0">
                <a:latin typeface="Times New Roman" pitchFamily="18" charset="0"/>
              </a:rPr>
              <a:t>Two-dimensional parity-check code…</a:t>
            </a:r>
            <a:endParaRPr lang="en-US" dirty="0"/>
          </a:p>
        </p:txBody>
      </p:sp>
      <p:sp>
        <p:nvSpPr>
          <p:cNvPr id="5" name="Slide Number Placeholder 4"/>
          <p:cNvSpPr>
            <a:spLocks noGrp="1"/>
          </p:cNvSpPr>
          <p:nvPr>
            <p:ph type="sldNum" sz="quarter" idx="12"/>
          </p:nvPr>
        </p:nvSpPr>
        <p:spPr/>
        <p:txBody>
          <a:bodyPr/>
          <a:lstStyle/>
          <a:p>
            <a:fld id="{68187FF5-4BF9-4B21-B0D2-9B7FF2B27D7F}" type="slidenum">
              <a:rPr lang="en-AU" smtClean="0"/>
              <a:pPr/>
              <a:t>20</a:t>
            </a:fld>
            <a:endParaRPr lang="en-AU"/>
          </a:p>
        </p:txBody>
      </p:sp>
      <p:pic>
        <p:nvPicPr>
          <p:cNvPr id="7" name="Picture 7"/>
          <p:cNvPicPr>
            <a:picLocks noGrp="1" noChangeAspect="1" noChangeArrowheads="1"/>
          </p:cNvPicPr>
          <p:nvPr>
            <p:ph idx="1"/>
          </p:nvPr>
        </p:nvPicPr>
        <p:blipFill>
          <a:blip r:embed="rId2" cstate="print"/>
          <a:srcRect/>
          <a:stretch>
            <a:fillRect/>
          </a:stretch>
        </p:blipFill>
        <p:spPr bwMode="auto">
          <a:xfrm>
            <a:off x="1911178" y="1919147"/>
            <a:ext cx="8180173" cy="3494368"/>
          </a:xfrm>
          <a:prstGeom prst="rect">
            <a:avLst/>
          </a:prstGeom>
          <a:noFill/>
          <a:ln w="9525">
            <a:noFill/>
            <a:miter lim="800000"/>
            <a:headEnd/>
            <a:tailEnd/>
          </a:ln>
        </p:spPr>
      </p:pic>
      <p:pic>
        <p:nvPicPr>
          <p:cNvPr id="3" name="Picture 2" descr="KL Deemed to be University Logo">
            <a:extLst>
              <a:ext uri="{FF2B5EF4-FFF2-40B4-BE49-F238E27FC236}">
                <a16:creationId xmlns:a16="http://schemas.microsoft.com/office/drawing/2014/main" id="{04784276-E80D-2EC7-36DC-8F3527CF7EDB}"/>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3723C-2F80-4F61-98CE-2AC34739A56B}"/>
              </a:ext>
            </a:extLst>
          </p:cNvPr>
          <p:cNvSpPr>
            <a:spLocks noGrp="1"/>
          </p:cNvSpPr>
          <p:nvPr>
            <p:ph type="title"/>
          </p:nvPr>
        </p:nvSpPr>
        <p:spPr>
          <a:xfrm>
            <a:off x="838200" y="365126"/>
            <a:ext cx="10515600" cy="5991224"/>
          </a:xfrm>
        </p:spPr>
        <p:txBody>
          <a:bodyPr>
            <a:normAutofit/>
          </a:bodyPr>
          <a:lstStyle/>
          <a:p>
            <a:r>
              <a:rPr lang="en-US" b="1" dirty="0">
                <a:latin typeface="Goudy Old Style" panose="02020502050305020303" pitchFamily="18" charset="0"/>
              </a:rPr>
              <a:t>       2. Cyclic Redundancy Check (CRC)</a:t>
            </a:r>
            <a:endParaRPr lang="en-US" dirty="0"/>
          </a:p>
        </p:txBody>
      </p:sp>
      <p:sp>
        <p:nvSpPr>
          <p:cNvPr id="5" name="Slide Number Placeholder 4">
            <a:extLst>
              <a:ext uri="{FF2B5EF4-FFF2-40B4-BE49-F238E27FC236}">
                <a16:creationId xmlns:a16="http://schemas.microsoft.com/office/drawing/2014/main" id="{DD7D5438-4AA5-40A8-8A54-388192168EF3}"/>
              </a:ext>
            </a:extLst>
          </p:cNvPr>
          <p:cNvSpPr>
            <a:spLocks noGrp="1"/>
          </p:cNvSpPr>
          <p:nvPr>
            <p:ph type="sldNum" sz="quarter" idx="12"/>
          </p:nvPr>
        </p:nvSpPr>
        <p:spPr/>
        <p:txBody>
          <a:bodyPr/>
          <a:lstStyle/>
          <a:p>
            <a:fld id="{68187FF5-4BF9-4B21-B0D2-9B7FF2B27D7F}" type="slidenum">
              <a:rPr lang="en-AU" smtClean="0"/>
              <a:pPr/>
              <a:t>21</a:t>
            </a:fld>
            <a:endParaRPr lang="en-AU"/>
          </a:p>
        </p:txBody>
      </p:sp>
      <p:pic>
        <p:nvPicPr>
          <p:cNvPr id="3" name="Picture 2" descr="KL Deemed to be University Logo">
            <a:extLst>
              <a:ext uri="{FF2B5EF4-FFF2-40B4-BE49-F238E27FC236}">
                <a16:creationId xmlns:a16="http://schemas.microsoft.com/office/drawing/2014/main" id="{C935CE8A-6A26-403E-77D7-11146CDCD04A}"/>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293875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151" y="136525"/>
            <a:ext cx="10905927" cy="544511"/>
          </a:xfrm>
        </p:spPr>
        <p:txBody>
          <a:bodyPr>
            <a:normAutofit fontScale="90000"/>
          </a:bodyPr>
          <a:lstStyle/>
          <a:p>
            <a:pPr algn="ctr"/>
            <a:r>
              <a:rPr lang="en-US" b="1" dirty="0">
                <a:latin typeface="Goudy Old Style" panose="02020502050305020303" pitchFamily="18" charset="0"/>
              </a:rPr>
              <a:t>2. Cyclic Redundancy Check (CRC):</a:t>
            </a:r>
          </a:p>
        </p:txBody>
      </p:sp>
      <p:sp>
        <p:nvSpPr>
          <p:cNvPr id="3" name="Content Placeholder 2"/>
          <p:cNvSpPr>
            <a:spLocks noGrp="1"/>
          </p:cNvSpPr>
          <p:nvPr>
            <p:ph idx="1"/>
          </p:nvPr>
        </p:nvSpPr>
        <p:spPr>
          <a:xfrm>
            <a:off x="202772" y="939055"/>
            <a:ext cx="11676184" cy="5873187"/>
          </a:xfrm>
        </p:spPr>
        <p:txBody>
          <a:bodyPr>
            <a:normAutofit/>
          </a:bodyPr>
          <a:lstStyle/>
          <a:p>
            <a:pPr algn="l" fontAlgn="base">
              <a:buFont typeface="Arial" panose="020B0604020202020204" pitchFamily="34" charset="0"/>
              <a:buChar char="•"/>
            </a:pPr>
            <a:r>
              <a:rPr lang="en-US" sz="2200" b="0" i="0" dirty="0">
                <a:solidFill>
                  <a:srgbClr val="303030"/>
                </a:solidFill>
                <a:effectLst/>
                <a:latin typeface="Goudy Old Style" panose="02020502050305020303" pitchFamily="18" charset="0"/>
              </a:rPr>
              <a:t>Cyclic Redundancy Check (CRC) is an error detection method.</a:t>
            </a:r>
          </a:p>
          <a:p>
            <a:pPr algn="l" fontAlgn="base">
              <a:buFont typeface="Arial" panose="020B0604020202020204" pitchFamily="34" charset="0"/>
              <a:buChar char="•"/>
            </a:pPr>
            <a:r>
              <a:rPr lang="en-US" sz="2200" b="0" i="0" dirty="0">
                <a:solidFill>
                  <a:srgbClr val="303030"/>
                </a:solidFill>
                <a:effectLst/>
                <a:latin typeface="Goudy Old Style" panose="02020502050305020303" pitchFamily="18" charset="0"/>
              </a:rPr>
              <a:t>It is based on binary division.</a:t>
            </a:r>
          </a:p>
          <a:p>
            <a:pPr marL="0" indent="0" algn="l" fontAlgn="base">
              <a:buNone/>
            </a:pPr>
            <a:r>
              <a:rPr lang="en-US" sz="2200" b="1" i="0" u="sng" dirty="0">
                <a:solidFill>
                  <a:srgbClr val="303030"/>
                </a:solidFill>
                <a:effectLst/>
                <a:latin typeface="Goudy Old Style" panose="02020502050305020303" pitchFamily="18" charset="0"/>
              </a:rPr>
              <a:t>CRC Generator-</a:t>
            </a:r>
            <a:endParaRPr lang="en-US" sz="2200" b="1" i="0" dirty="0">
              <a:solidFill>
                <a:srgbClr val="303030"/>
              </a:solidFill>
              <a:effectLst/>
              <a:latin typeface="Goudy Old Style" panose="02020502050305020303" pitchFamily="18" charset="0"/>
            </a:endParaRPr>
          </a:p>
          <a:p>
            <a:pPr algn="l" fontAlgn="base">
              <a:buFont typeface="Arial" panose="020B0604020202020204" pitchFamily="34" charset="0"/>
              <a:buChar char="•"/>
            </a:pPr>
            <a:r>
              <a:rPr lang="en-US" sz="2200" b="0" i="0" dirty="0">
                <a:solidFill>
                  <a:srgbClr val="303030"/>
                </a:solidFill>
                <a:effectLst/>
                <a:latin typeface="Goudy Old Style" panose="02020502050305020303" pitchFamily="18" charset="0"/>
              </a:rPr>
              <a:t>CRC generator is an algebraic polynomial represented as a bit pattern.</a:t>
            </a:r>
          </a:p>
          <a:p>
            <a:pPr algn="l" fontAlgn="base">
              <a:buFont typeface="Arial" panose="020B0604020202020204" pitchFamily="34" charset="0"/>
              <a:buChar char="•"/>
            </a:pPr>
            <a:r>
              <a:rPr lang="en-US" sz="2200" b="0" i="0" dirty="0">
                <a:solidFill>
                  <a:srgbClr val="303030"/>
                </a:solidFill>
                <a:effectLst/>
                <a:latin typeface="Goudy Old Style" panose="02020502050305020303" pitchFamily="18" charset="0"/>
              </a:rPr>
              <a:t>Bit pattern is obtained from the CRC generator using the following rule-</a:t>
            </a:r>
          </a:p>
          <a:p>
            <a:pPr algn="l" fontAlgn="base">
              <a:buFont typeface="Arial" panose="020B0604020202020204" pitchFamily="34" charset="0"/>
              <a:buChar char="•"/>
            </a:pPr>
            <a:endParaRPr lang="en-US" sz="2200" dirty="0">
              <a:solidFill>
                <a:srgbClr val="303030"/>
              </a:solidFill>
              <a:latin typeface="Goudy Old Style" panose="02020502050305020303" pitchFamily="18" charset="0"/>
            </a:endParaRPr>
          </a:p>
          <a:p>
            <a:pPr algn="l" fontAlgn="base">
              <a:buFont typeface="Arial" panose="020B0604020202020204" pitchFamily="34" charset="0"/>
              <a:buChar char="•"/>
            </a:pPr>
            <a:endParaRPr lang="en-US" sz="2200" dirty="0">
              <a:solidFill>
                <a:srgbClr val="303030"/>
              </a:solidFill>
              <a:latin typeface="Goudy Old Style" panose="02020502050305020303" pitchFamily="18" charset="0"/>
            </a:endParaRPr>
          </a:p>
          <a:p>
            <a:pPr marL="0" indent="0" fontAlgn="base">
              <a:buNone/>
            </a:pPr>
            <a:r>
              <a:rPr lang="en-US" sz="2200" b="1" i="0" u="sng" dirty="0">
                <a:solidFill>
                  <a:srgbClr val="303030"/>
                </a:solidFill>
                <a:effectLst/>
                <a:latin typeface="Goudy Old Style" panose="02020502050305020303" pitchFamily="18" charset="0"/>
              </a:rPr>
              <a:t>Example- </a:t>
            </a:r>
          </a:p>
          <a:p>
            <a:pPr fontAlgn="base"/>
            <a:r>
              <a:rPr lang="en-US" sz="2200" b="0" i="0" dirty="0">
                <a:solidFill>
                  <a:srgbClr val="303030"/>
                </a:solidFill>
                <a:effectLst/>
                <a:latin typeface="Goudy Old Style" panose="02020502050305020303" pitchFamily="18" charset="0"/>
              </a:rPr>
              <a:t>Consider the CRC generator is x</a:t>
            </a:r>
            <a:r>
              <a:rPr lang="en-US" sz="2200" b="0" i="0" baseline="30000" dirty="0">
                <a:solidFill>
                  <a:srgbClr val="303030"/>
                </a:solidFill>
                <a:effectLst/>
                <a:latin typeface="Goudy Old Style" panose="02020502050305020303" pitchFamily="18" charset="0"/>
              </a:rPr>
              <a:t>7</a:t>
            </a:r>
            <a:r>
              <a:rPr lang="en-US" sz="2200" b="0" i="0" dirty="0">
                <a:solidFill>
                  <a:srgbClr val="303030"/>
                </a:solidFill>
                <a:effectLst/>
                <a:latin typeface="Goudy Old Style" panose="02020502050305020303" pitchFamily="18" charset="0"/>
              </a:rPr>
              <a:t> + x</a:t>
            </a:r>
            <a:r>
              <a:rPr lang="en-US" sz="2200" b="0" i="0" baseline="30000" dirty="0">
                <a:solidFill>
                  <a:srgbClr val="303030"/>
                </a:solidFill>
                <a:effectLst/>
                <a:latin typeface="Goudy Old Style" panose="02020502050305020303" pitchFamily="18" charset="0"/>
              </a:rPr>
              <a:t>6</a:t>
            </a:r>
            <a:r>
              <a:rPr lang="en-US" sz="2200" b="0" i="0" dirty="0">
                <a:solidFill>
                  <a:srgbClr val="303030"/>
                </a:solidFill>
                <a:effectLst/>
                <a:latin typeface="Goudy Old Style" panose="02020502050305020303" pitchFamily="18" charset="0"/>
              </a:rPr>
              <a:t> + x</a:t>
            </a:r>
            <a:r>
              <a:rPr lang="en-US" sz="2200" b="0" i="0" baseline="30000" dirty="0">
                <a:solidFill>
                  <a:srgbClr val="303030"/>
                </a:solidFill>
                <a:effectLst/>
                <a:latin typeface="Goudy Old Style" panose="02020502050305020303" pitchFamily="18" charset="0"/>
              </a:rPr>
              <a:t>4</a:t>
            </a:r>
            <a:r>
              <a:rPr lang="en-US" sz="2200" b="0" i="0" dirty="0">
                <a:solidFill>
                  <a:srgbClr val="303030"/>
                </a:solidFill>
                <a:effectLst/>
                <a:latin typeface="Goudy Old Style" panose="02020502050305020303" pitchFamily="18" charset="0"/>
              </a:rPr>
              <a:t> + x</a:t>
            </a:r>
            <a:r>
              <a:rPr lang="en-US" sz="2200" b="0" i="0" baseline="30000" dirty="0">
                <a:solidFill>
                  <a:srgbClr val="303030"/>
                </a:solidFill>
                <a:effectLst/>
                <a:latin typeface="Goudy Old Style" panose="02020502050305020303" pitchFamily="18" charset="0"/>
              </a:rPr>
              <a:t>3</a:t>
            </a:r>
            <a:r>
              <a:rPr lang="en-US" sz="2200" b="0" i="0" dirty="0">
                <a:solidFill>
                  <a:srgbClr val="303030"/>
                </a:solidFill>
                <a:effectLst/>
                <a:latin typeface="Goudy Old Style" panose="02020502050305020303" pitchFamily="18" charset="0"/>
              </a:rPr>
              <a:t> + x + 1. The corresponding binary pattern is obtained as-</a:t>
            </a:r>
          </a:p>
          <a:p>
            <a:pPr fontAlgn="base"/>
            <a:endParaRPr lang="en-US" b="1" i="0" u="sng" dirty="0">
              <a:solidFill>
                <a:srgbClr val="303030"/>
              </a:solidFill>
              <a:effectLst/>
              <a:latin typeface="roboto condensed" panose="02000000000000000000" pitchFamily="2" charset="0"/>
            </a:endParaRPr>
          </a:p>
          <a:p>
            <a:pPr fontAlgn="base"/>
            <a:endParaRPr lang="en-US" b="1" i="0" dirty="0">
              <a:solidFill>
                <a:srgbClr val="303030"/>
              </a:solidFill>
              <a:effectLst/>
              <a:latin typeface="roboto condensed" panose="02000000000000000000" pitchFamily="2" charset="0"/>
            </a:endParaRPr>
          </a:p>
          <a:p>
            <a:pPr algn="l" fontAlgn="base">
              <a:buFont typeface="Arial" panose="020B0604020202020204" pitchFamily="34" charset="0"/>
              <a:buChar char="•"/>
            </a:pPr>
            <a:endParaRPr lang="en-US" dirty="0"/>
          </a:p>
        </p:txBody>
      </p:sp>
      <p:sp>
        <p:nvSpPr>
          <p:cNvPr id="5" name="Slide Number Placeholder 4"/>
          <p:cNvSpPr>
            <a:spLocks noGrp="1"/>
          </p:cNvSpPr>
          <p:nvPr>
            <p:ph type="sldNum" sz="quarter" idx="12"/>
          </p:nvPr>
        </p:nvSpPr>
        <p:spPr/>
        <p:txBody>
          <a:bodyPr/>
          <a:lstStyle/>
          <a:p>
            <a:fld id="{68187FF5-4BF9-4B21-B0D2-9B7FF2B27D7F}" type="slidenum">
              <a:rPr lang="en-AU" smtClean="0"/>
              <a:pPr/>
              <a:t>22</a:t>
            </a:fld>
            <a:endParaRPr lang="en-AU"/>
          </a:p>
        </p:txBody>
      </p:sp>
      <p:sp>
        <p:nvSpPr>
          <p:cNvPr id="8" name="TextBox 7">
            <a:extLst>
              <a:ext uri="{FF2B5EF4-FFF2-40B4-BE49-F238E27FC236}">
                <a16:creationId xmlns:a16="http://schemas.microsoft.com/office/drawing/2014/main" id="{B21B92DB-A152-4430-9E5A-3ABA42E20616}"/>
              </a:ext>
            </a:extLst>
          </p:cNvPr>
          <p:cNvSpPr txBox="1"/>
          <p:nvPr/>
        </p:nvSpPr>
        <p:spPr>
          <a:xfrm>
            <a:off x="433754" y="3274702"/>
            <a:ext cx="11324491" cy="430887"/>
          </a:xfrm>
          <a:prstGeom prst="rect">
            <a:avLst/>
          </a:prstGeom>
          <a:solidFill>
            <a:schemeClr val="bg1">
              <a:lumMod val="75000"/>
            </a:schemeClr>
          </a:solidFill>
          <a:ln>
            <a:solidFill>
              <a:schemeClr val="tx1"/>
            </a:solidFill>
          </a:ln>
        </p:spPr>
        <p:txBody>
          <a:bodyPr wrap="square" rtlCol="0">
            <a:spAutoFit/>
          </a:bodyPr>
          <a:lstStyle/>
          <a:p>
            <a:r>
              <a:rPr lang="en-US" sz="2200" b="1" i="1" dirty="0">
                <a:solidFill>
                  <a:srgbClr val="303030"/>
                </a:solidFill>
                <a:effectLst/>
                <a:latin typeface="Goudy Old Style" panose="02020502050305020303" pitchFamily="18" charset="0"/>
              </a:rPr>
              <a:t>The power of each term gives the position of the bit and the coefficient gives the value of the bit.</a:t>
            </a:r>
            <a:endParaRPr lang="en-US" sz="2200" b="1" i="1" dirty="0">
              <a:latin typeface="Goudy Old Style" panose="02020502050305020303" pitchFamily="18" charset="0"/>
            </a:endParaRPr>
          </a:p>
        </p:txBody>
      </p:sp>
      <p:pic>
        <p:nvPicPr>
          <p:cNvPr id="16" name="Picture 15">
            <a:extLst>
              <a:ext uri="{FF2B5EF4-FFF2-40B4-BE49-F238E27FC236}">
                <a16:creationId xmlns:a16="http://schemas.microsoft.com/office/drawing/2014/main" id="{B7A71D97-C89B-4784-BF4C-22E91471CFD8}"/>
              </a:ext>
            </a:extLst>
          </p:cNvPr>
          <p:cNvPicPr>
            <a:picLocks noChangeAspect="1"/>
          </p:cNvPicPr>
          <p:nvPr/>
        </p:nvPicPr>
        <p:blipFill>
          <a:blip r:embed="rId2"/>
          <a:stretch>
            <a:fillRect/>
          </a:stretch>
        </p:blipFill>
        <p:spPr>
          <a:xfrm>
            <a:off x="3655181" y="5015747"/>
            <a:ext cx="4771367" cy="1830741"/>
          </a:xfrm>
          <a:prstGeom prst="rect">
            <a:avLst/>
          </a:prstGeom>
        </p:spPr>
      </p:pic>
      <p:pic>
        <p:nvPicPr>
          <p:cNvPr id="4" name="Picture 3" descr="KL Deemed to be University Logo">
            <a:extLst>
              <a:ext uri="{FF2B5EF4-FFF2-40B4-BE49-F238E27FC236}">
                <a16:creationId xmlns:a16="http://schemas.microsoft.com/office/drawing/2014/main" id="{CF74886B-68D2-F01D-89D7-BFF90A707634}"/>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151" y="136525"/>
            <a:ext cx="10680640" cy="544511"/>
          </a:xfrm>
        </p:spPr>
        <p:txBody>
          <a:bodyPr>
            <a:normAutofit fontScale="90000"/>
          </a:bodyPr>
          <a:lstStyle/>
          <a:p>
            <a:pPr algn="ctr"/>
            <a:r>
              <a:rPr lang="en-US" b="1" dirty="0">
                <a:latin typeface="Goudy Old Style" panose="02020502050305020303" pitchFamily="18" charset="0"/>
              </a:rPr>
              <a:t>Steps in Computing CRC:</a:t>
            </a:r>
          </a:p>
        </p:txBody>
      </p:sp>
      <p:sp>
        <p:nvSpPr>
          <p:cNvPr id="3" name="Content Placeholder 2"/>
          <p:cNvSpPr>
            <a:spLocks noGrp="1"/>
          </p:cNvSpPr>
          <p:nvPr>
            <p:ph idx="1"/>
          </p:nvPr>
        </p:nvSpPr>
        <p:spPr>
          <a:xfrm>
            <a:off x="202772" y="939055"/>
            <a:ext cx="11676184" cy="5873187"/>
          </a:xfrm>
        </p:spPr>
        <p:txBody>
          <a:bodyPr>
            <a:normAutofit lnSpcReduction="10000"/>
          </a:bodyPr>
          <a:lstStyle/>
          <a:p>
            <a:pPr marL="0" indent="0" fontAlgn="base">
              <a:buNone/>
            </a:pPr>
            <a:r>
              <a:rPr lang="en-US" sz="2000" b="1" i="0" u="sng" dirty="0">
                <a:solidFill>
                  <a:srgbClr val="303030"/>
                </a:solidFill>
                <a:effectLst/>
                <a:latin typeface="Goudy Old Style" panose="02020502050305020303" pitchFamily="18" charset="0"/>
              </a:rPr>
              <a:t>Step-01: Calculation Of CRC At Sender Side-</a:t>
            </a:r>
            <a:endParaRPr lang="en-US" sz="2000" b="1" u="sng" dirty="0">
              <a:solidFill>
                <a:srgbClr val="303030"/>
              </a:solidFill>
              <a:latin typeface="Goudy Old Style" panose="02020502050305020303" pitchFamily="18" charset="0"/>
            </a:endParaRPr>
          </a:p>
          <a:p>
            <a:pPr marL="0" indent="0" fontAlgn="base">
              <a:buNone/>
            </a:pPr>
            <a:r>
              <a:rPr lang="en-US" sz="2000" b="0" i="0" dirty="0">
                <a:solidFill>
                  <a:srgbClr val="303030"/>
                </a:solidFill>
                <a:effectLst/>
                <a:latin typeface="Goudy Old Style" panose="02020502050305020303" pitchFamily="18" charset="0"/>
              </a:rPr>
              <a:t>At sender side,</a:t>
            </a:r>
          </a:p>
          <a:p>
            <a:pPr algn="l" fontAlgn="base">
              <a:buFont typeface="Arial" panose="020B0604020202020204" pitchFamily="34" charset="0"/>
              <a:buChar char="•"/>
            </a:pPr>
            <a:r>
              <a:rPr lang="en-US" sz="2000" b="0" i="0" dirty="0">
                <a:solidFill>
                  <a:srgbClr val="303030"/>
                </a:solidFill>
                <a:effectLst/>
                <a:latin typeface="Goudy Old Style" panose="02020502050305020303" pitchFamily="18" charset="0"/>
              </a:rPr>
              <a:t>A string of n 0’s is appended to the data unit to be transmitted.</a:t>
            </a:r>
          </a:p>
          <a:p>
            <a:pPr algn="l" fontAlgn="base">
              <a:buFont typeface="Arial" panose="020B0604020202020204" pitchFamily="34" charset="0"/>
              <a:buChar char="•"/>
            </a:pPr>
            <a:r>
              <a:rPr lang="en-US" sz="2000" b="0" i="0" dirty="0">
                <a:solidFill>
                  <a:srgbClr val="303030"/>
                </a:solidFill>
                <a:effectLst/>
                <a:latin typeface="Goudy Old Style" panose="02020502050305020303" pitchFamily="18" charset="0"/>
              </a:rPr>
              <a:t>Here, n is one less than the number of bits in CRC generator.</a:t>
            </a:r>
          </a:p>
          <a:p>
            <a:pPr algn="l" fontAlgn="base">
              <a:buFont typeface="Arial" panose="020B0604020202020204" pitchFamily="34" charset="0"/>
              <a:buChar char="•"/>
            </a:pPr>
            <a:r>
              <a:rPr lang="en-US" sz="2000" b="0" i="0" dirty="0">
                <a:solidFill>
                  <a:srgbClr val="303030"/>
                </a:solidFill>
                <a:effectLst/>
                <a:latin typeface="Goudy Old Style" panose="02020502050305020303" pitchFamily="18" charset="0"/>
              </a:rPr>
              <a:t>Binary division is performed of the resultant string with the CRC generator.</a:t>
            </a:r>
          </a:p>
          <a:p>
            <a:pPr algn="l" fontAlgn="base">
              <a:buFont typeface="Arial" panose="020B0604020202020204" pitchFamily="34" charset="0"/>
              <a:buChar char="•"/>
            </a:pPr>
            <a:r>
              <a:rPr lang="en-US" sz="2000" b="0" i="0" dirty="0">
                <a:solidFill>
                  <a:srgbClr val="303030"/>
                </a:solidFill>
                <a:effectLst/>
                <a:latin typeface="Goudy Old Style" panose="02020502050305020303" pitchFamily="18" charset="0"/>
              </a:rPr>
              <a:t>After division, the remainder so obtained is called as </a:t>
            </a:r>
            <a:r>
              <a:rPr lang="en-US" sz="2000" b="1" i="0" dirty="0">
                <a:solidFill>
                  <a:srgbClr val="303030"/>
                </a:solidFill>
                <a:effectLst/>
                <a:latin typeface="Goudy Old Style" panose="02020502050305020303" pitchFamily="18" charset="0"/>
              </a:rPr>
              <a:t>CRC</a:t>
            </a:r>
            <a:r>
              <a:rPr lang="en-US" sz="2000" b="0" i="0" dirty="0">
                <a:solidFill>
                  <a:srgbClr val="303030"/>
                </a:solidFill>
                <a:effectLst/>
                <a:latin typeface="Goudy Old Style" panose="02020502050305020303" pitchFamily="18" charset="0"/>
              </a:rPr>
              <a:t>.</a:t>
            </a:r>
          </a:p>
          <a:p>
            <a:pPr algn="l" fontAlgn="base">
              <a:buFont typeface="Arial" panose="020B0604020202020204" pitchFamily="34" charset="0"/>
              <a:buChar char="•"/>
            </a:pPr>
            <a:r>
              <a:rPr lang="en-US" sz="2000" b="0" i="0" dirty="0">
                <a:solidFill>
                  <a:srgbClr val="303030"/>
                </a:solidFill>
                <a:effectLst/>
                <a:latin typeface="Goudy Old Style" panose="02020502050305020303" pitchFamily="18" charset="0"/>
              </a:rPr>
              <a:t>It may be noted that CRC also consists of n bits.</a:t>
            </a:r>
          </a:p>
          <a:p>
            <a:pPr algn="l" fontAlgn="base">
              <a:buFont typeface="Arial" panose="020B0604020202020204" pitchFamily="34" charset="0"/>
              <a:buChar char="•"/>
            </a:pPr>
            <a:endParaRPr lang="en-US" sz="2000" b="0" i="0" dirty="0">
              <a:solidFill>
                <a:srgbClr val="303030"/>
              </a:solidFill>
              <a:effectLst/>
              <a:latin typeface="Goudy Old Style" panose="02020502050305020303" pitchFamily="18" charset="0"/>
            </a:endParaRPr>
          </a:p>
          <a:p>
            <a:pPr marL="0" indent="0" fontAlgn="base">
              <a:buNone/>
            </a:pPr>
            <a:r>
              <a:rPr lang="en-US" sz="2000" b="1" u="sng" dirty="0">
                <a:solidFill>
                  <a:srgbClr val="303030"/>
                </a:solidFill>
                <a:latin typeface="Goudy Old Style" panose="02020502050305020303" pitchFamily="18" charset="0"/>
              </a:rPr>
              <a:t>Step-02: Appending CRC To Data Unit-</a:t>
            </a:r>
          </a:p>
          <a:p>
            <a:pPr algn="l" fontAlgn="base"/>
            <a:r>
              <a:rPr lang="en-US" sz="2000" dirty="0">
                <a:solidFill>
                  <a:srgbClr val="303030"/>
                </a:solidFill>
                <a:latin typeface="Goudy Old Style" panose="02020502050305020303" pitchFamily="18" charset="0"/>
              </a:rPr>
              <a:t>At sender side,</a:t>
            </a:r>
          </a:p>
          <a:p>
            <a:pPr algn="l" fontAlgn="base">
              <a:buFont typeface="Arial" panose="020B0604020202020204" pitchFamily="34" charset="0"/>
              <a:buChar char="•"/>
            </a:pPr>
            <a:r>
              <a:rPr lang="en-US" sz="2000" dirty="0">
                <a:solidFill>
                  <a:srgbClr val="303030"/>
                </a:solidFill>
                <a:latin typeface="Goudy Old Style" panose="02020502050305020303" pitchFamily="18" charset="0"/>
              </a:rPr>
              <a:t>The CRC is obtained after the binary division.</a:t>
            </a:r>
          </a:p>
          <a:p>
            <a:pPr algn="l" fontAlgn="base">
              <a:buFont typeface="Arial" panose="020B0604020202020204" pitchFamily="34" charset="0"/>
              <a:buChar char="•"/>
            </a:pPr>
            <a:r>
              <a:rPr lang="en-US" sz="2000" dirty="0">
                <a:solidFill>
                  <a:srgbClr val="303030"/>
                </a:solidFill>
                <a:latin typeface="Goudy Old Style" panose="02020502050305020303" pitchFamily="18" charset="0"/>
              </a:rPr>
              <a:t>The string of n 0’s appended to the data unit earlier is replaced by the CRC remainder.</a:t>
            </a:r>
          </a:p>
          <a:p>
            <a:pPr algn="l" fontAlgn="base">
              <a:buFont typeface="Arial" panose="020B0604020202020204" pitchFamily="34" charset="0"/>
              <a:buChar char="•"/>
            </a:pPr>
            <a:endParaRPr lang="en-US" sz="2000" dirty="0">
              <a:solidFill>
                <a:srgbClr val="303030"/>
              </a:solidFill>
              <a:latin typeface="Goudy Old Style" panose="02020502050305020303" pitchFamily="18" charset="0"/>
            </a:endParaRPr>
          </a:p>
          <a:p>
            <a:pPr marL="0" indent="0" algn="l" fontAlgn="base">
              <a:buNone/>
            </a:pPr>
            <a:r>
              <a:rPr lang="en-US" sz="2000" b="1" u="sng" dirty="0">
                <a:solidFill>
                  <a:srgbClr val="303030"/>
                </a:solidFill>
                <a:latin typeface="Goudy Old Style" panose="02020502050305020303" pitchFamily="18" charset="0"/>
              </a:rPr>
              <a:t>Step-03: Transmission To Receiver-</a:t>
            </a:r>
          </a:p>
          <a:p>
            <a:pPr algn="l" fontAlgn="base">
              <a:buFont typeface="Arial" panose="020B0604020202020204" pitchFamily="34" charset="0"/>
              <a:buChar char="•"/>
            </a:pPr>
            <a:r>
              <a:rPr lang="en-US" sz="2000" dirty="0">
                <a:solidFill>
                  <a:srgbClr val="303030"/>
                </a:solidFill>
                <a:latin typeface="Goudy Old Style" panose="02020502050305020303" pitchFamily="18" charset="0"/>
              </a:rPr>
              <a:t>The newly formed code word (Original data + CRC) is transmitted to the receiver.</a:t>
            </a:r>
          </a:p>
          <a:p>
            <a:pPr marL="0" indent="0" fontAlgn="base">
              <a:buNone/>
            </a:pPr>
            <a:endParaRPr lang="en-US" b="1" i="0" u="sng" dirty="0">
              <a:solidFill>
                <a:srgbClr val="303030"/>
              </a:solidFill>
              <a:effectLst/>
              <a:latin typeface="roboto condensed" panose="02000000000000000000" pitchFamily="2" charset="0"/>
            </a:endParaRPr>
          </a:p>
          <a:p>
            <a:pPr fontAlgn="base"/>
            <a:endParaRPr lang="en-US" b="1" i="0" dirty="0">
              <a:solidFill>
                <a:srgbClr val="303030"/>
              </a:solidFill>
              <a:effectLst/>
              <a:latin typeface="roboto condensed" panose="02000000000000000000" pitchFamily="2" charset="0"/>
            </a:endParaRPr>
          </a:p>
          <a:p>
            <a:pPr algn="l" fontAlgn="base">
              <a:buFont typeface="Arial" panose="020B0604020202020204" pitchFamily="34" charset="0"/>
              <a:buChar char="•"/>
            </a:pPr>
            <a:endParaRPr lang="en-US" dirty="0"/>
          </a:p>
        </p:txBody>
      </p:sp>
      <p:sp>
        <p:nvSpPr>
          <p:cNvPr id="5" name="Slide Number Placeholder 4"/>
          <p:cNvSpPr>
            <a:spLocks noGrp="1"/>
          </p:cNvSpPr>
          <p:nvPr>
            <p:ph type="sldNum" sz="quarter" idx="12"/>
          </p:nvPr>
        </p:nvSpPr>
        <p:spPr/>
        <p:txBody>
          <a:bodyPr/>
          <a:lstStyle/>
          <a:p>
            <a:fld id="{68187FF5-4BF9-4B21-B0D2-9B7FF2B27D7F}" type="slidenum">
              <a:rPr lang="en-AU" smtClean="0"/>
              <a:pPr/>
              <a:t>23</a:t>
            </a:fld>
            <a:endParaRPr lang="en-AU"/>
          </a:p>
        </p:txBody>
      </p:sp>
      <p:pic>
        <p:nvPicPr>
          <p:cNvPr id="4" name="Picture 3" descr="KL Deemed to be University Logo">
            <a:extLst>
              <a:ext uri="{FF2B5EF4-FFF2-40B4-BE49-F238E27FC236}">
                <a16:creationId xmlns:a16="http://schemas.microsoft.com/office/drawing/2014/main" id="{D5E406C9-9F2E-4B51-85E7-A7D2DC61D72A}"/>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5840373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151" y="136525"/>
            <a:ext cx="10707145" cy="544511"/>
          </a:xfrm>
        </p:spPr>
        <p:txBody>
          <a:bodyPr>
            <a:normAutofit fontScale="90000"/>
          </a:bodyPr>
          <a:lstStyle/>
          <a:p>
            <a:pPr algn="ctr"/>
            <a:r>
              <a:rPr lang="en-US" b="1" dirty="0">
                <a:latin typeface="Goudy Old Style" panose="02020502050305020303" pitchFamily="18" charset="0"/>
              </a:rPr>
              <a:t>Steps in Computing CRC…</a:t>
            </a:r>
          </a:p>
        </p:txBody>
      </p:sp>
      <p:sp>
        <p:nvSpPr>
          <p:cNvPr id="3" name="Content Placeholder 2"/>
          <p:cNvSpPr>
            <a:spLocks noGrp="1"/>
          </p:cNvSpPr>
          <p:nvPr>
            <p:ph idx="1"/>
          </p:nvPr>
        </p:nvSpPr>
        <p:spPr>
          <a:xfrm>
            <a:off x="202772" y="939055"/>
            <a:ext cx="11676184" cy="5873187"/>
          </a:xfrm>
        </p:spPr>
        <p:txBody>
          <a:bodyPr>
            <a:normAutofit fontScale="92500" lnSpcReduction="10000"/>
          </a:bodyPr>
          <a:lstStyle/>
          <a:p>
            <a:pPr marL="0" indent="0" fontAlgn="base">
              <a:buNone/>
            </a:pPr>
            <a:r>
              <a:rPr lang="en-US" sz="2000" b="1" u="sng" dirty="0">
                <a:solidFill>
                  <a:srgbClr val="303030"/>
                </a:solidFill>
                <a:latin typeface="Goudy Old Style" panose="02020502050305020303" pitchFamily="18" charset="0"/>
              </a:rPr>
              <a:t>Step-04: Checking at Receiver Side-</a:t>
            </a:r>
          </a:p>
          <a:p>
            <a:pPr marL="0" indent="0" fontAlgn="base">
              <a:buNone/>
            </a:pPr>
            <a:r>
              <a:rPr lang="en-US" sz="2100" dirty="0">
                <a:solidFill>
                  <a:srgbClr val="303030"/>
                </a:solidFill>
                <a:latin typeface="Goudy Old Style" panose="02020502050305020303" pitchFamily="18" charset="0"/>
              </a:rPr>
              <a:t>At receiver side,</a:t>
            </a:r>
          </a:p>
          <a:p>
            <a:pPr fontAlgn="base"/>
            <a:r>
              <a:rPr lang="en-US" sz="2100" dirty="0">
                <a:solidFill>
                  <a:srgbClr val="303030"/>
                </a:solidFill>
                <a:latin typeface="Goudy Old Style" panose="02020502050305020303" pitchFamily="18" charset="0"/>
              </a:rPr>
              <a:t>The transmitted code word is received.</a:t>
            </a:r>
          </a:p>
          <a:p>
            <a:pPr fontAlgn="base"/>
            <a:r>
              <a:rPr lang="en-US" sz="2100" dirty="0">
                <a:solidFill>
                  <a:srgbClr val="303030"/>
                </a:solidFill>
                <a:latin typeface="Goudy Old Style" panose="02020502050305020303" pitchFamily="18" charset="0"/>
              </a:rPr>
              <a:t>The received code word is divided with the same CRC generator.</a:t>
            </a:r>
          </a:p>
          <a:p>
            <a:pPr fontAlgn="base"/>
            <a:r>
              <a:rPr lang="en-US" sz="2100" dirty="0">
                <a:solidFill>
                  <a:srgbClr val="303030"/>
                </a:solidFill>
                <a:latin typeface="Goudy Old Style" panose="02020502050305020303" pitchFamily="18" charset="0"/>
              </a:rPr>
              <a:t>On division, the remainder so obtained is checked.</a:t>
            </a:r>
          </a:p>
          <a:p>
            <a:pPr marL="0" indent="0" algn="l" fontAlgn="base">
              <a:buNone/>
            </a:pPr>
            <a:endParaRPr lang="en-US" sz="1400" b="0" i="0" dirty="0">
              <a:solidFill>
                <a:srgbClr val="303030"/>
              </a:solidFill>
              <a:effectLst/>
              <a:latin typeface="Arimo"/>
            </a:endParaRPr>
          </a:p>
          <a:p>
            <a:pPr marL="0" indent="0" algn="l" fontAlgn="base">
              <a:buNone/>
            </a:pPr>
            <a:r>
              <a:rPr lang="en-US" sz="2100" b="1" dirty="0">
                <a:solidFill>
                  <a:srgbClr val="303030"/>
                </a:solidFill>
                <a:latin typeface="Goudy Old Style" panose="02020502050305020303" pitchFamily="18" charset="0"/>
              </a:rPr>
              <a:t>The following two cases are possible-</a:t>
            </a:r>
          </a:p>
          <a:p>
            <a:pPr marL="0" indent="0" algn="l" fontAlgn="base">
              <a:buNone/>
            </a:pPr>
            <a:r>
              <a:rPr lang="en-US" sz="2100" b="1" dirty="0">
                <a:solidFill>
                  <a:srgbClr val="303030"/>
                </a:solidFill>
                <a:latin typeface="Goudy Old Style" panose="02020502050305020303" pitchFamily="18" charset="0"/>
              </a:rPr>
              <a:t>Case-01: Remainder = 0</a:t>
            </a:r>
          </a:p>
          <a:p>
            <a:pPr algn="l" fontAlgn="base"/>
            <a:r>
              <a:rPr lang="en-US" sz="2100" dirty="0">
                <a:solidFill>
                  <a:srgbClr val="303030"/>
                </a:solidFill>
                <a:latin typeface="Goudy Old Style" panose="02020502050305020303" pitchFamily="18" charset="0"/>
              </a:rPr>
              <a:t>If the remainder is zero,</a:t>
            </a:r>
          </a:p>
          <a:p>
            <a:pPr algn="l" fontAlgn="base">
              <a:buFont typeface="Arial" panose="020B0604020202020204" pitchFamily="34" charset="0"/>
              <a:buChar char="•"/>
            </a:pPr>
            <a:r>
              <a:rPr lang="en-US" sz="2100" dirty="0">
                <a:solidFill>
                  <a:srgbClr val="303030"/>
                </a:solidFill>
                <a:latin typeface="Goudy Old Style" panose="02020502050305020303" pitchFamily="18" charset="0"/>
              </a:rPr>
              <a:t>Receiver assumes that no error occurred in the data during the transmission.</a:t>
            </a:r>
          </a:p>
          <a:p>
            <a:pPr algn="l" fontAlgn="base">
              <a:buFont typeface="Arial" panose="020B0604020202020204" pitchFamily="34" charset="0"/>
              <a:buChar char="•"/>
            </a:pPr>
            <a:r>
              <a:rPr lang="en-US" sz="2100" dirty="0">
                <a:solidFill>
                  <a:srgbClr val="303030"/>
                </a:solidFill>
                <a:latin typeface="Goudy Old Style" panose="02020502050305020303" pitchFamily="18" charset="0"/>
              </a:rPr>
              <a:t>Receiver accepts the data.</a:t>
            </a:r>
          </a:p>
          <a:p>
            <a:pPr marL="0" indent="0" algn="l" fontAlgn="base">
              <a:buNone/>
            </a:pPr>
            <a:endParaRPr lang="en-US" sz="2000" b="0" i="0" dirty="0">
              <a:solidFill>
                <a:srgbClr val="303030"/>
              </a:solidFill>
              <a:effectLst/>
              <a:latin typeface="Goudy Old Style" panose="02020502050305020303" pitchFamily="18" charset="0"/>
            </a:endParaRPr>
          </a:p>
          <a:p>
            <a:pPr marL="0" indent="0" algn="l" fontAlgn="base">
              <a:buNone/>
            </a:pPr>
            <a:r>
              <a:rPr lang="en-US" sz="2100" b="1" dirty="0">
                <a:solidFill>
                  <a:srgbClr val="303030"/>
                </a:solidFill>
                <a:latin typeface="Goudy Old Style" panose="02020502050305020303" pitchFamily="18" charset="0"/>
              </a:rPr>
              <a:t>Case-02: Remainder ≠ 0</a:t>
            </a:r>
          </a:p>
          <a:p>
            <a:pPr fontAlgn="base">
              <a:lnSpc>
                <a:spcPct val="100000"/>
              </a:lnSpc>
            </a:pPr>
            <a:r>
              <a:rPr lang="en-US" sz="2100" dirty="0">
                <a:solidFill>
                  <a:srgbClr val="303030"/>
                </a:solidFill>
                <a:latin typeface="Goudy Old Style" panose="02020502050305020303" pitchFamily="18" charset="0"/>
              </a:rPr>
              <a:t>If the remainder is non-zero,</a:t>
            </a:r>
          </a:p>
          <a:p>
            <a:pPr fontAlgn="base">
              <a:lnSpc>
                <a:spcPct val="100000"/>
              </a:lnSpc>
            </a:pPr>
            <a:r>
              <a:rPr lang="en-US" sz="2100" dirty="0">
                <a:solidFill>
                  <a:srgbClr val="303030"/>
                </a:solidFill>
                <a:latin typeface="Goudy Old Style" panose="02020502050305020303" pitchFamily="18" charset="0"/>
              </a:rPr>
              <a:t>Receiver assumes that some error occurred in the data during the transmission.</a:t>
            </a:r>
          </a:p>
          <a:p>
            <a:pPr fontAlgn="base">
              <a:lnSpc>
                <a:spcPct val="100000"/>
              </a:lnSpc>
            </a:pPr>
            <a:r>
              <a:rPr lang="en-US" sz="2100" dirty="0">
                <a:solidFill>
                  <a:srgbClr val="303030"/>
                </a:solidFill>
                <a:latin typeface="Goudy Old Style" panose="02020502050305020303" pitchFamily="18" charset="0"/>
              </a:rPr>
              <a:t>Receiver rejects the data and asks the sender for retransmission.</a:t>
            </a:r>
          </a:p>
          <a:p>
            <a:pPr algn="l" fontAlgn="base">
              <a:buFont typeface="Arial" panose="020B0604020202020204" pitchFamily="34" charset="0"/>
              <a:buChar char="•"/>
            </a:pPr>
            <a:endParaRPr lang="en-US" dirty="0"/>
          </a:p>
        </p:txBody>
      </p:sp>
      <p:sp>
        <p:nvSpPr>
          <p:cNvPr id="5" name="Slide Number Placeholder 4"/>
          <p:cNvSpPr>
            <a:spLocks noGrp="1"/>
          </p:cNvSpPr>
          <p:nvPr>
            <p:ph type="sldNum" sz="quarter" idx="12"/>
          </p:nvPr>
        </p:nvSpPr>
        <p:spPr/>
        <p:txBody>
          <a:bodyPr/>
          <a:lstStyle/>
          <a:p>
            <a:fld id="{68187FF5-4BF9-4B21-B0D2-9B7FF2B27D7F}" type="slidenum">
              <a:rPr lang="en-AU" smtClean="0"/>
              <a:pPr/>
              <a:t>24</a:t>
            </a:fld>
            <a:endParaRPr lang="en-AU"/>
          </a:p>
        </p:txBody>
      </p:sp>
      <p:pic>
        <p:nvPicPr>
          <p:cNvPr id="4" name="Picture 3" descr="KL Deemed to be University Logo">
            <a:extLst>
              <a:ext uri="{FF2B5EF4-FFF2-40B4-BE49-F238E27FC236}">
                <a16:creationId xmlns:a16="http://schemas.microsoft.com/office/drawing/2014/main" id="{7FD6B8F0-4D52-877A-1052-29D0E82DBB3B}"/>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21988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718" y="1188290"/>
            <a:ext cx="10693892" cy="544511"/>
          </a:xfrm>
        </p:spPr>
        <p:txBody>
          <a:bodyPr>
            <a:normAutofit fontScale="90000"/>
          </a:bodyPr>
          <a:lstStyle/>
          <a:p>
            <a:r>
              <a:rPr lang="en-US" b="1" dirty="0">
                <a:latin typeface="Goudy Old Style" panose="02020502050305020303" pitchFamily="18" charset="0"/>
              </a:rPr>
              <a:t>CRC Example : Solution</a:t>
            </a:r>
          </a:p>
        </p:txBody>
      </p:sp>
      <p:sp>
        <p:nvSpPr>
          <p:cNvPr id="5" name="Slide Number Placeholder 4"/>
          <p:cNvSpPr>
            <a:spLocks noGrp="1"/>
          </p:cNvSpPr>
          <p:nvPr>
            <p:ph type="sldNum" sz="quarter" idx="12"/>
          </p:nvPr>
        </p:nvSpPr>
        <p:spPr/>
        <p:txBody>
          <a:bodyPr/>
          <a:lstStyle/>
          <a:p>
            <a:fld id="{68187FF5-4BF9-4B21-B0D2-9B7FF2B27D7F}" type="slidenum">
              <a:rPr lang="en-AU" smtClean="0"/>
              <a:pPr/>
              <a:t>25</a:t>
            </a:fld>
            <a:endParaRPr lang="en-AU"/>
          </a:p>
        </p:txBody>
      </p:sp>
      <p:pic>
        <p:nvPicPr>
          <p:cNvPr id="4" name="Picture 3" descr="KL Deemed to be University Logo">
            <a:extLst>
              <a:ext uri="{FF2B5EF4-FFF2-40B4-BE49-F238E27FC236}">
                <a16:creationId xmlns:a16="http://schemas.microsoft.com/office/drawing/2014/main" id="{061ED07F-1876-FDA7-2068-4C54FA50B13F}"/>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9" name="Picture 8">
            <a:extLst>
              <a:ext uri="{FF2B5EF4-FFF2-40B4-BE49-F238E27FC236}">
                <a16:creationId xmlns:a16="http://schemas.microsoft.com/office/drawing/2014/main" id="{ECB332D7-25A2-B236-4653-7417E50AD6B0}"/>
              </a:ext>
            </a:extLst>
          </p:cNvPr>
          <p:cNvPicPr>
            <a:picLocks noChangeAspect="1"/>
          </p:cNvPicPr>
          <p:nvPr/>
        </p:nvPicPr>
        <p:blipFill>
          <a:blip r:embed="rId3"/>
          <a:stretch>
            <a:fillRect/>
          </a:stretch>
        </p:blipFill>
        <p:spPr>
          <a:xfrm>
            <a:off x="5780778" y="0"/>
            <a:ext cx="4913114" cy="6858000"/>
          </a:xfrm>
          <a:prstGeom prst="rect">
            <a:avLst/>
          </a:prstGeom>
        </p:spPr>
      </p:pic>
    </p:spTree>
    <p:extLst>
      <p:ext uri="{BB962C8B-B14F-4D97-AF65-F5344CB8AC3E}">
        <p14:creationId xmlns:p14="http://schemas.microsoft.com/office/powerpoint/2010/main" val="36506680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718" y="1188290"/>
            <a:ext cx="10693892" cy="544511"/>
          </a:xfrm>
        </p:spPr>
        <p:txBody>
          <a:bodyPr>
            <a:normAutofit fontScale="90000"/>
          </a:bodyPr>
          <a:lstStyle/>
          <a:p>
            <a:r>
              <a:rPr lang="en-US" b="1" dirty="0">
                <a:latin typeface="Goudy Old Style" panose="02020502050305020303" pitchFamily="18" charset="0"/>
              </a:rPr>
              <a:t>CRC Example : Solution</a:t>
            </a:r>
          </a:p>
        </p:txBody>
      </p:sp>
      <p:sp>
        <p:nvSpPr>
          <p:cNvPr id="5" name="Slide Number Placeholder 4"/>
          <p:cNvSpPr>
            <a:spLocks noGrp="1"/>
          </p:cNvSpPr>
          <p:nvPr>
            <p:ph type="sldNum" sz="quarter" idx="12"/>
          </p:nvPr>
        </p:nvSpPr>
        <p:spPr/>
        <p:txBody>
          <a:bodyPr/>
          <a:lstStyle/>
          <a:p>
            <a:fld id="{68187FF5-4BF9-4B21-B0D2-9B7FF2B27D7F}" type="slidenum">
              <a:rPr lang="en-AU" smtClean="0"/>
              <a:pPr/>
              <a:t>26</a:t>
            </a:fld>
            <a:endParaRPr lang="en-AU"/>
          </a:p>
        </p:txBody>
      </p:sp>
      <p:pic>
        <p:nvPicPr>
          <p:cNvPr id="4" name="Picture 3" descr="KL Deemed to be University Logo">
            <a:extLst>
              <a:ext uri="{FF2B5EF4-FFF2-40B4-BE49-F238E27FC236}">
                <a16:creationId xmlns:a16="http://schemas.microsoft.com/office/drawing/2014/main" id="{061ED07F-1876-FDA7-2068-4C54FA50B13F}"/>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8" name="Picture 7">
            <a:extLst>
              <a:ext uri="{FF2B5EF4-FFF2-40B4-BE49-F238E27FC236}">
                <a16:creationId xmlns:a16="http://schemas.microsoft.com/office/drawing/2014/main" id="{2D4405B7-76F8-9E48-79A8-29F412BF33C0}"/>
              </a:ext>
            </a:extLst>
          </p:cNvPr>
          <p:cNvPicPr>
            <a:picLocks noChangeAspect="1"/>
          </p:cNvPicPr>
          <p:nvPr/>
        </p:nvPicPr>
        <p:blipFill>
          <a:blip r:embed="rId3"/>
          <a:stretch>
            <a:fillRect/>
          </a:stretch>
        </p:blipFill>
        <p:spPr>
          <a:xfrm>
            <a:off x="5934891" y="0"/>
            <a:ext cx="4532709" cy="6858000"/>
          </a:xfrm>
          <a:prstGeom prst="rect">
            <a:avLst/>
          </a:prstGeom>
        </p:spPr>
      </p:pic>
    </p:spTree>
    <p:extLst>
      <p:ext uri="{BB962C8B-B14F-4D97-AF65-F5344CB8AC3E}">
        <p14:creationId xmlns:p14="http://schemas.microsoft.com/office/powerpoint/2010/main" val="807251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3723C-2F80-4F61-98CE-2AC34739A56B}"/>
              </a:ext>
            </a:extLst>
          </p:cNvPr>
          <p:cNvSpPr>
            <a:spLocks noGrp="1"/>
          </p:cNvSpPr>
          <p:nvPr>
            <p:ph type="title"/>
          </p:nvPr>
        </p:nvSpPr>
        <p:spPr>
          <a:xfrm>
            <a:off x="838200" y="365126"/>
            <a:ext cx="10515600" cy="5991224"/>
          </a:xfrm>
        </p:spPr>
        <p:txBody>
          <a:bodyPr>
            <a:normAutofit/>
          </a:bodyPr>
          <a:lstStyle/>
          <a:p>
            <a:pPr algn="ctr"/>
            <a:r>
              <a:rPr lang="en-US" sz="6000" b="1" dirty="0">
                <a:latin typeface="Goudy Old Style" panose="02020502050305020303" pitchFamily="18" charset="0"/>
              </a:rPr>
              <a:t>3. Checksum</a:t>
            </a:r>
            <a:endParaRPr lang="en-US" sz="6000" dirty="0"/>
          </a:p>
        </p:txBody>
      </p:sp>
      <p:sp>
        <p:nvSpPr>
          <p:cNvPr id="5" name="Slide Number Placeholder 4">
            <a:extLst>
              <a:ext uri="{FF2B5EF4-FFF2-40B4-BE49-F238E27FC236}">
                <a16:creationId xmlns:a16="http://schemas.microsoft.com/office/drawing/2014/main" id="{DD7D5438-4AA5-40A8-8A54-388192168EF3}"/>
              </a:ext>
            </a:extLst>
          </p:cNvPr>
          <p:cNvSpPr>
            <a:spLocks noGrp="1"/>
          </p:cNvSpPr>
          <p:nvPr>
            <p:ph type="sldNum" sz="quarter" idx="12"/>
          </p:nvPr>
        </p:nvSpPr>
        <p:spPr/>
        <p:txBody>
          <a:bodyPr/>
          <a:lstStyle/>
          <a:p>
            <a:fld id="{68187FF5-4BF9-4B21-B0D2-9B7FF2B27D7F}" type="slidenum">
              <a:rPr lang="en-AU" smtClean="0"/>
              <a:pPr/>
              <a:t>27</a:t>
            </a:fld>
            <a:endParaRPr lang="en-AU"/>
          </a:p>
        </p:txBody>
      </p:sp>
      <p:pic>
        <p:nvPicPr>
          <p:cNvPr id="3" name="Picture 2" descr="KL Deemed to be University Logo">
            <a:extLst>
              <a:ext uri="{FF2B5EF4-FFF2-40B4-BE49-F238E27FC236}">
                <a16:creationId xmlns:a16="http://schemas.microsoft.com/office/drawing/2014/main" id="{3F5A4708-4295-6BF3-A80C-5C9CBE364DEA}"/>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3334487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algn="ctr" eaLnBrk="1" fontAlgn="auto" hangingPunct="1">
              <a:spcAft>
                <a:spcPts val="0"/>
              </a:spcAft>
              <a:defRPr/>
            </a:pPr>
            <a:r>
              <a:rPr lang="en-US" sz="4400" b="1" dirty="0">
                <a:latin typeface="Goudy Old Style" panose="02020502050305020303" pitchFamily="18" charset="0"/>
              </a:rPr>
              <a:t>3. Checksum…</a:t>
            </a:r>
            <a:endParaRPr lang="en-US" dirty="0"/>
          </a:p>
        </p:txBody>
      </p:sp>
      <p:sp>
        <p:nvSpPr>
          <p:cNvPr id="30723" name="Content Placeholder 2"/>
          <p:cNvSpPr>
            <a:spLocks noGrp="1"/>
          </p:cNvSpPr>
          <p:nvPr>
            <p:ph idx="1"/>
          </p:nvPr>
        </p:nvSpPr>
        <p:spPr/>
        <p:txBody>
          <a:bodyPr>
            <a:normAutofit lnSpcReduction="10000"/>
          </a:bodyPr>
          <a:lstStyle/>
          <a:p>
            <a:pPr algn="just" fontAlgn="base">
              <a:lnSpc>
                <a:spcPct val="80000"/>
              </a:lnSpc>
            </a:pPr>
            <a:r>
              <a:rPr lang="en-US" sz="2400" b="1" dirty="0">
                <a:solidFill>
                  <a:srgbClr val="303030"/>
                </a:solidFill>
                <a:latin typeface="Goudy Old Style" panose="02020502050305020303" pitchFamily="18" charset="0"/>
              </a:rPr>
              <a:t>Checksum</a:t>
            </a:r>
            <a:r>
              <a:rPr lang="en-US" sz="2400" dirty="0">
                <a:solidFill>
                  <a:srgbClr val="303030"/>
                </a:solidFill>
                <a:latin typeface="Goudy Old Style" panose="02020502050305020303" pitchFamily="18" charset="0"/>
              </a:rPr>
              <a:t> is the error detection method used by upper layer protocols and is considered to be </a:t>
            </a:r>
            <a:r>
              <a:rPr lang="en-US" sz="2400" b="1" dirty="0">
                <a:solidFill>
                  <a:srgbClr val="303030"/>
                </a:solidFill>
                <a:latin typeface="Goudy Old Style" panose="02020502050305020303" pitchFamily="18" charset="0"/>
              </a:rPr>
              <a:t>more reliable </a:t>
            </a:r>
            <a:r>
              <a:rPr lang="en-US" sz="2400" dirty="0">
                <a:solidFill>
                  <a:srgbClr val="303030"/>
                </a:solidFill>
                <a:latin typeface="Goudy Old Style" panose="02020502050305020303" pitchFamily="18" charset="0"/>
              </a:rPr>
              <a:t>than Parity and CRC.</a:t>
            </a:r>
          </a:p>
          <a:p>
            <a:pPr marL="0" indent="0" algn="just" fontAlgn="base">
              <a:lnSpc>
                <a:spcPct val="80000"/>
              </a:lnSpc>
              <a:buNone/>
            </a:pPr>
            <a:r>
              <a:rPr lang="en-US" sz="2400" dirty="0">
                <a:solidFill>
                  <a:srgbClr val="303030"/>
                </a:solidFill>
                <a:latin typeface="Goudy Old Style" panose="02020502050305020303" pitchFamily="18" charset="0"/>
              </a:rPr>
              <a:t> </a:t>
            </a:r>
          </a:p>
          <a:p>
            <a:pPr algn="just" fontAlgn="base">
              <a:lnSpc>
                <a:spcPct val="80000"/>
              </a:lnSpc>
            </a:pPr>
            <a:r>
              <a:rPr lang="en-US" sz="2400" b="1" dirty="0">
                <a:solidFill>
                  <a:srgbClr val="303030"/>
                </a:solidFill>
                <a:latin typeface="Goudy Old Style" panose="02020502050305020303" pitchFamily="18" charset="0"/>
              </a:rPr>
              <a:t>For error detection by checksums, data is divided into fixed sized frames or segments.</a:t>
            </a:r>
          </a:p>
          <a:p>
            <a:pPr marL="0" indent="0" algn="just" fontAlgn="base">
              <a:lnSpc>
                <a:spcPct val="80000"/>
              </a:lnSpc>
              <a:buNone/>
            </a:pPr>
            <a:endParaRPr lang="en-US" sz="2400" b="1" dirty="0">
              <a:solidFill>
                <a:srgbClr val="303030"/>
              </a:solidFill>
              <a:latin typeface="Goudy Old Style" panose="02020502050305020303" pitchFamily="18" charset="0"/>
            </a:endParaRPr>
          </a:p>
          <a:p>
            <a:pPr algn="just" fontAlgn="base">
              <a:lnSpc>
                <a:spcPct val="80000"/>
              </a:lnSpc>
              <a:buFont typeface="Wingdings" panose="05000000000000000000" pitchFamily="2" charset="2"/>
              <a:buChar char="Ø"/>
            </a:pPr>
            <a:r>
              <a:rPr lang="en-US" sz="2400" b="1" dirty="0">
                <a:solidFill>
                  <a:srgbClr val="303030"/>
                </a:solidFill>
                <a:latin typeface="Goudy Old Style" panose="02020502050305020303" pitchFamily="18" charset="0"/>
              </a:rPr>
              <a:t>Sender’s End − </a:t>
            </a:r>
            <a:r>
              <a:rPr lang="en-US" sz="2400" dirty="0">
                <a:solidFill>
                  <a:srgbClr val="303030"/>
                </a:solidFill>
                <a:latin typeface="Goudy Old Style" panose="02020502050305020303" pitchFamily="18" charset="0"/>
              </a:rPr>
              <a:t>The sender adds the segments using 1’s complement arithmetic to get the sum. It then complements the sum to get the checksum and sends it along with the data frames.</a:t>
            </a:r>
          </a:p>
          <a:p>
            <a:pPr marL="0" indent="0" algn="just" fontAlgn="base">
              <a:lnSpc>
                <a:spcPct val="80000"/>
              </a:lnSpc>
              <a:buNone/>
            </a:pPr>
            <a:endParaRPr lang="en-US" sz="2400" dirty="0">
              <a:solidFill>
                <a:srgbClr val="303030"/>
              </a:solidFill>
              <a:latin typeface="Goudy Old Style" panose="02020502050305020303" pitchFamily="18" charset="0"/>
            </a:endParaRPr>
          </a:p>
          <a:p>
            <a:pPr algn="just" fontAlgn="base">
              <a:lnSpc>
                <a:spcPct val="80000"/>
              </a:lnSpc>
              <a:buFont typeface="Wingdings" panose="05000000000000000000" pitchFamily="2" charset="2"/>
              <a:buChar char="Ø"/>
            </a:pPr>
            <a:r>
              <a:rPr lang="en-US" sz="2400" b="1" dirty="0">
                <a:solidFill>
                  <a:srgbClr val="303030"/>
                </a:solidFill>
                <a:latin typeface="Goudy Old Style" panose="02020502050305020303" pitchFamily="18" charset="0"/>
              </a:rPr>
              <a:t>Receiver’s End − </a:t>
            </a:r>
            <a:r>
              <a:rPr lang="en-US" sz="2400" dirty="0">
                <a:solidFill>
                  <a:srgbClr val="303030"/>
                </a:solidFill>
                <a:latin typeface="Goudy Old Style" panose="02020502050305020303" pitchFamily="18" charset="0"/>
              </a:rPr>
              <a:t>The receiver adds the incoming segments along with the checksum using 1’s complement arithmetic to get the sum and then complements it.</a:t>
            </a:r>
          </a:p>
          <a:p>
            <a:pPr marL="0" indent="0" algn="just" fontAlgn="base">
              <a:lnSpc>
                <a:spcPct val="80000"/>
              </a:lnSpc>
              <a:buNone/>
            </a:pPr>
            <a:r>
              <a:rPr lang="en-US" sz="2400" dirty="0">
                <a:solidFill>
                  <a:srgbClr val="303030"/>
                </a:solidFill>
                <a:latin typeface="Goudy Old Style" panose="02020502050305020303" pitchFamily="18" charset="0"/>
              </a:rPr>
              <a:t>   If the result is zero, the received frames are accepted; otherwise they are discarded.</a:t>
            </a:r>
          </a:p>
          <a:p>
            <a:pPr algn="l" fontAlgn="base"/>
            <a:endParaRPr lang="en-US" dirty="0"/>
          </a:p>
        </p:txBody>
      </p:sp>
      <p:pic>
        <p:nvPicPr>
          <p:cNvPr id="3" name="Picture 2" descr="KL Deemed to be University Logo">
            <a:extLst>
              <a:ext uri="{FF2B5EF4-FFF2-40B4-BE49-F238E27FC236}">
                <a16:creationId xmlns:a16="http://schemas.microsoft.com/office/drawing/2014/main" id="{A5A1F58B-E256-88BE-0016-341C31BEFD47}"/>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algn="ctr" eaLnBrk="1" fontAlgn="auto" hangingPunct="1">
              <a:spcAft>
                <a:spcPts val="0"/>
              </a:spcAft>
              <a:defRPr/>
            </a:pPr>
            <a:r>
              <a:rPr lang="en-US" sz="4400" b="1" dirty="0">
                <a:latin typeface="Goudy Old Style" panose="02020502050305020303" pitchFamily="18" charset="0"/>
              </a:rPr>
              <a:t>3. Checksum…</a:t>
            </a:r>
            <a:endParaRPr lang="en-US" dirty="0"/>
          </a:p>
        </p:txBody>
      </p:sp>
      <p:sp>
        <p:nvSpPr>
          <p:cNvPr id="30723" name="Content Placeholder 2"/>
          <p:cNvSpPr>
            <a:spLocks noGrp="1"/>
          </p:cNvSpPr>
          <p:nvPr>
            <p:ph idx="1"/>
          </p:nvPr>
        </p:nvSpPr>
        <p:spPr/>
        <p:txBody>
          <a:bodyPr>
            <a:normAutofit fontScale="92500" lnSpcReduction="10000"/>
          </a:bodyPr>
          <a:lstStyle/>
          <a:p>
            <a:pPr marL="0" indent="0" algn="just" fontAlgn="base">
              <a:buNone/>
            </a:pPr>
            <a:r>
              <a:rPr lang="en-US" b="1" i="0" dirty="0">
                <a:solidFill>
                  <a:srgbClr val="000000"/>
                </a:solidFill>
                <a:effectLst/>
                <a:latin typeface="Goudy Old Style" panose="02020502050305020303" pitchFamily="18" charset="0"/>
              </a:rPr>
              <a:t>Example:</a:t>
            </a:r>
            <a:r>
              <a:rPr lang="en-US" i="0" dirty="0">
                <a:solidFill>
                  <a:srgbClr val="000000"/>
                </a:solidFill>
                <a:effectLst/>
                <a:latin typeface="Goudy Old Style" panose="02020502050305020303" pitchFamily="18" charset="0"/>
              </a:rPr>
              <a:t> Suppose that the sender wants to send 4 frames each of 8 bits, where the frames are 11001100, 10101010, 11110000 and 11000011.</a:t>
            </a:r>
          </a:p>
          <a:p>
            <a:pPr marL="0" indent="0" algn="just" fontAlgn="base">
              <a:buNone/>
            </a:pPr>
            <a:endParaRPr lang="en-US" i="0" dirty="0">
              <a:solidFill>
                <a:srgbClr val="000000"/>
              </a:solidFill>
              <a:effectLst/>
              <a:latin typeface="Goudy Old Style" panose="02020502050305020303" pitchFamily="18" charset="0"/>
            </a:endParaRPr>
          </a:p>
          <a:p>
            <a:pPr algn="just">
              <a:buFont typeface="Wingdings" panose="05000000000000000000" pitchFamily="2" charset="2"/>
              <a:buChar char="Ø"/>
            </a:pPr>
            <a:r>
              <a:rPr lang="en-US" sz="2400" dirty="0">
                <a:solidFill>
                  <a:srgbClr val="000000"/>
                </a:solidFill>
                <a:latin typeface="Goudy Old Style" panose="02020502050305020303" pitchFamily="18" charset="0"/>
              </a:rPr>
              <a:t>The sender adds the bits using 1s complement arithmetic. While adding two numbers using 1s complement arithmetic, if there is a carry over, it is added to the sum.</a:t>
            </a:r>
          </a:p>
          <a:p>
            <a:pPr marL="0" indent="0" algn="just">
              <a:buNone/>
            </a:pPr>
            <a:endParaRPr lang="en-US" sz="2400" dirty="0">
              <a:solidFill>
                <a:srgbClr val="000000"/>
              </a:solidFill>
              <a:latin typeface="Goudy Old Style" panose="02020502050305020303" pitchFamily="18" charset="0"/>
            </a:endParaRPr>
          </a:p>
          <a:p>
            <a:pPr algn="just">
              <a:buFont typeface="Wingdings" panose="05000000000000000000" pitchFamily="2" charset="2"/>
              <a:buChar char="Ø"/>
            </a:pPr>
            <a:r>
              <a:rPr lang="en-US" sz="2400" dirty="0">
                <a:solidFill>
                  <a:srgbClr val="000000"/>
                </a:solidFill>
                <a:latin typeface="Goudy Old Style" panose="02020502050305020303" pitchFamily="18" charset="0"/>
              </a:rPr>
              <a:t>After adding all the 4 frames, the sender complements the sum to get the checksum, 11010011, and sends it along with the data frames.</a:t>
            </a:r>
          </a:p>
          <a:p>
            <a:pPr algn="just">
              <a:buFont typeface="Wingdings" panose="05000000000000000000" pitchFamily="2" charset="2"/>
              <a:buChar char="Ø"/>
            </a:pPr>
            <a:endParaRPr lang="en-US" sz="2400" dirty="0">
              <a:solidFill>
                <a:srgbClr val="000000"/>
              </a:solidFill>
              <a:latin typeface="Goudy Old Style" panose="02020502050305020303" pitchFamily="18" charset="0"/>
            </a:endParaRPr>
          </a:p>
          <a:p>
            <a:pPr marL="0" indent="0" algn="just">
              <a:buNone/>
            </a:pPr>
            <a:endParaRPr lang="en-US" sz="2400" dirty="0">
              <a:solidFill>
                <a:srgbClr val="000000"/>
              </a:solidFill>
              <a:latin typeface="Goudy Old Style" panose="02020502050305020303" pitchFamily="18" charset="0"/>
            </a:endParaRPr>
          </a:p>
          <a:p>
            <a:pPr algn="just">
              <a:buFont typeface="Wingdings" panose="05000000000000000000" pitchFamily="2" charset="2"/>
              <a:buChar char="Ø"/>
            </a:pPr>
            <a:r>
              <a:rPr lang="en-US" sz="2400" dirty="0">
                <a:solidFill>
                  <a:srgbClr val="000000"/>
                </a:solidFill>
                <a:latin typeface="Goudy Old Style" panose="02020502050305020303" pitchFamily="18" charset="0"/>
              </a:rPr>
              <a:t>The receiver performs 1s complement arithmetic sum of all the frames including the checksum. The result is complemented and found to be 0. Hence, the receiver assumes that no error has occurred.</a:t>
            </a:r>
          </a:p>
          <a:p>
            <a:pPr marL="0" indent="0" algn="just" fontAlgn="base">
              <a:buNone/>
            </a:pPr>
            <a:endParaRPr lang="en-US" dirty="0">
              <a:latin typeface="Goudy Old Style" panose="02020502050305020303" pitchFamily="18" charset="0"/>
            </a:endParaRPr>
          </a:p>
        </p:txBody>
      </p:sp>
      <p:graphicFrame>
        <p:nvGraphicFramePr>
          <p:cNvPr id="3" name="Table 3">
            <a:extLst>
              <a:ext uri="{FF2B5EF4-FFF2-40B4-BE49-F238E27FC236}">
                <a16:creationId xmlns:a16="http://schemas.microsoft.com/office/drawing/2014/main" id="{B76232C7-FF77-4C6B-847B-830D486CD05A}"/>
              </a:ext>
            </a:extLst>
          </p:cNvPr>
          <p:cNvGraphicFramePr>
            <a:graphicFrameLocks noGrp="1"/>
          </p:cNvGraphicFramePr>
          <p:nvPr>
            <p:extLst>
              <p:ext uri="{D42A27DB-BD31-4B8C-83A1-F6EECF244321}">
                <p14:modId xmlns:p14="http://schemas.microsoft.com/office/powerpoint/2010/main" val="1046956008"/>
              </p:ext>
            </p:extLst>
          </p:nvPr>
        </p:nvGraphicFramePr>
        <p:xfrm>
          <a:off x="2257083" y="4208454"/>
          <a:ext cx="8128000" cy="51816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1732420164"/>
                    </a:ext>
                  </a:extLst>
                </a:gridCol>
                <a:gridCol w="1625600">
                  <a:extLst>
                    <a:ext uri="{9D8B030D-6E8A-4147-A177-3AD203B41FA5}">
                      <a16:colId xmlns:a16="http://schemas.microsoft.com/office/drawing/2014/main" val="1695165189"/>
                    </a:ext>
                  </a:extLst>
                </a:gridCol>
                <a:gridCol w="1625600">
                  <a:extLst>
                    <a:ext uri="{9D8B030D-6E8A-4147-A177-3AD203B41FA5}">
                      <a16:colId xmlns:a16="http://schemas.microsoft.com/office/drawing/2014/main" val="3333640511"/>
                    </a:ext>
                  </a:extLst>
                </a:gridCol>
                <a:gridCol w="1625600">
                  <a:extLst>
                    <a:ext uri="{9D8B030D-6E8A-4147-A177-3AD203B41FA5}">
                      <a16:colId xmlns:a16="http://schemas.microsoft.com/office/drawing/2014/main" val="824958794"/>
                    </a:ext>
                  </a:extLst>
                </a:gridCol>
                <a:gridCol w="1625600">
                  <a:extLst>
                    <a:ext uri="{9D8B030D-6E8A-4147-A177-3AD203B41FA5}">
                      <a16:colId xmlns:a16="http://schemas.microsoft.com/office/drawing/2014/main" val="2936703550"/>
                    </a:ext>
                  </a:extLst>
                </a:gridCol>
              </a:tblGrid>
              <a:tr h="370840">
                <a:tc>
                  <a:txBody>
                    <a:bodyPr/>
                    <a:lstStyle/>
                    <a:p>
                      <a:r>
                        <a:rPr lang="en-US" sz="2800" i="0" dirty="0">
                          <a:solidFill>
                            <a:srgbClr val="000000"/>
                          </a:solidFill>
                          <a:effectLst/>
                          <a:latin typeface="Goudy Old Style" panose="02020502050305020303" pitchFamily="18" charset="0"/>
                        </a:rPr>
                        <a:t>11001100</a:t>
                      </a:r>
                      <a:endParaRPr lang="en-US" sz="2800" dirty="0"/>
                    </a:p>
                  </a:txBody>
                  <a:tcPr/>
                </a:tc>
                <a:tc>
                  <a:txBody>
                    <a:bodyPr/>
                    <a:lstStyle/>
                    <a:p>
                      <a:r>
                        <a:rPr lang="en-US" sz="2800" i="0" dirty="0">
                          <a:solidFill>
                            <a:srgbClr val="000000"/>
                          </a:solidFill>
                          <a:effectLst/>
                          <a:latin typeface="Goudy Old Style" panose="02020502050305020303" pitchFamily="18" charset="0"/>
                        </a:rPr>
                        <a:t>10101010</a:t>
                      </a:r>
                      <a:endParaRPr lang="en-US" sz="2800" dirty="0"/>
                    </a:p>
                  </a:txBody>
                  <a:tcPr/>
                </a:tc>
                <a:tc>
                  <a:txBody>
                    <a:bodyPr/>
                    <a:lstStyle/>
                    <a:p>
                      <a:r>
                        <a:rPr lang="en-US" sz="2800" i="0" dirty="0">
                          <a:solidFill>
                            <a:srgbClr val="000000"/>
                          </a:solidFill>
                          <a:effectLst/>
                          <a:latin typeface="Goudy Old Style" panose="02020502050305020303" pitchFamily="18" charset="0"/>
                        </a:rPr>
                        <a:t>11110000</a:t>
                      </a:r>
                      <a:endParaRPr lang="en-US" sz="2800" dirty="0"/>
                    </a:p>
                  </a:txBody>
                  <a:tcPr/>
                </a:tc>
                <a:tc>
                  <a:txBody>
                    <a:bodyPr/>
                    <a:lstStyle/>
                    <a:p>
                      <a:r>
                        <a:rPr lang="en-US" sz="2800" i="0" dirty="0">
                          <a:solidFill>
                            <a:srgbClr val="000000"/>
                          </a:solidFill>
                          <a:effectLst/>
                          <a:latin typeface="Goudy Old Style" panose="02020502050305020303" pitchFamily="18" charset="0"/>
                        </a:rPr>
                        <a:t>11000011</a:t>
                      </a:r>
                      <a:endParaRPr lang="en-US" sz="2800" dirty="0"/>
                    </a:p>
                  </a:txBody>
                  <a:tcPr/>
                </a:tc>
                <a:tc>
                  <a:txBody>
                    <a:bodyPr/>
                    <a:lstStyle/>
                    <a:p>
                      <a:r>
                        <a:rPr lang="en-US" sz="2800" dirty="0">
                          <a:solidFill>
                            <a:schemeClr val="tx1"/>
                          </a:solidFill>
                          <a:latin typeface="Goudy Old Style" panose="02020502050305020303" pitchFamily="18" charset="0"/>
                        </a:rPr>
                        <a:t>11010011</a:t>
                      </a:r>
                      <a:endParaRPr lang="en-US" sz="2800" dirty="0">
                        <a:solidFill>
                          <a:schemeClr val="tx1"/>
                        </a:solidFill>
                      </a:endParaRPr>
                    </a:p>
                  </a:txBody>
                  <a:tcPr/>
                </a:tc>
                <a:extLst>
                  <a:ext uri="{0D108BD9-81ED-4DB2-BD59-A6C34878D82A}">
                    <a16:rowId xmlns:a16="http://schemas.microsoft.com/office/drawing/2014/main" val="2047847757"/>
                  </a:ext>
                </a:extLst>
              </a:tr>
            </a:tbl>
          </a:graphicData>
        </a:graphic>
      </p:graphicFrame>
      <p:pic>
        <p:nvPicPr>
          <p:cNvPr id="4" name="Picture 3" descr="KL Deemed to be University Logo">
            <a:extLst>
              <a:ext uri="{FF2B5EF4-FFF2-40B4-BE49-F238E27FC236}">
                <a16:creationId xmlns:a16="http://schemas.microsoft.com/office/drawing/2014/main" id="{0A39AA2A-BDAA-2E0A-95EB-02D94E4BED22}"/>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5911618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08C6E9ED-9C88-4A35-A8D4-B805C9F31633}"/>
              </a:ext>
            </a:extLst>
          </p:cNvPr>
          <p:cNvPicPr>
            <a:picLocks noGrp="1" noChangeAspect="1"/>
          </p:cNvPicPr>
          <p:nvPr>
            <p:ph idx="1"/>
          </p:nvPr>
        </p:nvPicPr>
        <p:blipFill>
          <a:blip r:embed="rId2"/>
          <a:stretch>
            <a:fillRect/>
          </a:stretch>
        </p:blipFill>
        <p:spPr>
          <a:xfrm>
            <a:off x="2363372" y="65192"/>
            <a:ext cx="7198535" cy="6856456"/>
          </a:xfrm>
        </p:spPr>
      </p:pic>
      <p:sp>
        <p:nvSpPr>
          <p:cNvPr id="5" name="Slide Number Placeholder 4">
            <a:extLst>
              <a:ext uri="{FF2B5EF4-FFF2-40B4-BE49-F238E27FC236}">
                <a16:creationId xmlns:a16="http://schemas.microsoft.com/office/drawing/2014/main" id="{FEB82E64-7327-4291-A06F-48B51D8835B6}"/>
              </a:ext>
            </a:extLst>
          </p:cNvPr>
          <p:cNvSpPr>
            <a:spLocks noGrp="1"/>
          </p:cNvSpPr>
          <p:nvPr>
            <p:ph type="sldNum" sz="quarter" idx="12"/>
          </p:nvPr>
        </p:nvSpPr>
        <p:spPr/>
        <p:txBody>
          <a:bodyPr/>
          <a:lstStyle/>
          <a:p>
            <a:fld id="{68187FF5-4BF9-4B21-B0D2-9B7FF2B27D7F}" type="slidenum">
              <a:rPr lang="en-AU" smtClean="0"/>
              <a:pPr/>
              <a:t>30</a:t>
            </a:fld>
            <a:endParaRPr lang="en-AU"/>
          </a:p>
        </p:txBody>
      </p:sp>
      <p:pic>
        <p:nvPicPr>
          <p:cNvPr id="3" name="Picture 2" descr="KL Deemed to be University Logo">
            <a:extLst>
              <a:ext uri="{FF2B5EF4-FFF2-40B4-BE49-F238E27FC236}">
                <a16:creationId xmlns:a16="http://schemas.microsoft.com/office/drawing/2014/main" id="{97A1D907-E8D1-FCC3-1A86-8CDAFB379781}"/>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2936127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t>Practice Questions</a:t>
            </a:r>
          </a:p>
        </p:txBody>
      </p:sp>
      <p:sp>
        <p:nvSpPr>
          <p:cNvPr id="3" name="Content Placeholder 2"/>
          <p:cNvSpPr>
            <a:spLocks noGrp="1"/>
          </p:cNvSpPr>
          <p:nvPr>
            <p:ph idx="1"/>
          </p:nvPr>
        </p:nvSpPr>
        <p:spPr/>
        <p:txBody>
          <a:bodyPr/>
          <a:lstStyle/>
          <a:p>
            <a:pPr algn="just">
              <a:buNone/>
            </a:pPr>
            <a:r>
              <a:rPr lang="en-US" dirty="0"/>
              <a:t>1</a:t>
            </a:r>
            <a:r>
              <a:rPr lang="en-US" sz="2400" dirty="0">
                <a:solidFill>
                  <a:srgbClr val="303030"/>
                </a:solidFill>
                <a:latin typeface="Goudy Old Style" panose="02020502050305020303" pitchFamily="18" charset="0"/>
              </a:rPr>
              <a:t>. The message 1101011011 is to be transmitted using the generator polynomial x4+x+1 to protect it from errors. Find the final data to be transmitted after performing CRC. </a:t>
            </a:r>
          </a:p>
          <a:p>
            <a:pPr algn="just">
              <a:buNone/>
            </a:pPr>
            <a:r>
              <a:rPr lang="en-US" sz="2400" dirty="0">
                <a:solidFill>
                  <a:srgbClr val="303030"/>
                </a:solidFill>
                <a:latin typeface="Goudy Old Style" panose="02020502050305020303" pitchFamily="18" charset="0"/>
              </a:rPr>
              <a:t>	       </a:t>
            </a:r>
          </a:p>
          <a:p>
            <a:pPr algn="just">
              <a:buNone/>
            </a:pPr>
            <a:r>
              <a:rPr lang="en-US" sz="2400" dirty="0">
                <a:solidFill>
                  <a:srgbClr val="303030"/>
                </a:solidFill>
                <a:latin typeface="Goudy Old Style" panose="02020502050305020303" pitchFamily="18" charset="0"/>
              </a:rPr>
              <a:t>2. Original data is 10110011 10101011 01011010 11010101. Perform 2D parity and compute the codeword. </a:t>
            </a:r>
          </a:p>
          <a:p>
            <a:pPr algn="just">
              <a:buNone/>
            </a:pPr>
            <a:endParaRPr lang="en-US" sz="2400" dirty="0">
              <a:solidFill>
                <a:srgbClr val="303030"/>
              </a:solidFill>
              <a:latin typeface="Goudy Old Style" panose="02020502050305020303" pitchFamily="18" charset="0"/>
            </a:endParaRPr>
          </a:p>
          <a:p>
            <a:pPr algn="just">
              <a:buNone/>
            </a:pPr>
            <a:r>
              <a:rPr lang="en-US" sz="2400" dirty="0">
                <a:solidFill>
                  <a:srgbClr val="303030"/>
                </a:solidFill>
                <a:latin typeface="Goudy Old Style" panose="02020502050305020303" pitchFamily="18" charset="0"/>
              </a:rPr>
              <a:t>3. Original data is 10110011 10101011 01011010 11010101. Find out the checksum to detect error.</a:t>
            </a:r>
          </a:p>
        </p:txBody>
      </p:sp>
      <p:sp>
        <p:nvSpPr>
          <p:cNvPr id="5" name="Slide Number Placeholder 4"/>
          <p:cNvSpPr>
            <a:spLocks noGrp="1"/>
          </p:cNvSpPr>
          <p:nvPr>
            <p:ph type="sldNum" sz="quarter" idx="12"/>
          </p:nvPr>
        </p:nvSpPr>
        <p:spPr/>
        <p:txBody>
          <a:bodyPr/>
          <a:lstStyle/>
          <a:p>
            <a:fld id="{68187FF5-4BF9-4B21-B0D2-9B7FF2B27D7F}" type="slidenum">
              <a:rPr lang="en-AU" smtClean="0"/>
              <a:pPr/>
              <a:t>31</a:t>
            </a:fld>
            <a:endParaRPr lang="en-AU"/>
          </a:p>
        </p:txBody>
      </p:sp>
      <p:pic>
        <p:nvPicPr>
          <p:cNvPr id="4" name="Picture 3" descr="KL Deemed to be University Logo">
            <a:extLst>
              <a:ext uri="{FF2B5EF4-FFF2-40B4-BE49-F238E27FC236}">
                <a16:creationId xmlns:a16="http://schemas.microsoft.com/office/drawing/2014/main" id="{A6A9C997-3B49-0467-19B3-C70A8F570D1F}"/>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946069" y="929962"/>
            <a:ext cx="10172210" cy="412293"/>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indent="-342900">
              <a:buFont typeface="+mj-lt"/>
              <a:buAutoNum type="arabicPeriod"/>
            </a:pPr>
            <a:r>
              <a:rPr lang="en-US" sz="1600" dirty="0">
                <a:solidFill>
                  <a:schemeClr val="bg1"/>
                </a:solidFill>
                <a:latin typeface="Poppins" panose="00000500000000000000" pitchFamily="2" charset="0"/>
                <a:ea typeface="Calibri"/>
                <a:cs typeface="Poppins" panose="00000500000000000000" pitchFamily="2" charset="0"/>
              </a:rPr>
              <a:t>What is the codeword for the </a:t>
            </a:r>
            <a:r>
              <a:rPr lang="en-US" sz="1600" dirty="0" err="1">
                <a:solidFill>
                  <a:schemeClr val="bg1"/>
                </a:solidFill>
                <a:latin typeface="Poppins" panose="00000500000000000000" pitchFamily="2" charset="0"/>
                <a:ea typeface="Calibri"/>
                <a:cs typeface="Poppins" panose="00000500000000000000" pitchFamily="2" charset="0"/>
              </a:rPr>
              <a:t>dataword</a:t>
            </a:r>
            <a:r>
              <a:rPr lang="en-US" sz="1600" dirty="0">
                <a:solidFill>
                  <a:schemeClr val="bg1"/>
                </a:solidFill>
                <a:latin typeface="Poppins" panose="00000500000000000000" pitchFamily="2" charset="0"/>
                <a:ea typeface="Calibri"/>
                <a:cs typeface="Poppins" panose="00000500000000000000" pitchFamily="2" charset="0"/>
              </a:rPr>
              <a:t> 1011 when even parity is used?</a:t>
            </a: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09895" y="1501442"/>
            <a:ext cx="3601862" cy="1038604"/>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AutoNum type="alphaLcParenBoth"/>
            </a:pPr>
            <a:r>
              <a:rPr lang="en-US" sz="1600" dirty="0"/>
              <a:t>10110</a:t>
            </a:r>
            <a:endParaRPr lang="en-US" sz="1600" dirty="0">
              <a:latin typeface="Arial" panose="020B0604020202020204" pitchFamily="34" charset="0"/>
            </a:endParaRPr>
          </a:p>
          <a:p>
            <a:pPr marL="342900" indent="-342900">
              <a:buAutoNum type="alphaLcParenBoth"/>
            </a:pPr>
            <a:r>
              <a:rPr lang="en-US" sz="1600" dirty="0">
                <a:solidFill>
                  <a:schemeClr val="bg1"/>
                </a:solidFill>
              </a:rPr>
              <a:t>10111</a:t>
            </a:r>
          </a:p>
          <a:p>
            <a:pPr marL="342900" indent="-342900">
              <a:buAutoNum type="alphaLcParenBoth"/>
            </a:pPr>
            <a:r>
              <a:rPr lang="en-US" sz="1600" dirty="0"/>
              <a:t>10011</a:t>
            </a:r>
          </a:p>
          <a:p>
            <a:pPr marL="342900" indent="-342900">
              <a:buFontTx/>
              <a:buAutoNum type="alphaLcParenBoth"/>
            </a:pPr>
            <a:r>
              <a:rPr lang="en-US" sz="1600" dirty="0"/>
              <a:t>10010</a:t>
            </a:r>
          </a:p>
        </p:txBody>
      </p:sp>
      <p:sp>
        <p:nvSpPr>
          <p:cNvPr id="13" name="Google Shape;502;p17">
            <a:extLst>
              <a:ext uri="{FF2B5EF4-FFF2-40B4-BE49-F238E27FC236}">
                <a16:creationId xmlns:a16="http://schemas.microsoft.com/office/drawing/2014/main" id="{BB41B87C-BE5F-4BF2-531D-57DC21D1A451}"/>
              </a:ext>
            </a:extLst>
          </p:cNvPr>
          <p:cNvSpPr/>
          <p:nvPr/>
        </p:nvSpPr>
        <p:spPr>
          <a:xfrm>
            <a:off x="981385" y="2872641"/>
            <a:ext cx="10172210" cy="364796"/>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indent="-342900">
              <a:buFont typeface="+mj-lt"/>
              <a:buAutoNum type="arabicPeriod" startAt="2"/>
            </a:pPr>
            <a:r>
              <a:rPr lang="en-US" sz="1600" dirty="0">
                <a:solidFill>
                  <a:schemeClr val="bg1"/>
                </a:solidFill>
                <a:latin typeface="Poppins" panose="00000500000000000000" pitchFamily="2" charset="0"/>
                <a:ea typeface="Calibri"/>
                <a:cs typeface="Poppins" panose="00000500000000000000" pitchFamily="2" charset="0"/>
              </a:rPr>
              <a:t>What is the drawback of simple parity method?</a:t>
            </a:r>
          </a:p>
        </p:txBody>
      </p:sp>
      <p:sp>
        <p:nvSpPr>
          <p:cNvPr id="14" name="Rounded Rectangle 17">
            <a:extLst>
              <a:ext uri="{FF2B5EF4-FFF2-40B4-BE49-F238E27FC236}">
                <a16:creationId xmlns:a16="http://schemas.microsoft.com/office/drawing/2014/main" id="{7E00138C-2256-5D01-E821-A57ADA3BBCB0}"/>
              </a:ext>
            </a:extLst>
          </p:cNvPr>
          <p:cNvSpPr/>
          <p:nvPr/>
        </p:nvSpPr>
        <p:spPr>
          <a:xfrm>
            <a:off x="995362" y="3401007"/>
            <a:ext cx="3616395" cy="1114865"/>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AutoNum type="alphaLcParenBoth"/>
            </a:pPr>
            <a:r>
              <a:rPr lang="en-US" dirty="0"/>
              <a:t>Detects only odd no. of errors</a:t>
            </a:r>
          </a:p>
          <a:p>
            <a:pPr marL="342900" indent="-342900">
              <a:buAutoNum type="alphaLcParenBoth"/>
            </a:pPr>
            <a:r>
              <a:rPr lang="en-US" dirty="0"/>
              <a:t>Detects only even no. of errors</a:t>
            </a:r>
          </a:p>
          <a:p>
            <a:pPr marL="342900" indent="-342900">
              <a:buAutoNum type="alphaLcParenBoth"/>
            </a:pPr>
            <a:r>
              <a:rPr lang="en-US" dirty="0"/>
              <a:t>Both a &amp; b</a:t>
            </a:r>
          </a:p>
          <a:p>
            <a:pPr marL="342900" indent="-342900">
              <a:buAutoNum type="alphaLcParenBoth"/>
            </a:pPr>
            <a:r>
              <a:rPr lang="en-US" sz="1600" dirty="0"/>
              <a:t>Neither a nor b</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Google Shape;502;p17">
            <a:extLst>
              <a:ext uri="{FF2B5EF4-FFF2-40B4-BE49-F238E27FC236}">
                <a16:creationId xmlns:a16="http://schemas.microsoft.com/office/drawing/2014/main" id="{232690F5-0E57-FFD3-E4AD-4B85BD78484B}"/>
              </a:ext>
            </a:extLst>
          </p:cNvPr>
          <p:cNvSpPr/>
          <p:nvPr/>
        </p:nvSpPr>
        <p:spPr>
          <a:xfrm>
            <a:off x="1009895" y="5003206"/>
            <a:ext cx="10172210" cy="364796"/>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US" sz="1600" dirty="0">
                <a:solidFill>
                  <a:schemeClr val="bg1"/>
                </a:solidFill>
                <a:latin typeface="Poppins" panose="00000500000000000000" pitchFamily="2" charset="0"/>
                <a:ea typeface="Calibri"/>
                <a:cs typeface="Poppins" panose="00000500000000000000" pitchFamily="2" charset="0"/>
              </a:rPr>
              <a:t>3. Codeword means?</a:t>
            </a:r>
          </a:p>
        </p:txBody>
      </p:sp>
      <p:sp>
        <p:nvSpPr>
          <p:cNvPr id="3" name="Rounded Rectangle 17">
            <a:extLst>
              <a:ext uri="{FF2B5EF4-FFF2-40B4-BE49-F238E27FC236}">
                <a16:creationId xmlns:a16="http://schemas.microsoft.com/office/drawing/2014/main" id="{C0F3606B-7E0B-2822-3C70-DBFF563062C3}"/>
              </a:ext>
            </a:extLst>
          </p:cNvPr>
          <p:cNvSpPr/>
          <p:nvPr/>
        </p:nvSpPr>
        <p:spPr>
          <a:xfrm>
            <a:off x="1009894" y="5560052"/>
            <a:ext cx="3601863" cy="1114865"/>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AutoNum type="alphaLcParenBoth"/>
            </a:pPr>
            <a:r>
              <a:rPr lang="en-US" dirty="0" err="1"/>
              <a:t>Dataword</a:t>
            </a:r>
            <a:endParaRPr lang="en-US" dirty="0"/>
          </a:p>
          <a:p>
            <a:pPr marL="342900" indent="-342900">
              <a:buAutoNum type="alphaLcParenBoth"/>
            </a:pPr>
            <a:r>
              <a:rPr lang="en-US" dirty="0"/>
              <a:t>Redundant bits</a:t>
            </a:r>
          </a:p>
          <a:p>
            <a:pPr marL="342900" indent="-342900">
              <a:buAutoNum type="alphaLcParenBoth"/>
            </a:pPr>
            <a:r>
              <a:rPr lang="en-US" dirty="0" err="1"/>
              <a:t>Dataword</a:t>
            </a:r>
            <a:r>
              <a:rPr lang="en-US" dirty="0"/>
              <a:t> + Redundant bits</a:t>
            </a:r>
          </a:p>
          <a:p>
            <a:pPr marL="342900" indent="-342900">
              <a:buAutoNum type="alphaLcParenBoth"/>
            </a:pPr>
            <a:r>
              <a:rPr lang="en-US" sz="1600" dirty="0"/>
              <a:t>None</a:t>
            </a:r>
          </a:p>
        </p:txBody>
      </p:sp>
    </p:spTree>
    <p:extLst>
      <p:ext uri="{BB962C8B-B14F-4D97-AF65-F5344CB8AC3E}">
        <p14:creationId xmlns:p14="http://schemas.microsoft.com/office/powerpoint/2010/main" val="41927661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up)">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P spid="2" grpId="0" animBg="1"/>
      <p:bldP spid="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946069" y="929962"/>
            <a:ext cx="10172210" cy="412293"/>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indent="-342900">
              <a:buFont typeface="+mj-lt"/>
              <a:buAutoNum type="arabicPeriod"/>
            </a:pPr>
            <a:r>
              <a:rPr lang="en-US" sz="1600" dirty="0">
                <a:solidFill>
                  <a:schemeClr val="bg1"/>
                </a:solidFill>
                <a:latin typeface="Poppins" panose="00000500000000000000" pitchFamily="2" charset="0"/>
                <a:ea typeface="Calibri"/>
                <a:cs typeface="Poppins" panose="00000500000000000000" pitchFamily="2" charset="0"/>
              </a:rPr>
              <a:t>What is the codeword for the </a:t>
            </a:r>
            <a:r>
              <a:rPr lang="en-US" sz="1600" dirty="0" err="1">
                <a:solidFill>
                  <a:schemeClr val="bg1"/>
                </a:solidFill>
                <a:latin typeface="Poppins" panose="00000500000000000000" pitchFamily="2" charset="0"/>
                <a:ea typeface="Calibri"/>
                <a:cs typeface="Poppins" panose="00000500000000000000" pitchFamily="2" charset="0"/>
              </a:rPr>
              <a:t>dataword</a:t>
            </a:r>
            <a:r>
              <a:rPr lang="en-US" sz="1600" dirty="0">
                <a:solidFill>
                  <a:schemeClr val="bg1"/>
                </a:solidFill>
                <a:latin typeface="Poppins" panose="00000500000000000000" pitchFamily="2" charset="0"/>
                <a:ea typeface="Calibri"/>
                <a:cs typeface="Poppins" panose="00000500000000000000" pitchFamily="2" charset="0"/>
              </a:rPr>
              <a:t> 1011 when even parity is used?</a:t>
            </a: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09895" y="1501442"/>
            <a:ext cx="3601862" cy="1038604"/>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AutoNum type="alphaLcParenBoth"/>
            </a:pPr>
            <a:r>
              <a:rPr lang="en-US" sz="1600" dirty="0"/>
              <a:t>10110</a:t>
            </a:r>
            <a:endParaRPr lang="en-US" sz="1600" dirty="0">
              <a:latin typeface="Arial" panose="020B0604020202020204" pitchFamily="34" charset="0"/>
            </a:endParaRPr>
          </a:p>
          <a:p>
            <a:pPr marL="342900" indent="-342900">
              <a:buAutoNum type="alphaLcParenBoth"/>
            </a:pPr>
            <a:r>
              <a:rPr lang="en-US" sz="1600" b="1" dirty="0">
                <a:solidFill>
                  <a:srgbClr val="FFFF00"/>
                </a:solidFill>
              </a:rPr>
              <a:t>10111</a:t>
            </a:r>
          </a:p>
          <a:p>
            <a:pPr marL="342900" indent="-342900">
              <a:buAutoNum type="alphaLcParenBoth"/>
            </a:pPr>
            <a:r>
              <a:rPr lang="en-US" sz="1600" dirty="0"/>
              <a:t>10011</a:t>
            </a:r>
          </a:p>
          <a:p>
            <a:pPr marL="342900" indent="-342900">
              <a:buFontTx/>
              <a:buAutoNum type="alphaLcParenBoth"/>
            </a:pPr>
            <a:r>
              <a:rPr lang="en-US" sz="1600" dirty="0"/>
              <a:t>10010</a:t>
            </a:r>
          </a:p>
        </p:txBody>
      </p:sp>
      <p:sp>
        <p:nvSpPr>
          <p:cNvPr id="13" name="Google Shape;502;p17">
            <a:extLst>
              <a:ext uri="{FF2B5EF4-FFF2-40B4-BE49-F238E27FC236}">
                <a16:creationId xmlns:a16="http://schemas.microsoft.com/office/drawing/2014/main" id="{BB41B87C-BE5F-4BF2-531D-57DC21D1A451}"/>
              </a:ext>
            </a:extLst>
          </p:cNvPr>
          <p:cNvSpPr/>
          <p:nvPr/>
        </p:nvSpPr>
        <p:spPr>
          <a:xfrm>
            <a:off x="981385" y="2872641"/>
            <a:ext cx="10172210" cy="364796"/>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indent="-342900">
              <a:buFont typeface="+mj-lt"/>
              <a:buAutoNum type="arabicPeriod" startAt="2"/>
            </a:pPr>
            <a:r>
              <a:rPr lang="en-US" sz="1600" dirty="0">
                <a:solidFill>
                  <a:schemeClr val="bg1"/>
                </a:solidFill>
                <a:latin typeface="Poppins" panose="00000500000000000000" pitchFamily="2" charset="0"/>
                <a:ea typeface="Calibri"/>
                <a:cs typeface="Poppins" panose="00000500000000000000" pitchFamily="2" charset="0"/>
              </a:rPr>
              <a:t>What is the drawback of simple parity method?</a:t>
            </a:r>
          </a:p>
        </p:txBody>
      </p:sp>
      <p:sp>
        <p:nvSpPr>
          <p:cNvPr id="14" name="Rounded Rectangle 17">
            <a:extLst>
              <a:ext uri="{FF2B5EF4-FFF2-40B4-BE49-F238E27FC236}">
                <a16:creationId xmlns:a16="http://schemas.microsoft.com/office/drawing/2014/main" id="{7E00138C-2256-5D01-E821-A57ADA3BBCB0}"/>
              </a:ext>
            </a:extLst>
          </p:cNvPr>
          <p:cNvSpPr/>
          <p:nvPr/>
        </p:nvSpPr>
        <p:spPr>
          <a:xfrm>
            <a:off x="995362" y="3401007"/>
            <a:ext cx="3616395" cy="1114865"/>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AutoNum type="alphaLcParenBoth"/>
            </a:pPr>
            <a:r>
              <a:rPr lang="en-US" b="1" dirty="0">
                <a:solidFill>
                  <a:srgbClr val="FFFF00"/>
                </a:solidFill>
              </a:rPr>
              <a:t>Detects only odd no. of errors</a:t>
            </a:r>
          </a:p>
          <a:p>
            <a:pPr marL="342900" indent="-342900">
              <a:buAutoNum type="alphaLcParenBoth"/>
            </a:pPr>
            <a:r>
              <a:rPr lang="en-US" dirty="0"/>
              <a:t>Detects only even no. of errors</a:t>
            </a:r>
          </a:p>
          <a:p>
            <a:pPr marL="342900" indent="-342900">
              <a:buAutoNum type="alphaLcParenBoth"/>
            </a:pPr>
            <a:r>
              <a:rPr lang="en-US" dirty="0"/>
              <a:t>Both a &amp; b</a:t>
            </a:r>
          </a:p>
          <a:p>
            <a:pPr marL="342900" indent="-342900">
              <a:buAutoNum type="alphaLcParenBoth"/>
            </a:pPr>
            <a:r>
              <a:rPr lang="en-US" sz="1600" dirty="0"/>
              <a:t>Neither a nor b</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Google Shape;502;p17">
            <a:extLst>
              <a:ext uri="{FF2B5EF4-FFF2-40B4-BE49-F238E27FC236}">
                <a16:creationId xmlns:a16="http://schemas.microsoft.com/office/drawing/2014/main" id="{232690F5-0E57-FFD3-E4AD-4B85BD78484B}"/>
              </a:ext>
            </a:extLst>
          </p:cNvPr>
          <p:cNvSpPr/>
          <p:nvPr/>
        </p:nvSpPr>
        <p:spPr>
          <a:xfrm>
            <a:off x="1009895" y="5003206"/>
            <a:ext cx="10172210" cy="364796"/>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US" sz="1600" dirty="0">
                <a:solidFill>
                  <a:schemeClr val="bg1"/>
                </a:solidFill>
                <a:latin typeface="Poppins" panose="00000500000000000000" pitchFamily="2" charset="0"/>
                <a:ea typeface="Calibri"/>
                <a:cs typeface="Poppins" panose="00000500000000000000" pitchFamily="2" charset="0"/>
              </a:rPr>
              <a:t>3. Codeword means?</a:t>
            </a:r>
          </a:p>
        </p:txBody>
      </p:sp>
      <p:sp>
        <p:nvSpPr>
          <p:cNvPr id="3" name="Rounded Rectangle 17">
            <a:extLst>
              <a:ext uri="{FF2B5EF4-FFF2-40B4-BE49-F238E27FC236}">
                <a16:creationId xmlns:a16="http://schemas.microsoft.com/office/drawing/2014/main" id="{C0F3606B-7E0B-2822-3C70-DBFF563062C3}"/>
              </a:ext>
            </a:extLst>
          </p:cNvPr>
          <p:cNvSpPr/>
          <p:nvPr/>
        </p:nvSpPr>
        <p:spPr>
          <a:xfrm>
            <a:off x="1009894" y="5560052"/>
            <a:ext cx="3601863" cy="1114865"/>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AutoNum type="alphaLcParenBoth"/>
            </a:pPr>
            <a:r>
              <a:rPr lang="en-US" dirty="0" err="1"/>
              <a:t>Dataword</a:t>
            </a:r>
            <a:endParaRPr lang="en-US" dirty="0"/>
          </a:p>
          <a:p>
            <a:pPr marL="342900" indent="-342900">
              <a:buAutoNum type="alphaLcParenBoth"/>
            </a:pPr>
            <a:r>
              <a:rPr lang="en-US" dirty="0"/>
              <a:t>Redundant bits</a:t>
            </a:r>
          </a:p>
          <a:p>
            <a:pPr marL="342900" indent="-342900">
              <a:buAutoNum type="alphaLcParenBoth"/>
            </a:pPr>
            <a:r>
              <a:rPr lang="en-US" b="1" dirty="0" err="1">
                <a:solidFill>
                  <a:srgbClr val="FFFF00"/>
                </a:solidFill>
              </a:rPr>
              <a:t>Dataword</a:t>
            </a:r>
            <a:r>
              <a:rPr lang="en-US" b="1" dirty="0">
                <a:solidFill>
                  <a:srgbClr val="FFFF00"/>
                </a:solidFill>
              </a:rPr>
              <a:t> + Redundant bits</a:t>
            </a:r>
          </a:p>
          <a:p>
            <a:pPr marL="342900" indent="-342900">
              <a:buAutoNum type="alphaLcParenBoth"/>
            </a:pPr>
            <a:r>
              <a:rPr lang="en-US" sz="1600" dirty="0"/>
              <a:t>None</a:t>
            </a:r>
          </a:p>
        </p:txBody>
      </p:sp>
    </p:spTree>
    <p:extLst>
      <p:ext uri="{BB962C8B-B14F-4D97-AF65-F5344CB8AC3E}">
        <p14:creationId xmlns:p14="http://schemas.microsoft.com/office/powerpoint/2010/main" val="13365516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up)">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P spid="2" grpId="0" animBg="1"/>
      <p:bldP spid="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00BC72CD-0E64-4837-A23F-71719B051DF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0487" y="1379529"/>
            <a:ext cx="4098941" cy="409894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1E0631B-1888-44A3-956F-2018E4A03155}"/>
              </a:ext>
            </a:extLst>
          </p:cNvPr>
          <p:cNvSpPr>
            <a:spLocks noGrp="1"/>
          </p:cNvSpPr>
          <p:nvPr>
            <p:ph idx="1"/>
          </p:nvPr>
        </p:nvSpPr>
        <p:spPr>
          <a:xfrm>
            <a:off x="6096000" y="2260821"/>
            <a:ext cx="5426844" cy="4731434"/>
          </a:xfrm>
        </p:spPr>
        <p:txBody>
          <a:bodyPr>
            <a:normAutofit/>
          </a:bodyPr>
          <a:lstStyle/>
          <a:p>
            <a:pPr>
              <a:buFont typeface="Wingdings" panose="05000000000000000000" pitchFamily="2" charset="2"/>
              <a:buChar char="Ø"/>
            </a:pPr>
            <a:r>
              <a:rPr lang="en-US" dirty="0"/>
              <a:t>Types of Errors</a:t>
            </a:r>
          </a:p>
          <a:p>
            <a:pPr>
              <a:buFont typeface="Wingdings" panose="05000000000000000000" pitchFamily="2" charset="2"/>
              <a:buChar char="Ø"/>
            </a:pPr>
            <a:endParaRPr lang="en-US" dirty="0"/>
          </a:p>
          <a:p>
            <a:pPr>
              <a:buFont typeface="Wingdings" panose="05000000000000000000" pitchFamily="2" charset="2"/>
              <a:buChar char="Ø"/>
            </a:pPr>
            <a:r>
              <a:rPr lang="en-US" dirty="0"/>
              <a:t>Error Detection Methods</a:t>
            </a:r>
          </a:p>
          <a:p>
            <a:pPr>
              <a:buFont typeface="Wingdings" panose="05000000000000000000" pitchFamily="2" charset="2"/>
              <a:buChar char="Ø"/>
            </a:pPr>
            <a:endParaRPr lang="en-US" dirty="0"/>
          </a:p>
          <a:p>
            <a:pPr>
              <a:buFont typeface="Wingdings" panose="05000000000000000000" pitchFamily="2" charset="2"/>
              <a:buChar char="Ø"/>
            </a:pPr>
            <a:r>
              <a:rPr lang="en-US" dirty="0"/>
              <a:t>Error Correction Methods</a:t>
            </a:r>
          </a:p>
        </p:txBody>
      </p:sp>
      <p:pic>
        <p:nvPicPr>
          <p:cNvPr id="2" name="Picture 2" descr="KL Deemed to be University Logo">
            <a:extLst>
              <a:ext uri="{FF2B5EF4-FFF2-40B4-BE49-F238E27FC236}">
                <a16:creationId xmlns:a16="http://schemas.microsoft.com/office/drawing/2014/main" id="{1A6E623D-BF52-6CE8-7DF9-98E41C00CDDC}"/>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Rounded Rectangle 17">
            <a:extLst>
              <a:ext uri="{FF2B5EF4-FFF2-40B4-BE49-F238E27FC236}">
                <a16:creationId xmlns:a16="http://schemas.microsoft.com/office/drawing/2014/main" id="{BF5AC92A-328E-35D9-8A83-66295DF01654}"/>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spTree>
    <p:extLst>
      <p:ext uri="{BB962C8B-B14F-4D97-AF65-F5344CB8AC3E}">
        <p14:creationId xmlns:p14="http://schemas.microsoft.com/office/powerpoint/2010/main" val="1752832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858129" y="2194816"/>
            <a:ext cx="10255348" cy="3477875"/>
          </a:xfrm>
          <a:prstGeom prst="rect">
            <a:avLst/>
          </a:prstGeom>
          <a:noFill/>
        </p:spPr>
        <p:txBody>
          <a:bodyPr wrap="square" rtlCol="0">
            <a:spAutoFit/>
          </a:bodyPr>
          <a:lstStyle/>
          <a:p>
            <a:pPr algn="just">
              <a:buNone/>
            </a:pPr>
            <a:r>
              <a:rPr lang="en-US" dirty="0"/>
              <a:t>1. </a:t>
            </a:r>
            <a:r>
              <a:rPr lang="en-US" sz="2000" dirty="0">
                <a:solidFill>
                  <a:srgbClr val="303030"/>
                </a:solidFill>
                <a:latin typeface="Goudy Old Style" panose="02020502050305020303" pitchFamily="18" charset="0"/>
              </a:rPr>
              <a:t>The message 1101011011 is to be transmitted using the generator polynomial x4+x+1 to protect it from errors. Find the final data to be transmitted after performing CRC. </a:t>
            </a:r>
          </a:p>
          <a:p>
            <a:pPr algn="just">
              <a:buNone/>
            </a:pPr>
            <a:r>
              <a:rPr lang="en-US" sz="2000" dirty="0">
                <a:solidFill>
                  <a:srgbClr val="303030"/>
                </a:solidFill>
                <a:latin typeface="Goudy Old Style" panose="02020502050305020303" pitchFamily="18" charset="0"/>
              </a:rPr>
              <a:t>	       </a:t>
            </a:r>
          </a:p>
          <a:p>
            <a:pPr algn="just">
              <a:buNone/>
            </a:pPr>
            <a:r>
              <a:rPr lang="en-US" sz="2000" dirty="0">
                <a:solidFill>
                  <a:srgbClr val="303030"/>
                </a:solidFill>
                <a:latin typeface="Goudy Old Style" panose="02020502050305020303" pitchFamily="18" charset="0"/>
              </a:rPr>
              <a:t>2. Original data is 10110011 10101011 01011010 11010101. Perform 2D parity and compute the codeword. </a:t>
            </a:r>
          </a:p>
          <a:p>
            <a:pPr algn="just">
              <a:buNone/>
            </a:pPr>
            <a:endParaRPr lang="en-US" sz="2000" dirty="0">
              <a:solidFill>
                <a:srgbClr val="303030"/>
              </a:solidFill>
              <a:latin typeface="Goudy Old Style" panose="02020502050305020303" pitchFamily="18" charset="0"/>
            </a:endParaRPr>
          </a:p>
          <a:p>
            <a:pPr algn="just">
              <a:buNone/>
            </a:pPr>
            <a:r>
              <a:rPr lang="en-US" sz="2000" dirty="0">
                <a:solidFill>
                  <a:srgbClr val="303030"/>
                </a:solidFill>
                <a:latin typeface="Goudy Old Style" panose="02020502050305020303" pitchFamily="18" charset="0"/>
              </a:rPr>
              <a:t>3. Original data is 10110011 10101011 01011010 11010101. Find out the checksum to detect error.</a:t>
            </a:r>
          </a:p>
          <a:p>
            <a:pPr algn="just">
              <a:buNone/>
            </a:pPr>
            <a:endParaRPr lang="en-US" sz="2000" dirty="0">
              <a:solidFill>
                <a:srgbClr val="303030"/>
              </a:solidFill>
              <a:latin typeface="Goudy Old Style" panose="02020502050305020303" pitchFamily="18" charset="0"/>
            </a:endParaRPr>
          </a:p>
          <a:p>
            <a:pPr algn="just"/>
            <a:r>
              <a:rPr lang="en-US" sz="2000" dirty="0">
                <a:solidFill>
                  <a:srgbClr val="303030"/>
                </a:solidFill>
                <a:latin typeface="Goudy Old Style" panose="02020502050305020303" pitchFamily="18" charset="0"/>
              </a:rPr>
              <a:t>4. Similarly, if Shradha is receiving a 7-bit hamming code 1011101, assume Even parity and state whether received data is correct or not. If not locate the error bit?</a:t>
            </a:r>
          </a:p>
          <a:p>
            <a:pPr algn="just">
              <a:buNone/>
            </a:pPr>
            <a:endParaRPr lang="en-US" sz="2000" dirty="0">
              <a:solidFill>
                <a:srgbClr val="303030"/>
              </a:solidFill>
              <a:latin typeface="Goudy Old Style" panose="02020502050305020303" pitchFamily="18" charset="0"/>
            </a:endParaRP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3373359"/>
          </a:xfrm>
          <a:prstGeom prst="rect">
            <a:avLst/>
          </a:prstGeom>
          <a:noFill/>
        </p:spPr>
        <p:txBody>
          <a:bodyPr wrap="square" rtlCol="0">
            <a:spAutoFit/>
          </a:bodyPr>
          <a:lstStyle/>
          <a:p>
            <a:pPr algn="just">
              <a:lnSpc>
                <a:spcPct val="115000"/>
              </a:lnSpc>
              <a:spcAft>
                <a:spcPts val="600"/>
              </a:spcAft>
              <a:buNone/>
            </a:pPr>
            <a:r>
              <a:rPr lang="en-US" b="1" dirty="0"/>
              <a:t>Reference Books:</a:t>
            </a: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Behrouz A. Forouzan , “Data Communication and Networking”, TMH, 6</a:t>
            </a:r>
            <a:r>
              <a:rPr lang="en-US" sz="1800" baseline="30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Edition ,(2012).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800"/>
              </a:spcAft>
              <a:buFont typeface="+mj-lt"/>
              <a:buAutoNum type="arabicPeriod"/>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A.S. Tanenbaum, David J. Wetheral “Computer Networks” Pearson, 5</a:t>
            </a:r>
            <a:r>
              <a:rPr lang="en-US" sz="1800" baseline="30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–Edition-(2011).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endParaRPr lang="en-US" dirty="0"/>
          </a:p>
          <a:p>
            <a:pPr>
              <a:lnSpc>
                <a:spcPct val="150000"/>
              </a:lnSpc>
            </a:pPr>
            <a:r>
              <a:rPr lang="en-US" b="1" dirty="0"/>
              <a:t>Sites and Web links:</a:t>
            </a:r>
          </a:p>
          <a:p>
            <a:pPr marL="342900" indent="-342900">
              <a:lnSpc>
                <a:spcPct val="150000"/>
              </a:lnSpc>
              <a:buAutoNum type="arabicPeriod"/>
            </a:pPr>
            <a:r>
              <a:rPr lang="en-US" dirty="0">
                <a:hlinkClick r:id="rId2"/>
              </a:rPr>
              <a:t>https://www.tutorialspoint.com/data_communication_computer_network/error_detection_and_correction.htm</a:t>
            </a:r>
            <a:endParaRPr lang="en-US" dirty="0"/>
          </a:p>
          <a:p>
            <a:pPr>
              <a:lnSpc>
                <a:spcPct val="150000"/>
              </a:lnSpc>
            </a:pPr>
            <a:endParaRPr lang="en-US" dirty="0"/>
          </a:p>
        </p:txBody>
      </p:sp>
      <p:pic>
        <p:nvPicPr>
          <p:cNvPr id="5"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4376837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
        <p:nvSpPr>
          <p:cNvPr id="2" name="Rounded Rectangle 3">
            <a:extLst>
              <a:ext uri="{FF2B5EF4-FFF2-40B4-BE49-F238E27FC236}">
                <a16:creationId xmlns:a16="http://schemas.microsoft.com/office/drawing/2014/main" id="{09FEBC7B-9CA1-E7BA-B8FA-6567480CF7AA}"/>
              </a:ext>
            </a:extLst>
          </p:cNvPr>
          <p:cNvSpPr/>
          <p:nvPr/>
        </p:nvSpPr>
        <p:spPr>
          <a:xfrm>
            <a:off x="1966029" y="180314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a:t>
            </a:r>
            <a:r>
              <a:rPr lang="en-US" sz="2400" b="1">
                <a:latin typeface="Poppins" pitchFamily="2" charset="77"/>
                <a:cs typeface="Poppins" pitchFamily="2" charset="77"/>
              </a:rPr>
              <a:t>– COMPUTER NETWORKS</a:t>
            </a: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3" name="Picture 2" descr="KL Deemed to be University Logo">
            <a:extLst>
              <a:ext uri="{FF2B5EF4-FFF2-40B4-BE49-F238E27FC236}">
                <a16:creationId xmlns:a16="http://schemas.microsoft.com/office/drawing/2014/main" id="{08F8E2DF-3AD1-D50D-AAD4-DA45C923E9C5}"/>
              </a:ext>
            </a:extLst>
          </p:cNvPr>
          <p:cNvPicPr>
            <a:picLocks noChangeAspect="1" noChangeArrowheads="1"/>
          </p:cNvPicPr>
          <p:nvPr/>
        </p:nvPicPr>
        <p:blipFill>
          <a:blip r:embed="rId2"/>
          <a:srcRect/>
          <a:stretch>
            <a:fillRect/>
          </a:stretch>
        </p:blipFill>
        <p:spPr bwMode="auto">
          <a:xfrm>
            <a:off x="5021475" y="2560321"/>
            <a:ext cx="3235570" cy="1083212"/>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7C8CA6BD4B6BB458EC4DF3BC6B8455E" ma:contentTypeVersion="2" ma:contentTypeDescription="Create a new document." ma:contentTypeScope="" ma:versionID="4c1744822c704be929cff37fdeaf54d0">
  <xsd:schema xmlns:xsd="http://www.w3.org/2001/XMLSchema" xmlns:xs="http://www.w3.org/2001/XMLSchema" xmlns:p="http://schemas.microsoft.com/office/2006/metadata/properties" xmlns:ns2="5e62a2dd-ff91-4591-8d2f-adadc8198891" targetNamespace="http://schemas.microsoft.com/office/2006/metadata/properties" ma:root="true" ma:fieldsID="b09255625856ef7ac3b4d8dfcdef169f" ns2:_="">
    <xsd:import namespace="5e62a2dd-ff91-4591-8d2f-adadc8198891"/>
    <xsd:element name="properties">
      <xsd:complexType>
        <xsd:sequence>
          <xsd:element name="documentManagement">
            <xsd:complexType>
              <xsd:all>
                <xsd:element ref="ns2:SharedWithUsers"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62a2dd-ff91-4591-8d2f-adadc8198891"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6989B67-2555-4DB6-B147-5FFEA8141233}">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1FE2E494-7E83-48A3-A37B-6A0EF14651A9}">
  <ds:schemaRefs>
    <ds:schemaRef ds:uri="http://schemas.microsoft.com/sharepoint/v3/contenttype/forms"/>
  </ds:schemaRefs>
</ds:datastoreItem>
</file>

<file path=customXml/itemProps3.xml><?xml version="1.0" encoding="utf-8"?>
<ds:datastoreItem xmlns:ds="http://schemas.openxmlformats.org/officeDocument/2006/customXml" ds:itemID="{09951B70-9DB6-4529-85A7-BC9F3B7C4C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62a2dd-ff91-4591-8d2f-adadc8198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2904</TotalTime>
  <Words>1602</Words>
  <Application>Microsoft Office PowerPoint</Application>
  <PresentationFormat>Widescreen</PresentationFormat>
  <Paragraphs>259</Paragraphs>
  <Slides>37</Slides>
  <Notes>1</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PowerPoint Presentation</vt:lpstr>
      <vt:lpstr>PowerPoint Presentation</vt:lpstr>
      <vt:lpstr>Error Detection and Correction</vt:lpstr>
      <vt:lpstr>Introduction</vt:lpstr>
      <vt:lpstr>Type of Errors</vt:lpstr>
      <vt:lpstr>Type of Errors(cont’d)</vt:lpstr>
      <vt:lpstr>Type of Errors(cont’d)</vt:lpstr>
      <vt:lpstr>Type of Errors(cont’d)</vt:lpstr>
      <vt:lpstr>Error Detection</vt:lpstr>
      <vt:lpstr>Error Detection</vt:lpstr>
      <vt:lpstr>The structure of encoder and decoder</vt:lpstr>
      <vt:lpstr>PowerPoint Presentation</vt:lpstr>
      <vt:lpstr>Error Detection Methods</vt:lpstr>
      <vt:lpstr>1. Parity Method</vt:lpstr>
      <vt:lpstr>Simple Parity Method</vt:lpstr>
      <vt:lpstr>Parity method examples</vt:lpstr>
      <vt:lpstr>Drawback of Simple Parity </vt:lpstr>
      <vt:lpstr>Two-Dimensional Parity Method</vt:lpstr>
      <vt:lpstr>Two-dimensional parity-check code</vt:lpstr>
      <vt:lpstr>Two-dimensional parity-check code…</vt:lpstr>
      <vt:lpstr>       2. Cyclic Redundancy Check (CRC)</vt:lpstr>
      <vt:lpstr>2. Cyclic Redundancy Check (CRC):</vt:lpstr>
      <vt:lpstr>Steps in Computing CRC:</vt:lpstr>
      <vt:lpstr>Steps in Computing CRC…</vt:lpstr>
      <vt:lpstr>CRC Example : Solution</vt:lpstr>
      <vt:lpstr>CRC Example : Solution</vt:lpstr>
      <vt:lpstr>3. Checksum</vt:lpstr>
      <vt:lpstr>3. Checksum…</vt:lpstr>
      <vt:lpstr>3. Checksum…</vt:lpstr>
      <vt:lpstr>PowerPoint Presentation</vt:lpstr>
      <vt:lpstr>Practice Questions</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vege</dc:creator>
  <cp:lastModifiedBy>DELL</cp:lastModifiedBy>
  <cp:revision>183</cp:revision>
  <dcterms:created xsi:type="dcterms:W3CDTF">2016-10-27T15:05:54Z</dcterms:created>
  <dcterms:modified xsi:type="dcterms:W3CDTF">2025-07-14T11:11:10Z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0x01010057C8CA6BD4B6BB458EC4DF3BC6B8455E</vt:lpwstr>
  </property>
</Properties>
</file>