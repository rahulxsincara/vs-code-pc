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  <p:sldMasterId id="2147483686" r:id="rId4"/>
  </p:sldMasterIdLst>
  <p:notesMasterIdLst>
    <p:notesMasterId r:id="rId47"/>
  </p:notesMasterIdLst>
  <p:sldIdLst>
    <p:sldId id="335" r:id="rId5"/>
    <p:sldId id="336" r:id="rId6"/>
    <p:sldId id="266" r:id="rId7"/>
    <p:sldId id="299" r:id="rId8"/>
    <p:sldId id="301" r:id="rId9"/>
    <p:sldId id="302" r:id="rId10"/>
    <p:sldId id="323" r:id="rId11"/>
    <p:sldId id="304" r:id="rId12"/>
    <p:sldId id="311" r:id="rId13"/>
    <p:sldId id="312" r:id="rId14"/>
    <p:sldId id="313" r:id="rId15"/>
    <p:sldId id="314" r:id="rId16"/>
    <p:sldId id="315" r:id="rId17"/>
    <p:sldId id="305" r:id="rId18"/>
    <p:sldId id="306" r:id="rId19"/>
    <p:sldId id="322" r:id="rId20"/>
    <p:sldId id="324" r:id="rId21"/>
    <p:sldId id="325" r:id="rId22"/>
    <p:sldId id="334" r:id="rId23"/>
    <p:sldId id="307" r:id="rId24"/>
    <p:sldId id="308" r:id="rId25"/>
    <p:sldId id="326" r:id="rId26"/>
    <p:sldId id="327" r:id="rId27"/>
    <p:sldId id="328" r:id="rId28"/>
    <p:sldId id="329" r:id="rId29"/>
    <p:sldId id="330" r:id="rId30"/>
    <p:sldId id="332" r:id="rId31"/>
    <p:sldId id="300" r:id="rId32"/>
    <p:sldId id="369" r:id="rId33"/>
    <p:sldId id="368" r:id="rId34"/>
    <p:sldId id="333" r:id="rId35"/>
    <p:sldId id="372" r:id="rId36"/>
    <p:sldId id="371" r:id="rId37"/>
    <p:sldId id="373" r:id="rId38"/>
    <p:sldId id="374" r:id="rId39"/>
    <p:sldId id="375" r:id="rId40"/>
    <p:sldId id="370" r:id="rId41"/>
    <p:sldId id="376" r:id="rId42"/>
    <p:sldId id="337" r:id="rId43"/>
    <p:sldId id="338" r:id="rId44"/>
    <p:sldId id="339" r:id="rId45"/>
    <p:sldId id="34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7E457-CBBA-EABB-A806-DD6958F44321}" v="20" dt="2025-07-15T05:01:01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anti De" userId="S::vit.tushar@kluniversity.in::7b4f7e15-ba50-4f9a-a6ae-1e38b5a8a216" providerId="AD" clId="Web-{DAB7E457-CBBA-EABB-A806-DD6958F44321}"/>
    <pc:docChg chg="modSld">
      <pc:chgData name="Tushar Kanti De" userId="S::vit.tushar@kluniversity.in::7b4f7e15-ba50-4f9a-a6ae-1e38b5a8a216" providerId="AD" clId="Web-{DAB7E457-CBBA-EABB-A806-DD6958F44321}" dt="2025-07-15T05:00:59.443" v="16" actId="20577"/>
      <pc:docMkLst>
        <pc:docMk/>
      </pc:docMkLst>
      <pc:sldChg chg="modSp">
        <pc:chgData name="Tushar Kanti De" userId="S::vit.tushar@kluniversity.in::7b4f7e15-ba50-4f9a-a6ae-1e38b5a8a216" providerId="AD" clId="Web-{DAB7E457-CBBA-EABB-A806-DD6958F44321}" dt="2025-07-15T05:00:59.443" v="16" actId="20577"/>
        <pc:sldMkLst>
          <pc:docMk/>
          <pc:sldMk cId="0" sldId="335"/>
        </pc:sldMkLst>
        <pc:spChg chg="mod">
          <ac:chgData name="Tushar Kanti De" userId="S::vit.tushar@kluniversity.in::7b4f7e15-ba50-4f9a-a6ae-1e38b5a8a216" providerId="AD" clId="Web-{DAB7E457-CBBA-EABB-A806-DD6958F44321}" dt="2025-07-15T05:00:59.443" v="16" actId="20577"/>
          <ac:spMkLst>
            <pc:docMk/>
            <pc:sldMk cId="0" sldId="335"/>
            <ac:spMk id="476" creationId="{00000000-0000-0000-0000-000000000000}"/>
          </ac:spMkLst>
        </pc:spChg>
      </pc:sldChg>
      <pc:sldChg chg="modSp">
        <pc:chgData name="Tushar Kanti De" userId="S::vit.tushar@kluniversity.in::7b4f7e15-ba50-4f9a-a6ae-1e38b5a8a216" providerId="AD" clId="Web-{DAB7E457-CBBA-EABB-A806-DD6958F44321}" dt="2025-07-15T05:00:44.411" v="14" actId="20577"/>
        <pc:sldMkLst>
          <pc:docMk/>
          <pc:sldMk cId="0" sldId="340"/>
        </pc:sldMkLst>
        <pc:spChg chg="mod">
          <ac:chgData name="Tushar Kanti De" userId="S::vit.tushar@kluniversity.in::7b4f7e15-ba50-4f9a-a6ae-1e38b5a8a216" providerId="AD" clId="Web-{DAB7E457-CBBA-EABB-A806-DD6958F44321}" dt="2025-07-15T05:00:44.411" v="14" actId="20577"/>
          <ac:spMkLst>
            <pc:docMk/>
            <pc:sldMk cId="0" sldId="34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E70C7-1055-414D-8F32-65BD46DFD2C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465E5-7E7B-48FE-BED4-622B820146D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b="0" dirty="0"/>
              <a:t>32</a:t>
            </a:fld>
            <a:endParaRPr lang="en-US" sz="1200" b="0" dirty="0"/>
          </a:p>
        </p:txBody>
      </p:sp>
      <p:sp>
        <p:nvSpPr>
          <p:cNvPr id="959490" name="Slide Image Placeholder 95948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9491" name="Text Placeholder 9594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b="0" dirty="0"/>
              <a:t>33</a:t>
            </a:fld>
            <a:endParaRPr lang="en-US" sz="1200" b="0" dirty="0"/>
          </a:p>
        </p:txBody>
      </p:sp>
      <p:sp>
        <p:nvSpPr>
          <p:cNvPr id="958466" name="Slide Image Placeholder 9584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8467" name="Text Placeholder 9584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b="0" dirty="0"/>
              <a:t>34</a:t>
            </a:fld>
            <a:endParaRPr lang="en-US" sz="1200" b="0" dirty="0"/>
          </a:p>
        </p:txBody>
      </p:sp>
      <p:sp>
        <p:nvSpPr>
          <p:cNvPr id="960514" name="Slide Image Placeholder 96051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0515" name="Text Placeholder 9605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b="0" dirty="0"/>
              <a:t>35</a:t>
            </a:fld>
            <a:endParaRPr lang="en-US" sz="1200" b="0" dirty="0"/>
          </a:p>
        </p:txBody>
      </p:sp>
      <p:sp>
        <p:nvSpPr>
          <p:cNvPr id="961538" name="Slide Image Placeholder 96153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1539" name="Text Placeholder 9615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b="0" dirty="0"/>
              <a:t>36</a:t>
            </a:fld>
            <a:endParaRPr lang="en-US" sz="1200" b="0" dirty="0"/>
          </a:p>
        </p:txBody>
      </p:sp>
      <p:sp>
        <p:nvSpPr>
          <p:cNvPr id="962562" name="Slide Image Placeholder 96256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63" name="Text Placeholder 9625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b="0" dirty="0"/>
              <a:t>38</a:t>
            </a:fld>
            <a:endParaRPr lang="en-US" sz="1200" b="0" dirty="0"/>
          </a:p>
        </p:txBody>
      </p:sp>
      <p:sp>
        <p:nvSpPr>
          <p:cNvPr id="963586" name="Slide Image Placeholder 96358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3587" name="Text Placeholder 96358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46513" y="2032492"/>
            <a:ext cx="889897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136181" y="3497291"/>
            <a:ext cx="5919636" cy="552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9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15" b="1" i="0">
                <a:solidFill>
                  <a:srgbClr val="1B1B1B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1430">
              <a:lnSpc>
                <a:spcPts val="2095"/>
              </a:lnSpc>
            </a:pPr>
            <a:r>
              <a:rPr lang="en-IN" spc="-5"/>
              <a:t>19.</a:t>
            </a:r>
            <a:fld id="{81D60167-4931-47E6-BA6A-407CBD079E47}" type="slidenum">
              <a:rPr spc="-5" smtClean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10945"/>
          <p:cNvGrpSpPr/>
          <p:nvPr/>
        </p:nvGrpSpPr>
        <p:grpSpPr>
          <a:xfrm>
            <a:off x="0" y="2438400"/>
            <a:ext cx="12012084" cy="1052513"/>
            <a:chOff x="0" y="1536"/>
            <a:chExt cx="5675" cy="663"/>
          </a:xfrm>
        </p:grpSpPr>
        <p:grpSp>
          <p:nvGrpSpPr>
            <p:cNvPr id="210947" name="Group 210946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s 210947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endParaRPr lang="en-US" sz="3200"/>
              </a:p>
            </p:txBody>
          </p:sp>
          <p:sp>
            <p:nvSpPr>
              <p:cNvPr id="210949" name="Rectangles 210948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en-US" sz="3200"/>
              </a:p>
            </p:txBody>
          </p:sp>
        </p:grpSp>
        <p:grpSp>
          <p:nvGrpSpPr>
            <p:cNvPr id="210950" name="Group 210949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s 210950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endParaRPr lang="en-US" sz="3200"/>
              </a:p>
            </p:txBody>
          </p:sp>
          <p:sp>
            <p:nvSpPr>
              <p:cNvPr id="210952" name="Rectangles 210951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en-US" sz="3200"/>
              </a:p>
            </p:txBody>
          </p:sp>
        </p:grpSp>
        <p:sp>
          <p:nvSpPr>
            <p:cNvPr id="210953" name="Rectangles 210952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10954" name="Rectangles 210953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10955" name="Rectangles 210954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en-US" sz="3200"/>
            </a:p>
          </p:txBody>
        </p:sp>
      </p:grpSp>
      <p:sp>
        <p:nvSpPr>
          <p:cNvPr id="210956" name="Title 210955"/>
          <p:cNvSpPr>
            <a:spLocks noGrp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210957" name="Subtitle 210956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dirty="0"/>
              <a:t>Click to edit Master subtitle style</a:t>
            </a:r>
          </a:p>
        </p:txBody>
      </p:sp>
      <p:sp>
        <p:nvSpPr>
          <p:cNvPr id="210958" name="Date Placeholder 210957"/>
          <p:cNvSpPr>
            <a:spLocks noGrp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lvl="0" eaLnBrk="1" hangingPunct="1"/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10959" name="Footer Placeholder 210958"/>
          <p:cNvSpPr>
            <a:spLocks noGrp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ctr"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lvl="0" eaLnBrk="1" hangingPunct="1"/>
            <a:endParaRPr lang="en-US"/>
          </a:p>
        </p:txBody>
      </p:sp>
      <p:sp>
        <p:nvSpPr>
          <p:cNvPr id="210960" name="Slide Number Placeholder 210959"/>
          <p:cNvSpPr>
            <a:spLocks noGrp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eaLnBrk="1" hangingPunct="1"/>
            <a:fld id="{9A0DB2DC-4C9A-4742-B13C-FB6460FD3503}" type="slidenum">
              <a:rPr lang="en-US"/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10961" name="Text Box 210960"/>
          <p:cNvSpPr txBox="1"/>
          <p:nvPr userDrawn="1"/>
        </p:nvSpPr>
        <p:spPr>
          <a:xfrm>
            <a:off x="0" y="6553200"/>
            <a:ext cx="29464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62" name="Text Box 210961"/>
          <p:cNvSpPr txBox="1"/>
          <p:nvPr userDrawn="1"/>
        </p:nvSpPr>
        <p:spPr>
          <a:xfrm>
            <a:off x="6096000" y="6553200"/>
            <a:ext cx="60960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r" eaLnBrk="1" hangingPunct="1">
              <a:spcBef>
                <a:spcPct val="50000"/>
              </a:spcBef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56623-7ECF-418A-B977-47100608123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E1D36-C63F-4B2E-8779-B3506717367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4D814FC-E926-4084-8429-4372D9FF5F0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11B506F-014D-4AEE-AB19-7CED1B81311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Slide Number Placeholder 209935"/>
          <p:cNvSpPr>
            <a:spLocks noGrp="1"/>
          </p:cNvSpPr>
          <p:nvPr>
            <p:ph type="sldNum" sz="quarter" idx="4"/>
          </p:nvPr>
        </p:nvSpPr>
        <p:spPr>
          <a:xfrm>
            <a:off x="0" y="64008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‹#›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0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Computer networks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2</a:t>
            </a:r>
            <a:r>
              <a:rPr lang="en-GB" alt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4CS</a:t>
            </a:r>
            <a:r>
              <a:rPr 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220</a:t>
            </a:r>
            <a:r>
              <a:rPr lang="en-GB" alt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2</a:t>
            </a:r>
            <a:endParaRPr lang="en-US" sz="3200" b="1" cap="all" dirty="0">
              <a:solidFill>
                <a:srgbClr val="C00000"/>
              </a:solidFill>
              <a:ea typeface="BioRhyme ExtraBold"/>
              <a:cs typeface="Poppins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cs typeface="Poppins" panose="00000500000000000000" pitchFamily="2" charset="0"/>
              </a:rPr>
              <a:t>IPv4 and IPv6 Headers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623168" y="4758078"/>
            <a:ext cx="2512870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–</a:t>
            </a:r>
            <a:r>
              <a:rPr lang="en-GB" alt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18</a:t>
            </a: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 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IPv4 and IPv6 header formats</a:t>
            </a:r>
            <a:r>
              <a:rPr lang="en-US" sz="1600" dirty="0">
                <a:latin typeface="Poppins"/>
                <a:cs typeface="Poppins"/>
              </a:rPr>
              <a:t>.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responsibilities of IP protocol.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fields of IPv4 header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</a:p>
          <a:p>
            <a:pPr marL="342900" indent="-342900">
              <a:buFontTx/>
              <a:buAutoNum type="arabicPeriod"/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Describe the </a:t>
            </a:r>
            <a:r>
              <a:rPr lang="en-US" sz="1600" dirty="0">
                <a:latin typeface="Arial" panose="020B0604020202020204" pitchFamily="34" charset="0"/>
              </a:rPr>
              <a:t>fields of IPv6 header.</a:t>
            </a: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Illustrate the header formats of IPv4 </a:t>
            </a:r>
            <a:r>
              <a:rPr lang="en-US" sz="1600" dirty="0">
                <a:latin typeface="Arial" panose="020B0604020202020204" pitchFamily="34" charset="0"/>
              </a:rPr>
              <a:t>and IPv6.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Understand the importance of each field in IPv4 and IPv6 headers.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35960"/>
            <a:ext cx="5448694" cy="346464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477645" algn="l"/>
              </a:tabLst>
            </a:pPr>
            <a:r>
              <a:rPr sz="2175" spc="-5" dirty="0">
                <a:solidFill>
                  <a:srgbClr val="3333CC"/>
                </a:solidFill>
              </a:rPr>
              <a:t>	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IPv4 datagram</a:t>
            </a:r>
            <a:r>
              <a:rPr sz="1815" i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format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85709" y="1824193"/>
            <a:ext cx="5743445" cy="39510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6496658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47764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Service type or differentiated</a:t>
            </a:r>
            <a:r>
              <a:rPr sz="1815" i="1" spc="-3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services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61559" y="2790186"/>
            <a:ext cx="7020380" cy="1188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4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3667" y="1575305"/>
            <a:ext cx="3593321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350645" algn="l"/>
              </a:tabLst>
            </a:pPr>
            <a:r>
              <a:rPr sz="1815" i="1" spc="-18" dirty="0">
                <a:latin typeface="Times New Roman" panose="02020603050405020304"/>
                <a:cs typeface="Times New Roman" panose="02020603050405020304"/>
              </a:rPr>
              <a:t>Types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15" i="1" spc="-2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service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84983" y="1949260"/>
            <a:ext cx="4850005" cy="3251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73" y="1161518"/>
            <a:ext cx="4038941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350645" algn="l"/>
              </a:tabLst>
            </a:pPr>
            <a:r>
              <a:rPr sz="1815" i="1" spc="-36" dirty="0">
                <a:latin typeface="Times New Roman" panose="02020603050405020304"/>
                <a:cs typeface="Times New Roman" panose="02020603050405020304"/>
              </a:rPr>
              <a:t>Values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15" i="1" spc="-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codepoints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50232" y="1870488"/>
            <a:ext cx="8291788" cy="3431879"/>
            <a:chOff x="774839" y="2062733"/>
            <a:chExt cx="9144000" cy="3784600"/>
          </a:xfrm>
        </p:grpSpPr>
        <p:sp>
          <p:nvSpPr>
            <p:cNvPr id="4" name="object 4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37801" y="2101595"/>
              <a:ext cx="5109971" cy="37452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6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157412"/>
            <a:ext cx="7391400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7946297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47764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Encapsulation of a small datagram in an Ethernet</a:t>
            </a:r>
            <a:r>
              <a:rPr sz="1815" i="1" spc="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frame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51999" y="2665809"/>
            <a:ext cx="7882726" cy="11131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8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756781"/>
            <a:ext cx="4445896" cy="625643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477645" algn="l"/>
              </a:tabLst>
            </a:pPr>
            <a:r>
              <a:rPr sz="2175" spc="-14" dirty="0">
                <a:solidFill>
                  <a:srgbClr val="3333CC"/>
                </a:solidFill>
              </a:rPr>
              <a:t>Figure</a:t>
            </a:r>
            <a:r>
              <a:rPr sz="2175" spc="-5" dirty="0">
                <a:solidFill>
                  <a:srgbClr val="3333CC"/>
                </a:solidFill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Maximum transfer unit</a:t>
            </a:r>
            <a:r>
              <a:rPr sz="1815" i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(MTU)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07050" y="2686539"/>
            <a:ext cx="6398496" cy="1568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8963" y="1091617"/>
            <a:ext cx="3760672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35064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MTUs for some</a:t>
            </a:r>
            <a:r>
              <a:rPr sz="1815" i="1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networks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90737" y="1420660"/>
            <a:ext cx="5776613" cy="4285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4319216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Flags used in</a:t>
            </a:r>
            <a:r>
              <a:rPr sz="1815" i="1" spc="-2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fragmentation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1316" y="3092146"/>
            <a:ext cx="5009621" cy="666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3895989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0083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Fragmentation</a:t>
            </a:r>
            <a:r>
              <a:rPr sz="1815" i="1" spc="-3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example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4169" y="2284388"/>
            <a:ext cx="7028673" cy="2730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88428" y="351018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8021" y="677028"/>
            <a:ext cx="4681981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Detailed fragmentation</a:t>
            </a:r>
            <a:r>
              <a:rPr sz="1815" i="1" spc="-3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example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1137357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88428" y="1403386"/>
            <a:ext cx="7946297" cy="4752231"/>
            <a:chOff x="927239" y="1547622"/>
            <a:chExt cx="8763000" cy="5240655"/>
          </a:xfrm>
        </p:grpSpPr>
        <p:sp>
          <p:nvSpPr>
            <p:cNvPr id="6" name="object 6"/>
            <p:cNvSpPr/>
            <p:nvPr/>
          </p:nvSpPr>
          <p:spPr>
            <a:xfrm>
              <a:off x="1514741" y="1547622"/>
              <a:ext cx="6956297" cy="51259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4956647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47764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Protocol field and encapsulated</a:t>
            </a:r>
            <a:r>
              <a:rPr sz="1815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data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6645" y="2621586"/>
            <a:ext cx="6996196" cy="1978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9103" y="1144661"/>
            <a:ext cx="2827270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35064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Protocol</a:t>
            </a:r>
            <a:r>
              <a:rPr sz="1815" i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values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50232" y="1870489"/>
            <a:ext cx="8291788" cy="3697907"/>
            <a:chOff x="774839" y="2062733"/>
            <a:chExt cx="9144000" cy="4077970"/>
          </a:xfrm>
        </p:grpSpPr>
        <p:sp>
          <p:nvSpPr>
            <p:cNvPr id="4" name="object 4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886341" y="2192273"/>
              <a:ext cx="5127497" cy="39479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2" y="1091617"/>
            <a:ext cx="4367584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sz="1815" i="1" spc="-23" dirty="0">
                <a:latin typeface="Times New Roman" panose="02020603050405020304"/>
                <a:cs typeface="Times New Roman" panose="02020603050405020304"/>
              </a:rPr>
              <a:t>Taxonomy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of options in</a:t>
            </a:r>
            <a:r>
              <a:rPr sz="1815" i="1" spc="-3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IPv4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3018" y="2043925"/>
            <a:ext cx="6647941" cy="3244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IPV6</a:t>
            </a:r>
          </a:p>
        </p:txBody>
      </p:sp>
      <p:sp>
        <p:nvSpPr>
          <p:cNvPr id="3" name="object 11"/>
          <p:cNvSpPr txBox="1"/>
          <p:nvPr/>
        </p:nvSpPr>
        <p:spPr>
          <a:xfrm>
            <a:off x="1158373" y="1894586"/>
            <a:ext cx="10019910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Despite all short-term solutions, address depletion is  still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a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long-term problem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for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Internet.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This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and  other problems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in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IP protocol itself have been the  motivation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for</a:t>
            </a:r>
            <a:r>
              <a:rPr kumimoji="0" sz="2800" b="1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IPv6.</a:t>
            </a:r>
            <a:endParaRPr kumimoji="0" lang="en-IN" sz="2800" b="1" i="1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12700" marR="5080" lvl="0" indent="0" algn="just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An IPv6 address is 128 bits long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574" y="1292354"/>
            <a:ext cx="6875275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IPv6 address in binary and hexadecimal colon</a:t>
            </a:r>
            <a:r>
              <a:rPr sz="1815" i="1" spc="2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notation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14493" y="2100307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4822" y="2526232"/>
            <a:ext cx="7245640" cy="15906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18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4572" y="2828836"/>
            <a:ext cx="110712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leading zeros of a section (four digits between two colons) can be omitted. Only the leading zeros can be dropped, not the trailing zeros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929" y="1165551"/>
            <a:ext cx="4237449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Abbreviated IPv6</a:t>
            </a:r>
            <a:r>
              <a:rPr sz="1815" i="1" spc="-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addresses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31574" y="1893059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72116" y="2092986"/>
            <a:ext cx="6623756" cy="2981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019330" y="1093826"/>
            <a:ext cx="8015395" cy="523419"/>
            <a:chOff x="851039" y="1206246"/>
            <a:chExt cx="8839200" cy="577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57150"/>
            </a:xfrm>
            <a:custGeom>
              <a:avLst/>
              <a:gdLst/>
              <a:ahLst/>
              <a:cxnLst/>
              <a:rect l="l" t="t" r="r" b="b"/>
              <a:pathLst>
                <a:path w="422275" h="57150">
                  <a:moveTo>
                    <a:pt x="0" y="57149"/>
                  </a:moveTo>
                  <a:lnTo>
                    <a:pt x="422147" y="571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35899" y="1206246"/>
              <a:ext cx="368045" cy="1478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51039" y="1206246"/>
              <a:ext cx="560832" cy="228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86547" y="1206246"/>
              <a:ext cx="31750" cy="57150"/>
            </a:xfrm>
            <a:custGeom>
              <a:avLst/>
              <a:gdLst/>
              <a:ahLst/>
              <a:cxnLst/>
              <a:rect l="l" t="t" r="r" b="b"/>
              <a:pathLst>
                <a:path w="31750" h="57150">
                  <a:moveTo>
                    <a:pt x="0" y="57149"/>
                  </a:moveTo>
                  <a:lnTo>
                    <a:pt x="31241" y="571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03439" y="1263396"/>
              <a:ext cx="8686800" cy="520065"/>
            </a:xfrm>
            <a:custGeom>
              <a:avLst/>
              <a:gdLst/>
              <a:ahLst/>
              <a:cxnLst/>
              <a:rect l="l" t="t" r="r" b="b"/>
              <a:pathLst>
                <a:path w="8686800" h="520064">
                  <a:moveTo>
                    <a:pt x="8686800" y="519683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519684"/>
                  </a:lnTo>
                  <a:lnTo>
                    <a:pt x="8686800" y="5196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1950232" y="2647855"/>
            <a:ext cx="8291788" cy="1555862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9825" y="1164535"/>
            <a:ext cx="7733820" cy="2746864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80645" marR="0" lvl="0" indent="0" algn="l" defTabSz="4572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Expand the address 0:15::1:12:1213 to its</a:t>
            </a:r>
            <a:r>
              <a:rPr kumimoji="0" sz="2540" b="1" i="1" u="none" strike="noStrike" kern="1200" cap="none" spc="-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original.</a:t>
            </a:r>
            <a:endParaRPr kumimoji="0" sz="25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5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1143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Solution</a:t>
            </a:r>
            <a:endParaRPr kumimoji="0" sz="25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11430" marR="4445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540" b="1" i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We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first need to align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left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side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of the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double colon to  the left of the original pattern and the right side of the  double colon to the right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of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original pattern to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find  how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many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0s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we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need to replace the double</a:t>
            </a:r>
            <a:r>
              <a:rPr kumimoji="0" sz="2540" b="1" i="1" u="none" strike="noStrike" kern="1200" cap="none" spc="-13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colon.</a:t>
            </a:r>
            <a:endParaRPr kumimoji="0" sz="25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14413" y="4030500"/>
            <a:ext cx="4763172" cy="690982"/>
            <a:chOff x="2720339" y="4444746"/>
            <a:chExt cx="5252720" cy="762000"/>
          </a:xfrm>
        </p:grpSpPr>
        <p:sp>
          <p:nvSpPr>
            <p:cNvPr id="12" name="object 12"/>
            <p:cNvSpPr/>
            <p:nvPr/>
          </p:nvSpPr>
          <p:spPr>
            <a:xfrm>
              <a:off x="2720340" y="4444758"/>
              <a:ext cx="5252720" cy="190500"/>
            </a:xfrm>
            <a:custGeom>
              <a:avLst/>
              <a:gdLst/>
              <a:ahLst/>
              <a:cxnLst/>
              <a:rect l="l" t="t" r="r" b="b"/>
              <a:pathLst>
                <a:path w="5252720" h="190500">
                  <a:moveTo>
                    <a:pt x="57150" y="45720"/>
                  </a:moveTo>
                  <a:lnTo>
                    <a:pt x="45720" y="45720"/>
                  </a:lnTo>
                  <a:lnTo>
                    <a:pt x="45720" y="190500"/>
                  </a:lnTo>
                  <a:lnTo>
                    <a:pt x="57150" y="190500"/>
                  </a:lnTo>
                  <a:lnTo>
                    <a:pt x="57150" y="45720"/>
                  </a:lnTo>
                  <a:close/>
                </a:path>
                <a:path w="5252720" h="190500">
                  <a:moveTo>
                    <a:pt x="5252720" y="0"/>
                  </a:moveTo>
                  <a:lnTo>
                    <a:pt x="521843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34290" y="190500"/>
                  </a:lnTo>
                  <a:lnTo>
                    <a:pt x="34290" y="34290"/>
                  </a:lnTo>
                  <a:lnTo>
                    <a:pt x="5218430" y="34290"/>
                  </a:lnTo>
                  <a:lnTo>
                    <a:pt x="5218430" y="190500"/>
                  </a:lnTo>
                  <a:lnTo>
                    <a:pt x="5252720" y="190500"/>
                  </a:lnTo>
                  <a:lnTo>
                    <a:pt x="52527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777489" y="4490466"/>
              <a:ext cx="5138420" cy="6591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720340" y="4490478"/>
              <a:ext cx="5252720" cy="716280"/>
            </a:xfrm>
            <a:custGeom>
              <a:avLst/>
              <a:gdLst/>
              <a:ahLst/>
              <a:cxnLst/>
              <a:rect l="l" t="t" r="r" b="b"/>
              <a:pathLst>
                <a:path w="5252720" h="716279">
                  <a:moveTo>
                    <a:pt x="5207000" y="0"/>
                  </a:moveTo>
                  <a:lnTo>
                    <a:pt x="5195570" y="0"/>
                  </a:lnTo>
                  <a:lnTo>
                    <a:pt x="5195570" y="144780"/>
                  </a:lnTo>
                  <a:lnTo>
                    <a:pt x="5195570" y="659130"/>
                  </a:lnTo>
                  <a:lnTo>
                    <a:pt x="57150" y="659130"/>
                  </a:lnTo>
                  <a:lnTo>
                    <a:pt x="57150" y="144780"/>
                  </a:lnTo>
                  <a:lnTo>
                    <a:pt x="45720" y="144780"/>
                  </a:lnTo>
                  <a:lnTo>
                    <a:pt x="45720" y="670560"/>
                  </a:lnTo>
                  <a:lnTo>
                    <a:pt x="57150" y="670560"/>
                  </a:lnTo>
                  <a:lnTo>
                    <a:pt x="5195570" y="670560"/>
                  </a:lnTo>
                  <a:lnTo>
                    <a:pt x="5207000" y="670560"/>
                  </a:lnTo>
                  <a:lnTo>
                    <a:pt x="5207000" y="144780"/>
                  </a:lnTo>
                  <a:lnTo>
                    <a:pt x="5207000" y="0"/>
                  </a:lnTo>
                  <a:close/>
                </a:path>
                <a:path w="5252720" h="716279">
                  <a:moveTo>
                    <a:pt x="5252720" y="144780"/>
                  </a:moveTo>
                  <a:lnTo>
                    <a:pt x="5218430" y="144780"/>
                  </a:lnTo>
                  <a:lnTo>
                    <a:pt x="5218430" y="681990"/>
                  </a:lnTo>
                  <a:lnTo>
                    <a:pt x="34290" y="681990"/>
                  </a:lnTo>
                  <a:lnTo>
                    <a:pt x="34290" y="144780"/>
                  </a:lnTo>
                  <a:lnTo>
                    <a:pt x="0" y="144780"/>
                  </a:lnTo>
                  <a:lnTo>
                    <a:pt x="0" y="716280"/>
                  </a:lnTo>
                  <a:lnTo>
                    <a:pt x="34290" y="716280"/>
                  </a:lnTo>
                  <a:lnTo>
                    <a:pt x="5218430" y="716280"/>
                  </a:lnTo>
                  <a:lnTo>
                    <a:pt x="5252720" y="716280"/>
                  </a:lnTo>
                  <a:lnTo>
                    <a:pt x="5252720" y="14478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59824" y="4895840"/>
            <a:ext cx="5243405" cy="402376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430" marR="0" lvl="0" indent="0" algn="l" defTabSz="4572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This means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that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original address</a:t>
            </a:r>
            <a:r>
              <a:rPr kumimoji="0" sz="2540" b="1" i="1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is.</a:t>
            </a:r>
            <a:endParaRPr kumimoji="0" sz="25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31688" y="5523713"/>
            <a:ext cx="4729774" cy="372555"/>
            <a:chOff x="2739389" y="6091428"/>
            <a:chExt cx="5215890" cy="410845"/>
          </a:xfrm>
        </p:grpSpPr>
        <p:sp>
          <p:nvSpPr>
            <p:cNvPr id="17" name="object 17"/>
            <p:cNvSpPr/>
            <p:nvPr/>
          </p:nvSpPr>
          <p:spPr>
            <a:xfrm>
              <a:off x="2739389" y="6091428"/>
              <a:ext cx="34290" cy="258445"/>
            </a:xfrm>
            <a:custGeom>
              <a:avLst/>
              <a:gdLst/>
              <a:ahLst/>
              <a:cxnLst/>
              <a:rect l="l" t="t" r="r" b="b"/>
              <a:pathLst>
                <a:path w="34289" h="258445">
                  <a:moveTo>
                    <a:pt x="0" y="0"/>
                  </a:moveTo>
                  <a:lnTo>
                    <a:pt x="0" y="258318"/>
                  </a:lnTo>
                  <a:lnTo>
                    <a:pt x="34289" y="258318"/>
                  </a:lnTo>
                  <a:lnTo>
                    <a:pt x="342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773679" y="6091428"/>
              <a:ext cx="5147310" cy="3535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739390" y="6091440"/>
              <a:ext cx="5215890" cy="410845"/>
            </a:xfrm>
            <a:custGeom>
              <a:avLst/>
              <a:gdLst/>
              <a:ahLst/>
              <a:cxnLst/>
              <a:rect l="l" t="t" r="r" b="b"/>
              <a:pathLst>
                <a:path w="5215890" h="410845">
                  <a:moveTo>
                    <a:pt x="5170170" y="45720"/>
                  </a:moveTo>
                  <a:lnTo>
                    <a:pt x="5158740" y="45720"/>
                  </a:lnTo>
                  <a:lnTo>
                    <a:pt x="5158740" y="57150"/>
                  </a:lnTo>
                  <a:lnTo>
                    <a:pt x="5158740" y="258318"/>
                  </a:lnTo>
                  <a:lnTo>
                    <a:pt x="5158740" y="353568"/>
                  </a:lnTo>
                  <a:lnTo>
                    <a:pt x="57150" y="353568"/>
                  </a:lnTo>
                  <a:lnTo>
                    <a:pt x="57150" y="258318"/>
                  </a:lnTo>
                  <a:lnTo>
                    <a:pt x="57150" y="57150"/>
                  </a:lnTo>
                  <a:lnTo>
                    <a:pt x="5158740" y="57150"/>
                  </a:lnTo>
                  <a:lnTo>
                    <a:pt x="515874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258318"/>
                  </a:lnTo>
                  <a:lnTo>
                    <a:pt x="45720" y="364998"/>
                  </a:lnTo>
                  <a:lnTo>
                    <a:pt x="57150" y="364998"/>
                  </a:lnTo>
                  <a:lnTo>
                    <a:pt x="5158740" y="364998"/>
                  </a:lnTo>
                  <a:lnTo>
                    <a:pt x="5170170" y="364998"/>
                  </a:lnTo>
                  <a:lnTo>
                    <a:pt x="5170170" y="258318"/>
                  </a:lnTo>
                  <a:lnTo>
                    <a:pt x="5170170" y="45720"/>
                  </a:lnTo>
                  <a:close/>
                </a:path>
                <a:path w="5215890" h="410845">
                  <a:moveTo>
                    <a:pt x="5215890" y="0"/>
                  </a:moveTo>
                  <a:lnTo>
                    <a:pt x="5181600" y="0"/>
                  </a:lnTo>
                  <a:lnTo>
                    <a:pt x="5181600" y="258318"/>
                  </a:lnTo>
                  <a:lnTo>
                    <a:pt x="5181600" y="376428"/>
                  </a:lnTo>
                  <a:lnTo>
                    <a:pt x="34290" y="376428"/>
                  </a:lnTo>
                  <a:lnTo>
                    <a:pt x="34290" y="258318"/>
                  </a:lnTo>
                  <a:lnTo>
                    <a:pt x="0" y="258318"/>
                  </a:lnTo>
                  <a:lnTo>
                    <a:pt x="0" y="410718"/>
                  </a:lnTo>
                  <a:lnTo>
                    <a:pt x="34290" y="410718"/>
                  </a:lnTo>
                  <a:lnTo>
                    <a:pt x="5181600" y="410718"/>
                  </a:lnTo>
                  <a:lnTo>
                    <a:pt x="5215890" y="410718"/>
                  </a:lnTo>
                  <a:lnTo>
                    <a:pt x="5215890" y="258318"/>
                  </a:lnTo>
                  <a:lnTo>
                    <a:pt x="521589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21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603" y="1113756"/>
            <a:ext cx="10001667" cy="441935"/>
          </a:xfrm>
          <a:prstGeom prst="rect">
            <a:avLst/>
          </a:prstGeom>
        </p:spPr>
        <p:txBody>
          <a:bodyPr vert="horz" wrap="square" lIns="0" tIns="10941" rIns="0" bIns="0" rtlCol="0" anchor="b">
            <a:spAutoFit/>
          </a:bodyPr>
          <a:lstStyle/>
          <a:p>
            <a:pPr marL="284480">
              <a:spcBef>
                <a:spcPts val="85"/>
              </a:spcBef>
              <a:tabLst>
                <a:tab pos="1235075" algn="l"/>
              </a:tabLst>
            </a:pPr>
            <a:r>
              <a:rPr spc="-5" dirty="0"/>
              <a:t>IPv6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5627" y="2016795"/>
            <a:ext cx="8842054" cy="374047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430" marR="4445" lvl="0" indent="0" algn="just" defTabSz="4572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network layer protocol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in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TCP/IP protocol  suite is currently IPv4. Although IPv4 is well designed,  data communication has evolved since the inception of  IPv4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in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the 1970s. IPv4 has some deficiencies that  </a:t>
            </a:r>
            <a:r>
              <a:rPr kumimoji="0" sz="254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make it unsuitable for the </a:t>
            </a:r>
            <a:r>
              <a:rPr kumimoji="0" sz="254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fast-growing</a:t>
            </a:r>
            <a:r>
              <a:rPr kumimoji="0" sz="2540" b="1" i="1" u="none" strike="noStrike" kern="1200" cap="none" spc="-9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 </a:t>
            </a:r>
            <a:r>
              <a:rPr kumimoji="0" sz="2540" b="1" i="1" u="none" strike="noStrike" kern="1200" cap="none" spc="-1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Internet..</a:t>
            </a:r>
            <a:endParaRPr kumimoji="0" sz="25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8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36830" marR="0" lvl="0" indent="0" algn="l" defTabSz="457200" rtl="0" eaLnBrk="1" fontAlgn="auto" latinLnBrk="0" hangingPunct="1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540" b="1" i="1" u="heavy" strike="noStrike" kern="1200" cap="none" spc="-4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 panose="02020603050405020304"/>
                <a:ea typeface="+mn-ea"/>
                <a:cs typeface="Times New Roman" panose="02020603050405020304"/>
              </a:rPr>
              <a:t>Topics </a:t>
            </a:r>
            <a:r>
              <a:rPr kumimoji="0" sz="2540" b="1" i="1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 panose="02020603050405020304"/>
                <a:ea typeface="+mn-ea"/>
                <a:cs typeface="Times New Roman" panose="02020603050405020304"/>
              </a:rPr>
              <a:t>discussed in this</a:t>
            </a:r>
            <a:r>
              <a:rPr kumimoji="0" sz="2540" b="1" i="1" u="heavy" strike="noStrike" kern="1200" cap="none" spc="-2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 panose="02020603050405020304"/>
                <a:ea typeface="+mn-ea"/>
                <a:cs typeface="Times New Roman" panose="02020603050405020304"/>
              </a:rPr>
              <a:t> </a:t>
            </a:r>
            <a:r>
              <a:rPr kumimoji="0" sz="2540" b="1" i="1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 panose="02020603050405020304"/>
                <a:ea typeface="+mn-ea"/>
                <a:cs typeface="Times New Roman" panose="02020603050405020304"/>
              </a:rPr>
              <a:t>section:</a:t>
            </a:r>
            <a:endParaRPr kumimoji="0" sz="25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  <a:p>
            <a:pPr marL="11430" marR="5081270" lvl="0" indent="0" algn="l" defTabSz="457200" rtl="0" eaLnBrk="1" fontAlgn="auto" latinLnBrk="0" hangingPunct="1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175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Advantages  </a:t>
            </a:r>
            <a:r>
              <a:rPr kumimoji="0" sz="2175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Packet </a:t>
            </a:r>
            <a:r>
              <a:rPr kumimoji="0" sz="2175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Format  </a:t>
            </a:r>
            <a:r>
              <a:rPr kumimoji="0" sz="2175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Extension</a:t>
            </a:r>
            <a:r>
              <a:rPr kumimoji="0" sz="2175" b="1" i="0" u="none" strike="noStrike" kern="1200" cap="none" spc="-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 </a:t>
            </a:r>
            <a:r>
              <a:rPr kumimoji="0" sz="2175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</a:rPr>
              <a:t>Headers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50232" y="5757265"/>
            <a:ext cx="8291788" cy="778506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22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4966436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IPv6 datagram header and</a:t>
            </a:r>
            <a:r>
              <a:rPr sz="1815" i="1" spc="-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payload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4821" y="2389416"/>
            <a:ext cx="6747443" cy="23555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23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6499" y="844179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6092" y="1170189"/>
            <a:ext cx="4367009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Format of an IPv6</a:t>
            </a:r>
            <a:r>
              <a:rPr sz="1815" i="1" spc="-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15" i="1" spc="-5" dirty="0">
                <a:latin typeface="Times New Roman" panose="02020603050405020304"/>
                <a:cs typeface="Times New Roman" panose="02020603050405020304"/>
              </a:rPr>
              <a:t>datagram</a:t>
            </a:r>
            <a:endParaRPr sz="18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6499" y="1630518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4293" y="2118453"/>
            <a:ext cx="6337787" cy="38893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8428" y="6086172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155" y="1172501"/>
            <a:ext cx="8033103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350645" algn="l"/>
              </a:tabLst>
            </a:pPr>
            <a:r>
              <a:rPr sz="2400" i="1" spc="-5" dirty="0">
                <a:latin typeface="Times New Roman" panose="02020603050405020304"/>
                <a:cs typeface="Times New Roman" panose="02020603050405020304"/>
              </a:rPr>
              <a:t>Next header codes for</a:t>
            </a:r>
            <a:r>
              <a:rPr sz="2400" i="1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spc="-5" dirty="0">
                <a:latin typeface="Times New Roman" panose="02020603050405020304"/>
                <a:cs typeface="Times New Roman" panose="02020603050405020304"/>
              </a:rPr>
              <a:t>IPv6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2831" y="1958260"/>
            <a:ext cx="5376534" cy="48258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25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585" y="1084667"/>
            <a:ext cx="7831611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350645" algn="l"/>
              </a:tabLst>
            </a:pPr>
            <a:r>
              <a:rPr sz="2400" i="1" spc="-5" dirty="0">
                <a:latin typeface="Times New Roman" panose="02020603050405020304"/>
                <a:cs typeface="Times New Roman" panose="02020603050405020304"/>
              </a:rPr>
              <a:t>Priorities for congestion-controlled</a:t>
            </a:r>
            <a:r>
              <a:rPr sz="240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spc="-9" dirty="0">
                <a:latin typeface="Times New Roman" panose="02020603050405020304"/>
                <a:cs typeface="Times New Roman" panose="02020603050405020304"/>
              </a:rPr>
              <a:t>traffic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5631" y="1849349"/>
            <a:ext cx="8817663" cy="29623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26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2585631" y="4811654"/>
            <a:ext cx="5880276" cy="1879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886" y="971651"/>
            <a:ext cx="8031945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350645" algn="l"/>
              </a:tabLst>
            </a:pPr>
            <a:r>
              <a:rPr sz="2400" i="1" spc="-5" dirty="0">
                <a:latin typeface="Times New Roman" panose="02020603050405020304"/>
                <a:cs typeface="Times New Roman" panose="02020603050405020304"/>
              </a:rPr>
              <a:t>Comparison between IPv4 and IPv6 packet</a:t>
            </a:r>
            <a:r>
              <a:rPr sz="2400" i="1" spc="3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spc="-5" dirty="0">
                <a:latin typeface="Times New Roman" panose="02020603050405020304"/>
                <a:cs typeface="Times New Roman" panose="02020603050405020304"/>
              </a:rPr>
              <a:t>headers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291" y="2193613"/>
            <a:ext cx="7925418" cy="4279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896" y="953411"/>
            <a:ext cx="4821971" cy="442516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616075" algn="l"/>
              </a:tabLst>
            </a:pPr>
            <a:r>
              <a:rPr i="1" spc="-5" dirty="0">
                <a:latin typeface="Times New Roman" panose="02020603050405020304"/>
                <a:cs typeface="Times New Roman" panose="02020603050405020304"/>
              </a:rPr>
              <a:t>Extension header</a:t>
            </a:r>
            <a:r>
              <a:rPr i="1" spc="-3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spc="-5" dirty="0">
                <a:latin typeface="Times New Roman" panose="02020603050405020304"/>
                <a:cs typeface="Times New Roman" panose="02020603050405020304"/>
              </a:rPr>
              <a:t>types</a:t>
            </a:r>
            <a:endParaRPr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03902" y="1974827"/>
            <a:ext cx="6117957" cy="3172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28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" y="0"/>
            <a:ext cx="12069445" cy="67951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246380" y="81280"/>
            <a:ext cx="15430500" cy="69361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430" y="962863"/>
            <a:ext cx="10020694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430">
              <a:spcBef>
                <a:spcPts val="90"/>
              </a:spcBef>
              <a:tabLst>
                <a:tab pos="1488440" algn="l"/>
              </a:tabLst>
            </a:pPr>
            <a:r>
              <a:rPr sz="2400" i="1" spc="-5" dirty="0">
                <a:latin typeface="Times New Roman" panose="02020603050405020304"/>
                <a:cs typeface="Times New Roman" panose="02020603050405020304"/>
              </a:rPr>
              <a:t>Comparison between IPv4 options and IPv6 extension</a:t>
            </a:r>
            <a:r>
              <a:rPr sz="2400" i="1" spc="5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spc="-5" dirty="0">
                <a:latin typeface="Times New Roman" panose="02020603050405020304"/>
                <a:cs typeface="Times New Roman" panose="02020603050405020304"/>
              </a:rPr>
              <a:t>headers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31303" y="2158077"/>
            <a:ext cx="8048563" cy="335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32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78594" name="Straight Connector 878593"/>
          <p:cNvSpPr/>
          <p:nvPr/>
        </p:nvSpPr>
        <p:spPr>
          <a:xfrm>
            <a:off x="1676400" y="533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8595" name="Straight Connector 878594"/>
          <p:cNvSpPr/>
          <p:nvPr/>
        </p:nvSpPr>
        <p:spPr>
          <a:xfrm>
            <a:off x="1676400" y="1371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8596" name="Text Box 878595"/>
          <p:cNvSpPr txBox="1"/>
          <p:nvPr/>
        </p:nvSpPr>
        <p:spPr>
          <a:xfrm>
            <a:off x="1828800" y="762000"/>
            <a:ext cx="458025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20.18  </a:t>
            </a:r>
            <a:r>
              <a:rPr sz="2000" i="1">
                <a:latin typeface="Times New Roman" panose="02020603050405020304" pitchFamily="18" charset="0"/>
              </a:rPr>
              <a:t>Three transition strategies</a:t>
            </a:r>
          </a:p>
        </p:txBody>
      </p:sp>
      <p:sp>
        <p:nvSpPr>
          <p:cNvPr id="878597" name="Straight Connector 878596"/>
          <p:cNvSpPr/>
          <p:nvPr/>
        </p:nvSpPr>
        <p:spPr>
          <a:xfrm>
            <a:off x="1676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78598" name="Picture 8785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316163"/>
            <a:ext cx="6929438" cy="2103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33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60162" name="Rectangles 86016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60163" name="Text Box 860162"/>
          <p:cNvSpPr txBox="1"/>
          <p:nvPr/>
        </p:nvSpPr>
        <p:spPr>
          <a:xfrm>
            <a:off x="1752600" y="406400"/>
            <a:ext cx="417639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>
                <a:effectLst>
                  <a:outerShdw blurRad="38100" dist="38100" dir="2700000">
                    <a:srgbClr val="C0C0C0"/>
                  </a:outerShdw>
                </a:effectLst>
                <a:latin typeface="Times" pitchFamily="18" charset="0"/>
              </a:rPr>
              <a:t>20-4   TRANSITION FROM IPv4 TO IPv6</a:t>
            </a:r>
          </a:p>
        </p:txBody>
      </p:sp>
      <p:sp>
        <p:nvSpPr>
          <p:cNvPr id="860164" name="Text Box 860163"/>
          <p:cNvSpPr txBox="1"/>
          <p:nvPr/>
        </p:nvSpPr>
        <p:spPr>
          <a:xfrm>
            <a:off x="9753600" y="64008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 sz="1800">
              <a:latin typeface="Times New Roman" panose="02020603050405020304" pitchFamily="18" charset="0"/>
            </a:endParaRPr>
          </a:p>
        </p:txBody>
      </p:sp>
      <p:sp>
        <p:nvSpPr>
          <p:cNvPr id="860165" name="Rectangles 860164"/>
          <p:cNvSpPr/>
          <p:nvPr/>
        </p:nvSpPr>
        <p:spPr>
          <a:xfrm>
            <a:off x="142875" y="1944370"/>
            <a:ext cx="1204976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just" eaLnBrk="1" hangingPunct="1"/>
            <a:r>
              <a:rPr sz="2800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Because of the huge number of systems on the Internet, the transition from IPv4 to IPv6 cannot happen suddenly. It takes a considerable amount of time before every system in the Internet can move from IPv4 to IPv6. The transition must be smooth to prevent any problems between IPv4 and IPv6 systems. </a:t>
            </a:r>
          </a:p>
        </p:txBody>
      </p:sp>
      <p:sp>
        <p:nvSpPr>
          <p:cNvPr id="860166" name="Rectangles 860165"/>
          <p:cNvSpPr/>
          <p:nvPr/>
        </p:nvSpPr>
        <p:spPr>
          <a:xfrm>
            <a:off x="1676400" y="5124450"/>
            <a:ext cx="67056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</a:pPr>
            <a:r>
              <a:rPr sz="2400">
                <a:solidFill>
                  <a:srgbClr val="0033CC"/>
                </a:solidFill>
                <a:latin typeface="Times New Roman" panose="02020603050405020304" pitchFamily="18" charset="0"/>
              </a:rPr>
              <a:t>Dual Stack</a:t>
            </a:r>
            <a:br>
              <a:rPr lang="fr-FR" altLang="x-none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x-none" sz="2400" err="1">
                <a:solidFill>
                  <a:srgbClr val="0033CC"/>
                </a:solidFill>
                <a:latin typeface="Times New Roman" panose="02020603050405020304" pitchFamily="18" charset="0"/>
              </a:rPr>
              <a:t>Tunneling</a:t>
            </a:r>
            <a:br>
              <a:rPr lang="fr-FR" altLang="x-none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x-none" sz="2400">
                <a:solidFill>
                  <a:srgbClr val="0033CC"/>
                </a:solidFill>
                <a:latin typeface="Times New Roman" panose="02020603050405020304" pitchFamily="18" charset="0"/>
              </a:rPr>
              <a:t>Header Translation</a:t>
            </a:r>
            <a:endParaRPr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167" name="Text Box 860166"/>
          <p:cNvSpPr txBox="1"/>
          <p:nvPr/>
        </p:nvSpPr>
        <p:spPr>
          <a:xfrm>
            <a:off x="1752442" y="4410075"/>
            <a:ext cx="4735830" cy="521970"/>
          </a:xfrm>
          <a:prstGeom prst="rect">
            <a:avLst/>
          </a:prstGeom>
          <a:noFill/>
          <a:ln w="762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sz="2800" i="1" u="sng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34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79618" name="Straight Connector 879617"/>
          <p:cNvSpPr/>
          <p:nvPr/>
        </p:nvSpPr>
        <p:spPr>
          <a:xfrm>
            <a:off x="1676400" y="533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9619" name="Straight Connector 879618"/>
          <p:cNvSpPr/>
          <p:nvPr/>
        </p:nvSpPr>
        <p:spPr>
          <a:xfrm>
            <a:off x="1676400" y="1371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9620" name="Text Box 879619"/>
          <p:cNvSpPr txBox="1"/>
          <p:nvPr/>
        </p:nvSpPr>
        <p:spPr>
          <a:xfrm>
            <a:off x="1828800" y="762000"/>
            <a:ext cx="291084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20.19 </a:t>
            </a:r>
            <a:r>
              <a:rPr sz="2000" i="1">
                <a:latin typeface="Times New Roman" panose="02020603050405020304" pitchFamily="18" charset="0"/>
              </a:rPr>
              <a:t>Dual stack</a:t>
            </a:r>
          </a:p>
        </p:txBody>
      </p:sp>
      <p:sp>
        <p:nvSpPr>
          <p:cNvPr id="879621" name="Straight Connector 879620"/>
          <p:cNvSpPr/>
          <p:nvPr/>
        </p:nvSpPr>
        <p:spPr>
          <a:xfrm>
            <a:off x="1676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79622" name="Picture 8796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839913"/>
            <a:ext cx="8034338" cy="3875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35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80642" name="Straight Connector 880641"/>
          <p:cNvSpPr/>
          <p:nvPr/>
        </p:nvSpPr>
        <p:spPr>
          <a:xfrm>
            <a:off x="1676400" y="533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643" name="Straight Connector 880642"/>
          <p:cNvSpPr/>
          <p:nvPr/>
        </p:nvSpPr>
        <p:spPr>
          <a:xfrm>
            <a:off x="1676400" y="1371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644" name="Text Box 880643"/>
          <p:cNvSpPr txBox="1"/>
          <p:nvPr/>
        </p:nvSpPr>
        <p:spPr>
          <a:xfrm>
            <a:off x="1828800" y="762000"/>
            <a:ext cx="37909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20.20  </a:t>
            </a:r>
            <a:r>
              <a:rPr sz="2000" i="1">
                <a:latin typeface="Times New Roman" panose="02020603050405020304" pitchFamily="18" charset="0"/>
              </a:rPr>
              <a:t>Tunneling strategy</a:t>
            </a:r>
          </a:p>
        </p:txBody>
      </p:sp>
      <p:sp>
        <p:nvSpPr>
          <p:cNvPr id="880645" name="Straight Connector 880644"/>
          <p:cNvSpPr/>
          <p:nvPr/>
        </p:nvSpPr>
        <p:spPr>
          <a:xfrm>
            <a:off x="1676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80646" name="Picture 8806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788" y="2133600"/>
            <a:ext cx="8355012" cy="257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36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81666" name="Straight Connector 881665"/>
          <p:cNvSpPr/>
          <p:nvPr/>
        </p:nvSpPr>
        <p:spPr>
          <a:xfrm>
            <a:off x="1676400" y="533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1667" name="Straight Connector 881666"/>
          <p:cNvSpPr/>
          <p:nvPr/>
        </p:nvSpPr>
        <p:spPr>
          <a:xfrm>
            <a:off x="1676400" y="1371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1668" name="Text Box 881667"/>
          <p:cNvSpPr txBox="1"/>
          <p:nvPr/>
        </p:nvSpPr>
        <p:spPr>
          <a:xfrm>
            <a:off x="1828800" y="762000"/>
            <a:ext cx="47167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20.21  </a:t>
            </a:r>
            <a:r>
              <a:rPr sz="2000" i="1">
                <a:latin typeface="Times New Roman" panose="02020603050405020304" pitchFamily="18" charset="0"/>
              </a:rPr>
              <a:t>Header translation strategy</a:t>
            </a:r>
          </a:p>
        </p:txBody>
      </p:sp>
      <p:sp>
        <p:nvSpPr>
          <p:cNvPr id="881669" name="Straight Connector 881668"/>
          <p:cNvSpPr/>
          <p:nvPr/>
        </p:nvSpPr>
        <p:spPr>
          <a:xfrm>
            <a:off x="1676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81670" name="Picture 8816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788" y="2611438"/>
            <a:ext cx="8355012" cy="1960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r>
              <a:t>20.</a:t>
            </a:r>
            <a:fld id="{9A0DB2DC-4C9A-4742-B13C-FB6460FD3503}" type="slidenum">
              <a:rPr lang="en-US" sz="2000" b="1">
                <a:solidFill>
                  <a:schemeClr val="bg2"/>
                </a:solidFill>
                <a:latin typeface="Arial" panose="020B0604020202020204" pitchFamily="34" charset="0"/>
              </a:rPr>
              <a:t>38</a:t>
            </a:fld>
            <a:endParaRPr 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97026" name="Text Box 897025"/>
          <p:cNvSpPr txBox="1"/>
          <p:nvPr/>
        </p:nvSpPr>
        <p:spPr>
          <a:xfrm>
            <a:off x="1828800" y="533400"/>
            <a:ext cx="36988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20.11  </a:t>
            </a:r>
            <a:r>
              <a:rPr sz="2000" i="1">
                <a:latin typeface="Times New Roman" panose="02020603050405020304" pitchFamily="18" charset="0"/>
              </a:rPr>
              <a:t>Header translation</a:t>
            </a:r>
          </a:p>
        </p:txBody>
      </p:sp>
      <p:pic>
        <p:nvPicPr>
          <p:cNvPr id="897028" name="Picture 8970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990600"/>
            <a:ext cx="8839200" cy="3865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2844" y="2302412"/>
            <a:ext cx="6654018" cy="4731434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IPv4 Header format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IPv6 Header format</a:t>
            </a:r>
          </a:p>
          <a:p>
            <a:endParaRPr lang="en-US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818056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1. With a neat sketch describe the fields of IPv4 header.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With a neat sketch describe the fields of IPv6 header. 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Behrouz A. </a:t>
            </a:r>
            <a:r>
              <a:rPr lang="en-US" dirty="0" err="1"/>
              <a:t>Forouzan</a:t>
            </a:r>
            <a:r>
              <a:rPr lang="en-US" dirty="0"/>
              <a:t> , “Data Communication and Networking”, TMH, 5th Edition, 2012.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135944" y="18950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/>
                <a:cs typeface="Poppins"/>
              </a:rPr>
              <a:t>Team – Computer Networks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8759" y="272869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3317</Words>
  <Application>Microsoft Office PowerPoint</Application>
  <PresentationFormat>Widescreen</PresentationFormat>
  <Paragraphs>173</Paragraphs>
  <Slides>42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Office Theme</vt:lpstr>
      <vt:lpstr>Dividend</vt:lpstr>
      <vt:lpstr>1_Dividend</vt:lpstr>
      <vt:lpstr>Blends</vt:lpstr>
      <vt:lpstr>PowerPoint Presentation</vt:lpstr>
      <vt:lpstr>PowerPoint Presentation</vt:lpstr>
      <vt:lpstr> IPv4 datagram format</vt:lpstr>
      <vt:lpstr>Service type or differentiated services</vt:lpstr>
      <vt:lpstr>Types of service</vt:lpstr>
      <vt:lpstr>Values for codepoints</vt:lpstr>
      <vt:lpstr>PowerPoint Presentation</vt:lpstr>
      <vt:lpstr>Encapsulation of a small datagram in an Ethernet frame</vt:lpstr>
      <vt:lpstr>Figure Maximum transfer unit (MTU)</vt:lpstr>
      <vt:lpstr>MTUs for some networks</vt:lpstr>
      <vt:lpstr>Flags used in fragmentation</vt:lpstr>
      <vt:lpstr>Fragmentation example</vt:lpstr>
      <vt:lpstr>Detailed fragmentation example</vt:lpstr>
      <vt:lpstr>Protocol field and encapsulated data</vt:lpstr>
      <vt:lpstr>Protocol values</vt:lpstr>
      <vt:lpstr>Taxonomy of options in IPv4</vt:lpstr>
      <vt:lpstr>IPV6</vt:lpstr>
      <vt:lpstr>IPv6 address in binary and hexadecimal colon notation</vt:lpstr>
      <vt:lpstr>PowerPoint Presentation</vt:lpstr>
      <vt:lpstr>Abbreviated IPv6 addresses</vt:lpstr>
      <vt:lpstr>PowerPoint Presentation</vt:lpstr>
      <vt:lpstr>IPv6</vt:lpstr>
      <vt:lpstr>IPv6 datagram header and payload</vt:lpstr>
      <vt:lpstr>Format of an IPv6 datagram</vt:lpstr>
      <vt:lpstr>Next header codes for IPv6</vt:lpstr>
      <vt:lpstr>Priorities for congestion-controlled traffic</vt:lpstr>
      <vt:lpstr>Comparison between IPv4 and IPv6 packet headers</vt:lpstr>
      <vt:lpstr>Extension header types</vt:lpstr>
      <vt:lpstr>PowerPoint Presentation</vt:lpstr>
      <vt:lpstr>PowerPoint Presentation</vt:lpstr>
      <vt:lpstr>Comparison between IPv4 options and IPv6 extension headers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hierarchy in an IPv4 address</dc:title>
  <dc:creator>preetham chiramana</dc:creator>
  <cp:lastModifiedBy>Annapurna Gandrety</cp:lastModifiedBy>
  <cp:revision>27</cp:revision>
  <dcterms:created xsi:type="dcterms:W3CDTF">2020-11-27T13:34:00Z</dcterms:created>
  <dcterms:modified xsi:type="dcterms:W3CDTF">2025-07-15T05:01:03Z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52B8523A4DE84F22A4C3AB9AD32BE034_12</vt:lpwstr>
  </property>
  <property fmtid="{D5CDD505-2E9C-101B-9397-08002B2CF9AE}" pid="3" name="KSOProductBuildVer">
    <vt:lpwstr>1033-12.2.0.20795</vt:lpwstr>
  </property>
</Properties>
</file>