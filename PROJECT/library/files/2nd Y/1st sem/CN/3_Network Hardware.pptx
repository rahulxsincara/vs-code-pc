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271" r:id="rId5"/>
    <p:sldId id="300" r:id="rId6"/>
    <p:sldId id="258" r:id="rId7"/>
    <p:sldId id="309" r:id="rId8"/>
    <p:sldId id="261" r:id="rId9"/>
    <p:sldId id="262" r:id="rId10"/>
    <p:sldId id="263" r:id="rId11"/>
    <p:sldId id="264" r:id="rId12"/>
    <p:sldId id="265" r:id="rId13"/>
    <p:sldId id="260" r:id="rId14"/>
    <p:sldId id="267" r:id="rId15"/>
    <p:sldId id="269" r:id="rId16"/>
    <p:sldId id="268" r:id="rId17"/>
    <p:sldId id="270" r:id="rId18"/>
    <p:sldId id="259" r:id="rId19"/>
    <p:sldId id="314" r:id="rId20"/>
    <p:sldId id="315" r:id="rId21"/>
    <p:sldId id="310" r:id="rId22"/>
    <p:sldId id="276" r:id="rId23"/>
    <p:sldId id="277" r:id="rId24"/>
    <p:sldId id="316" r:id="rId25"/>
    <p:sldId id="278" r:id="rId26"/>
    <p:sldId id="317" r:id="rId27"/>
    <p:sldId id="279" r:id="rId28"/>
    <p:sldId id="318" r:id="rId29"/>
    <p:sldId id="280" r:id="rId30"/>
    <p:sldId id="281" r:id="rId31"/>
    <p:sldId id="282" r:id="rId32"/>
    <p:sldId id="311" r:id="rId33"/>
    <p:sldId id="313" r:id="rId34"/>
    <p:sldId id="287" r:id="rId35"/>
    <p:sldId id="283" r:id="rId36"/>
    <p:sldId id="284" r:id="rId37"/>
    <p:sldId id="285" r:id="rId38"/>
    <p:sldId id="286" r:id="rId39"/>
    <p:sldId id="297" r:id="rId40"/>
    <p:sldId id="298" r:id="rId41"/>
    <p:sldId id="288" r:id="rId42"/>
    <p:sldId id="302" r:id="rId43"/>
    <p:sldId id="303" r:id="rId44"/>
    <p:sldId id="30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F33"/>
    <a:srgbClr val="BA2532"/>
    <a:srgbClr val="FF9900"/>
    <a:srgbClr val="E84845"/>
    <a:srgbClr val="FAD2D2"/>
    <a:srgbClr val="F89E4C"/>
    <a:srgbClr val="A81E24"/>
    <a:srgbClr val="FFF2CC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-81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A67A5-E756-442F-9DCC-6A22BB1350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81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COMPUTER NETWORKS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24CS2202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Network hardware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CSE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network topologies and different types of computer networks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network topologies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different types of networks based on transmission technology and scale.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modes of data transmission.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53557" y="4772230"/>
            <a:ext cx="10199071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topology and describe the way how </a:t>
            </a:r>
            <a:r>
              <a:rPr lang="en-US" sz="1600" dirty="0">
                <a:latin typeface="Arial" panose="020B0604020202020204" pitchFamily="34" charset="0"/>
              </a:rPr>
              <a:t>systems are connected using different topologies.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Illustrate different types of networks based on transmission technology used and on geographical area.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modes of data transmission. 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AB537D-1F06-ED24-7B76-3E4905C39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6" y="1636084"/>
            <a:ext cx="6063175" cy="44172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>
                <a:latin typeface="Goudy Old Style" panose="02020502050305020303" pitchFamily="18" charset="0"/>
              </a:rPr>
              <a:t>Network Hardware:</a:t>
            </a:r>
          </a:p>
          <a:p>
            <a:pPr algn="just"/>
            <a:r>
              <a:rPr lang="en-US" sz="2400" dirty="0">
                <a:latin typeface="Goudy Old Style" panose="02020502050305020303" pitchFamily="18" charset="0"/>
              </a:rPr>
              <a:t>Deals with technical issues involved in network design.</a:t>
            </a:r>
          </a:p>
          <a:p>
            <a:pPr marL="0" indent="0" algn="just">
              <a:buNone/>
            </a:pPr>
            <a:endParaRPr lang="en-US" sz="2400" dirty="0">
              <a:latin typeface="Goudy Old Style" panose="02020502050305020303" pitchFamily="18" charset="0"/>
            </a:endParaRPr>
          </a:p>
          <a:p>
            <a:pPr algn="just"/>
            <a:r>
              <a:rPr lang="en-US" sz="2400" dirty="0">
                <a:latin typeface="Goudy Old Style" panose="02020502050305020303" pitchFamily="18" charset="0"/>
              </a:rPr>
              <a:t>Two dimensions: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Transmission technology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Scale.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03CC2-0362-9E34-4ACF-2B8C99CD5355}"/>
              </a:ext>
            </a:extLst>
          </p:cNvPr>
          <p:cNvSpPr txBox="1"/>
          <p:nvPr/>
        </p:nvSpPr>
        <p:spPr>
          <a:xfrm>
            <a:off x="7146387" y="1989919"/>
            <a:ext cx="4353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A Computer Network consists of a collection of computers, printers and other equipment that is connected together so that they can communicate with </a:t>
            </a:r>
          </a:p>
          <a:p>
            <a:pPr algn="ctr"/>
            <a:r>
              <a:rPr lang="en-US" sz="24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each other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F05FC-A1FD-DD98-07CD-34AC48218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579" y="1539860"/>
            <a:ext cx="5439237" cy="422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16" y="2122118"/>
            <a:ext cx="7026813" cy="3151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sz="2400" dirty="0">
                <a:latin typeface="Goudy Old Style" panose="02020502050305020303" pitchFamily="18" charset="0"/>
              </a:rPr>
              <a:t>Transmission is actually the process of sending and propagating signals of digital information.</a:t>
            </a:r>
            <a:br>
              <a:rPr lang="en-US" sz="2400" dirty="0">
                <a:latin typeface="Goudy Old Style" panose="02020502050305020303" pitchFamily="18" charset="0"/>
              </a:rPr>
            </a:br>
            <a:br>
              <a:rPr lang="en-US" sz="2400" dirty="0">
                <a:latin typeface="Goudy Old Style" panose="02020502050305020303" pitchFamily="18" charset="0"/>
              </a:rPr>
            </a:br>
            <a:br>
              <a:rPr lang="en-US" sz="2400" dirty="0">
                <a:latin typeface="Goudy Old Style" panose="02020502050305020303" pitchFamily="18" charset="0"/>
              </a:rPr>
            </a:br>
            <a:r>
              <a:rPr lang="en-US" sz="2400" dirty="0">
                <a:latin typeface="Goudy Old Style" panose="02020502050305020303" pitchFamily="18" charset="0"/>
              </a:rPr>
              <a:t>Transmission technology generally refers to physical layer protocol duties like modulation, demodulation, line coding, etc. 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4E3CE04-983F-4AEB-A87D-FF76DEBB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636" y="1336431"/>
            <a:ext cx="4370363" cy="4722538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AD162FBC-4C3E-52AC-FCBE-C611DE513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87830F5-3D90-9CEA-7D4C-624A51B01DE9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TECHNOLOGY </a:t>
            </a:r>
          </a:p>
        </p:txBody>
      </p:sp>
    </p:spTree>
    <p:extLst>
      <p:ext uri="{BB962C8B-B14F-4D97-AF65-F5344CB8AC3E}">
        <p14:creationId xmlns:p14="http://schemas.microsoft.com/office/powerpoint/2010/main" val="16038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5" y="389745"/>
            <a:ext cx="7575240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" y="2198362"/>
            <a:ext cx="7374487" cy="42698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300" b="1" i="0" u="none" strike="noStrike" baseline="0" dirty="0">
                <a:latin typeface="Goudy Old Style" panose="02020502050305020303" pitchFamily="18" charset="0"/>
              </a:rPr>
              <a:t>Broadcast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Have single communication channel that is shared by all the machines on the network.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Short messages(Packets) sent by any machine are received by all the others.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An address field within the packet specifies the intended recipient.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Upon receiving a packet, a machine checks the address field.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If the packet is intended for the receiving machine, that machine processes the packet.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If the packet is intended for some other machine, it is just ignored.</a:t>
            </a:r>
          </a:p>
          <a:p>
            <a:pPr marL="0" indent="0">
              <a:buNone/>
            </a:pP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endParaRPr lang="en-US" sz="14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8775578-585E-4534-9B98-B8AEED7E9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9767" y="2198362"/>
            <a:ext cx="4482232" cy="352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C52B8C7D-43D7-7740-371D-CE3893EE7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284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757" y="389745"/>
            <a:ext cx="7462698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2061836"/>
            <a:ext cx="5394960" cy="479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Multicast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Some broadcast systems also support transmission to a subset of the machines, known as </a:t>
            </a:r>
            <a:r>
              <a:rPr lang="en-US" sz="2100" b="1" dirty="0">
                <a:latin typeface="Goudy Old Style" panose="02020502050305020303" pitchFamily="18" charset="0"/>
              </a:rPr>
              <a:t>multicasting.</a:t>
            </a:r>
            <a:r>
              <a:rPr lang="en-US" sz="2100" dirty="0">
                <a:latin typeface="Goudy Old Style" panose="02020502050305020303" pitchFamily="18" charset="0"/>
              </a:rPr>
              <a:t> 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210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One possible scheme is to reserve one bit to indicate multicasting. The remaining n</a:t>
            </a:r>
            <a:r>
              <a:rPr lang="en-US" sz="2100" dirty="0"/>
              <a:t>-</a:t>
            </a:r>
            <a:r>
              <a:rPr lang="en-US" sz="2100" dirty="0">
                <a:latin typeface="Goudy Old Style" panose="02020502050305020303" pitchFamily="18" charset="0"/>
              </a:rPr>
              <a:t>1 address bits can hold a group number. 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10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When a packet is sent to a certain group, it is delivered to all machines subscribing to that group.</a:t>
            </a:r>
          </a:p>
          <a:p>
            <a:pPr marL="0" indent="0">
              <a:buNone/>
            </a:pP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D2619-39B2-4EB4-80BB-F40F86F09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350" y="1663909"/>
            <a:ext cx="6101106" cy="4804345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89B9A5AC-FC2C-4C81-574F-D0DEF346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416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163" y="389745"/>
            <a:ext cx="7378292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2451581"/>
            <a:ext cx="11430896" cy="37578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Point-to-Point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Point-to-point networks consist of many connections between individual pairs of machines.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Often multiple routes, of different lengths, are possible, so finding good ones is important in point-to-point networks.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Usually, smaller geographically localized networks tend to use broadcasting, whereas larger networks usually are point-to-point.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Point-to-point transmission with one sender and one receiver is sometimes called </a:t>
            </a:r>
            <a:r>
              <a:rPr lang="en-US" sz="2600" b="1" u="sng" dirty="0">
                <a:latin typeface="Goudy Old Style" panose="02020502050305020303" pitchFamily="18" charset="0"/>
              </a:rPr>
              <a:t>Unicasting.</a:t>
            </a:r>
            <a:endParaRPr lang="en-US" sz="1900" b="1" i="0" u="sng" strike="noStrike" baseline="0" dirty="0">
              <a:latin typeface="Goudy Old Style" panose="02020502050305020303" pitchFamily="18" charset="0"/>
            </a:endParaRP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B4E8-6A65-4EE0-87D9-082D26B5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088" y="1774814"/>
            <a:ext cx="6311517" cy="1048622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5C1D28E3-CA7C-680B-DB2C-9EF089A10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210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554" y="389745"/>
            <a:ext cx="7504901" cy="884420"/>
          </a:xfrm>
        </p:spPr>
        <p:txBody>
          <a:bodyPr>
            <a:normAutofit/>
          </a:bodyPr>
          <a:lstStyle/>
          <a:p>
            <a:r>
              <a:rPr lang="en-US" b="1" dirty="0"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8255E-A4E7-48E3-B4DB-5C79C0E7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8610852-BEAD-443E-82C6-026EFE988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910" y="2451581"/>
            <a:ext cx="8779546" cy="318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E4630E67-8E96-86D2-6291-5C6B985E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13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9" y="2194102"/>
            <a:ext cx="444983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Goudy Old Style" panose="02020502050305020303" pitchFamily="18" charset="0"/>
              </a:rPr>
              <a:t>A computer network can be categorized by their size.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Goudy Old Style" panose="02020502050305020303" pitchFamily="18" charset="0"/>
              </a:rPr>
              <a:t>Four types</a:t>
            </a:r>
            <a:r>
              <a:rPr lang="en-US" sz="2400" b="0" i="0" dirty="0">
                <a:effectLst/>
                <a:latin typeface="Goudy Old Style" panose="02020502050305020303" pitchFamily="18" charset="0"/>
              </a:rPr>
              <a:t>: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PAN(Personal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LAN(Local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MAN(Metropolitan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WAN(Wide Area Network)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3B874-CAAF-44B7-BDF8-FB63EAB9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853861"/>
            <a:ext cx="6155141" cy="3174018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9D3ECCC-0D65-2522-2F61-78C8B0FC580B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COMPUTER NETWORKS BASED ON SCALE</a:t>
            </a:r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6586AE2-5E2F-EB4A-E961-3953BD43E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216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394" y="149087"/>
            <a:ext cx="6092950" cy="796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PAN (Personal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94" y="1291254"/>
            <a:ext cx="5827363" cy="482804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Personal Area Network is a network arranged within an individual person, typically within a range of 1 to 10 meters.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PAN is used for connecting the computer devices of personal use.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Personal computer devices that are used to develop the personal area network are the laptop, mobile phones, media player and play stations.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There are two types of Personal Area Network:</a:t>
            </a:r>
          </a:p>
          <a:p>
            <a:pPr lvl="1"/>
            <a:r>
              <a:rPr lang="en-US" sz="1600" b="1" dirty="0">
                <a:latin typeface="Goudy Old Style" panose="02020502050305020303" pitchFamily="18" charset="0"/>
              </a:rPr>
              <a:t>Wired Personal Area Network (USB)</a:t>
            </a:r>
          </a:p>
          <a:p>
            <a:pPr lvl="1"/>
            <a:r>
              <a:rPr lang="en-US" sz="1600" b="1" dirty="0">
                <a:latin typeface="Goudy Old Style" panose="02020502050305020303" pitchFamily="18" charset="0"/>
              </a:rPr>
              <a:t>Wireless Personal Area Network (</a:t>
            </a:r>
            <a:r>
              <a:rPr lang="en-US" sz="1600" b="1" dirty="0" err="1">
                <a:latin typeface="Goudy Old Style" panose="02020502050305020303" pitchFamily="18" charset="0"/>
              </a:rPr>
              <a:t>Wifi</a:t>
            </a:r>
            <a:r>
              <a:rPr lang="en-US" sz="1600" b="1" dirty="0">
                <a:latin typeface="Goudy Old Style" panose="02020502050305020303" pitchFamily="18" charset="0"/>
              </a:rPr>
              <a:t>, Bluetooth, </a:t>
            </a:r>
            <a:r>
              <a:rPr lang="en-US" sz="1600" b="1" dirty="0" err="1">
                <a:latin typeface="Goudy Old Style" panose="02020502050305020303" pitchFamily="18" charset="0"/>
              </a:rPr>
              <a:t>etc</a:t>
            </a:r>
            <a:r>
              <a:rPr lang="en-US" sz="1600" b="1" dirty="0">
                <a:latin typeface="Goudy Old Style" panose="02020502050305020303" pitchFamily="18" charset="0"/>
              </a:rPr>
              <a:t>)</a:t>
            </a: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EEA27E-236E-4CA8-8FF1-E48FED5EE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09" y="1782619"/>
            <a:ext cx="4475531" cy="3289515"/>
          </a:xfrm>
          <a:prstGeom prst="rect">
            <a:avLst/>
          </a:prstGeom>
          <a:effectLst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353B278A-F2B0-F712-6BFA-DC62EAF72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28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896" y="106848"/>
            <a:ext cx="6092950" cy="796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LAN (Local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206776"/>
            <a:ext cx="5827363" cy="44412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Local Area Network is a group of computers connected to each other in a small area such as building, office.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LAN is used for connecting two or more personal computers through a communication medium such as twisted pair, coaxial cable, etc.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It is less costly as it is built with inexpensive hardware such as hubs, network adapters, and ethernet cables.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 data is transferred at an extremely faster rate in Local Area Network.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Local Area Network provides higher security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3A0F7-5313-4BDF-B468-458D73EE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16" y="384446"/>
            <a:ext cx="2853497" cy="251832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1A02FB8E-89C1-C2EA-C87D-EAF5AAE81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0DFA353-DB23-D650-3CFE-63C7F4759F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1256" y="3483652"/>
            <a:ext cx="6092950" cy="3200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921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19" y="229700"/>
            <a:ext cx="6092950" cy="70502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MAN (Metropolitan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76" y="1013758"/>
            <a:ext cx="5940638" cy="38898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A metropolitan area network is a network that covers a larger geographic area by interconnecting different LANs to form a larger network.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In MAN, various LANs are connected to each other through a telephone exchange line.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Government agencies use MAN to connect to the citizens and private industries.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It has a higher range than Local Area Network(LAN).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E3112-1117-4738-A917-5C28DE16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274" y="759657"/>
            <a:ext cx="5485701" cy="2669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E2BE80-5A0B-4CA1-B66D-1C8F6673F78F}"/>
              </a:ext>
            </a:extLst>
          </p:cNvPr>
          <p:cNvSpPr txBox="1"/>
          <p:nvPr/>
        </p:nvSpPr>
        <p:spPr>
          <a:xfrm>
            <a:off x="152312" y="4903636"/>
            <a:ext cx="5940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Goudy Old Style" panose="02020502050305020303" pitchFamily="18" charset="0"/>
              </a:rPr>
              <a:t>Uses of MAN: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Used in communication between the banks in a city.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be used in an Airline Reservation.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be used in a college within a city.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also be used for communication in the military.</a:t>
            </a: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A5CF906B-DFF7-7B57-382B-77D7F522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36E0D7-CA2A-D04F-0019-0BFA30C14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74" y="3815861"/>
            <a:ext cx="5485700" cy="2924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01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41" y="96772"/>
            <a:ext cx="6092950" cy="104601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WAN (Wide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776403"/>
            <a:ext cx="5843753" cy="44412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A Wide Area Network is a network that extends over a large geographical area such as states or countries.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A Wide Area Network is quite bigger network than the LAN and MAN.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WAN is not limited to a single location, but it spans over a large geographical area through a telephone line, </a:t>
            </a:r>
            <a:r>
              <a:rPr lang="en-US" sz="2000" dirty="0" err="1">
                <a:latin typeface="Goudy Old Style" panose="02020502050305020303" pitchFamily="18" charset="0"/>
              </a:rPr>
              <a:t>fibre</a:t>
            </a:r>
            <a:r>
              <a:rPr lang="en-US" sz="2000" dirty="0">
                <a:latin typeface="Goudy Old Style" panose="02020502050305020303" pitchFamily="18" charset="0"/>
              </a:rPr>
              <a:t> optic cable or satellite links.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WAN is widely used in the field of Business, government, and education.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65E810-47A5-4132-86FB-58C1463AB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45" y="114473"/>
            <a:ext cx="5289755" cy="42318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A252CD12-8B0E-7782-2522-8201E3306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EB0613C-6C7B-B559-A9E8-474486DF5D0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7027" y="4558377"/>
            <a:ext cx="5407029" cy="22373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319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894" y="184109"/>
            <a:ext cx="5693790" cy="64039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Internetwork / Internet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746414"/>
            <a:ext cx="5843753" cy="567370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Goudy Old Style" panose="02020502050305020303" pitchFamily="18" charset="0"/>
              </a:rPr>
              <a:t>LANs and WANs may be interconnected into an internetwork – a global mesh of interconnected computer networks. 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An interconnection between public, private, commercial, industrial, or government computer networks can also be defined as internetworking.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An internetworking uses the internet protocol.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reference model used for internetworking is Open System Interconnection(OSI).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B3296-79E1-4125-8ABB-345E96C0B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2" y="1397675"/>
            <a:ext cx="5130204" cy="4133694"/>
          </a:xfrm>
          <a:prstGeom prst="rect">
            <a:avLst/>
          </a:prstGeom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56DA4E8-D00C-2805-A543-7E729108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43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640FB8-13F6-406A-9F9F-6D82581C5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30" y="928468"/>
            <a:ext cx="7557208" cy="5258019"/>
          </a:xfrm>
          <a:prstGeom prst="rect">
            <a:avLst/>
          </a:prstGeom>
        </p:spPr>
      </p:pic>
      <p:pic>
        <p:nvPicPr>
          <p:cNvPr id="5" name="Picture 4" descr="KL Deemed to be University Logo">
            <a:extLst>
              <a:ext uri="{FF2B5EF4-FFF2-40B4-BE49-F238E27FC236}">
                <a16:creationId xmlns:a16="http://schemas.microsoft.com/office/drawing/2014/main" id="{A01D927E-FD3F-D124-E228-EBFB61C8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16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675250" y="929962"/>
            <a:ext cx="11408898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1. Two or more computers connected close together in a local area e.g. building or office is called?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PAN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LAN</a:t>
            </a:r>
          </a:p>
          <a:p>
            <a:pPr marL="342900" indent="-342900">
              <a:buAutoNum type="alphaLcParenBoth"/>
            </a:pPr>
            <a:r>
              <a:rPr lang="en-US" sz="1600" dirty="0"/>
              <a:t>MAN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WAN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675250" y="2872641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2. Which of the following shows the correct arrangement of networks from the smallest to the largest network?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WAN, LAN, MAN</a:t>
            </a:r>
          </a:p>
          <a:p>
            <a:pPr marL="342900" indent="-342900">
              <a:buAutoNum type="alphaLcParenBoth"/>
            </a:pPr>
            <a:r>
              <a:rPr lang="en-US" dirty="0"/>
              <a:t>LAN, MAN, WAN</a:t>
            </a:r>
          </a:p>
          <a:p>
            <a:pPr marL="342900" indent="-342900">
              <a:buAutoNum type="alphaLcParenBoth"/>
            </a:pPr>
            <a:r>
              <a:rPr lang="en-US" dirty="0"/>
              <a:t>WAN, MAN, LAN</a:t>
            </a:r>
          </a:p>
          <a:p>
            <a:pPr marL="342900" indent="-342900">
              <a:buAutoNum type="alphaLcParenBoth"/>
            </a:pPr>
            <a:r>
              <a:rPr lang="en-US" dirty="0"/>
              <a:t>LAN, WAN, MAN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675250" y="5003206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What is the purpose of a WAN?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5086106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To allow computers to communicate with each other in the same area</a:t>
            </a:r>
          </a:p>
          <a:p>
            <a:pPr marL="342900" indent="-342900">
              <a:buAutoNum type="alphaLcParenBoth"/>
            </a:pPr>
            <a:r>
              <a:rPr lang="en-US" dirty="0"/>
              <a:t>To allow computers to communicate with each other - anywhere in the world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01435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QUESTIONS: Answers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675250" y="929962"/>
            <a:ext cx="11408898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1. Two or more computers connected close together in a local area e.g. building or office is called?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PAN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MAN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LAN</a:t>
            </a:r>
            <a:endParaRPr lang="en-US" sz="1600" dirty="0"/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WAN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675250" y="2872641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2. Which of the following shows the correct arrangement of networks from the smallest to the largest network?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WAN, LAN, MAN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LAN, MAN, WAN</a:t>
            </a:r>
          </a:p>
          <a:p>
            <a:pPr marL="342900" indent="-342900">
              <a:buAutoNum type="alphaLcParenBoth"/>
            </a:pPr>
            <a:r>
              <a:rPr lang="en-US" sz="1600" dirty="0"/>
              <a:t>WAN, MAN, LAN</a:t>
            </a:r>
          </a:p>
          <a:p>
            <a:pPr marL="342900" indent="-342900">
              <a:buAutoNum type="alphaLcParenBoth"/>
            </a:pPr>
            <a:r>
              <a:rPr lang="en-US" sz="1600" dirty="0"/>
              <a:t>LAN, WAN, MAN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675250" y="5003206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What is the purpose of a WAN?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5086106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To allow computers to communicate with each other in the same area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To allow computers to communicate with each other - anywhere in the world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2823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23277"/>
            <a:ext cx="5761220" cy="32733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Network types based on Technology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Network types based on Geographical Scale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B924FF-6533-FF88-AA71-2E5ECFCA3731}"/>
              </a:ext>
            </a:extLst>
          </p:cNvPr>
          <p:cNvSpPr txBox="1"/>
          <p:nvPr/>
        </p:nvSpPr>
        <p:spPr>
          <a:xfrm>
            <a:off x="6096000" y="633046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236D47D-7683-1FE4-FA88-116740584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867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9" y="2799470"/>
            <a:ext cx="4477043" cy="3303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Topology defines the structure of the network of how all the components are interconnected to each other.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353DF-9351-4B83-9784-B2D4EBAA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18" y="1097051"/>
            <a:ext cx="7092335" cy="4494280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NETWORK TOPOLOGY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944" y="280636"/>
            <a:ext cx="6119447" cy="1046010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5" y="1834234"/>
            <a:ext cx="6252177" cy="444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Bus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 bus topology is designed in such a way that all the stations are connected through a single cable known as a backbone cable. The backbone cable is considered as a "single lane" through which the message is broadcast to all the stations.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When a node wants to send a message over the network, it puts a message over the network. All the stations available in the network will receive the message whether it has been addressed or not.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98222-A70B-416A-9C07-B08E52ECF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721" y="2411009"/>
            <a:ext cx="5130204" cy="2630757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D5C45069-446A-EB8F-8E8C-C0F966CC1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908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920A-709D-D0F5-FBF7-B6AB40EC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2ABA3D-3FFA-FDCE-4138-6819592C70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1883" y="822642"/>
            <a:ext cx="6594294" cy="194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3539B-BEC2-C64F-38BB-E3B98F817C88}"/>
              </a:ext>
            </a:extLst>
          </p:cNvPr>
          <p:cNvSpPr txBox="1"/>
          <p:nvPr/>
        </p:nvSpPr>
        <p:spPr>
          <a:xfrm>
            <a:off x="245824" y="1080778"/>
            <a:ext cx="48607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Nodes are connected to the bus cable by drop lines and taps.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 drop line is a connection running between the device and the main cable.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A tap is a connector that splices into (attached to) the main cable.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85" y="3224200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704" y="325496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5160556"/>
            <a:ext cx="4185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Installation is easy.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A bus uses less cabling than mesh or star topologies.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5722769" y="5015547"/>
            <a:ext cx="5854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If the backbone cable fails, the entire system fails.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There is a limit on the number of taps a bus can support and on the distance between those taps.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More taps will generate more heat which degrades the quality of signal.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0" y="3249637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5598942" y="3249637"/>
            <a:ext cx="0" cy="3570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48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952" y="77071"/>
            <a:ext cx="6092950" cy="1046010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491592"/>
            <a:ext cx="6547599" cy="49241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Ring Topology: 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Ring topology is like a bus topology, but with connected ends.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In a ring topology, each device has a dedicated point-to-point connection with only the two devices on either side of it.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node that receives the message from the previous computer will retransmit to the next node.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 signal is passed along the ring in one direction(clockwise) from device to device, until it reaches its destination. </a:t>
            </a:r>
            <a:br>
              <a:rPr lang="en-US" sz="2000" dirty="0">
                <a:latin typeface="Goudy Old Style" panose="02020502050305020303" pitchFamily="18" charset="0"/>
              </a:rPr>
            </a:b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EC429-A1B5-4831-8EB7-5722713D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93" y="1896501"/>
            <a:ext cx="4515168" cy="3515163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5876058-DDAC-2388-4E21-E2BEAABB5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222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53539B-BEC2-C64F-38BB-E3B98F817C88}"/>
              </a:ext>
            </a:extLst>
          </p:cNvPr>
          <p:cNvSpPr txBox="1"/>
          <p:nvPr/>
        </p:nvSpPr>
        <p:spPr>
          <a:xfrm>
            <a:off x="255890" y="891722"/>
            <a:ext cx="5109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Each device in the ring incorporates a repeater.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 When a device receives a signal intended for another device, its repeater regenerates the bits and passes them along.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185" y="3224200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704" y="325496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5160556"/>
            <a:ext cx="5119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Easy to install and reconfigure.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 add or delete a device requires changing only two connection.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5832490" y="5182073"/>
            <a:ext cx="5672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Unidirectional traffic can be a disadvantage.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break in the ring (disabled station) can disable the entire network. </a:t>
            </a:r>
            <a:br>
              <a:rPr lang="en-US" dirty="0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0" y="3249637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5598942" y="3249637"/>
            <a:ext cx="0" cy="3570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B3989BA9-93AF-6CAA-4E8C-CEF970AE4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84985" y="224676"/>
            <a:ext cx="5840110" cy="2739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932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703" y="67457"/>
            <a:ext cx="6092950" cy="74950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46" y="1225174"/>
            <a:ext cx="6280313" cy="40674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Star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Star topology is the most popular topology in network implementation.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devices are not directly linked to one another.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Star topology is an arrangement of the network in which each device has a dedicated point-to-point link only to a central controller called a Hub or Switch.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0E13E-E214-4BC9-A1D9-25D8513B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580" y="1026843"/>
            <a:ext cx="5130204" cy="4464070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00CB6C1-095C-E57A-CFD6-FBB35311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857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87108-BBAA-9D1B-1F6A-77EACB8E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51" y="3074435"/>
            <a:ext cx="1715193" cy="1810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63FAF-65AC-8A9A-9A27-DD6AF6F25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981" y="3074435"/>
            <a:ext cx="1677533" cy="1779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F56B6D-5643-FAA3-AED3-58C46F9A1037}"/>
              </a:ext>
            </a:extLst>
          </p:cNvPr>
          <p:cNvSpPr txBox="1"/>
          <p:nvPr/>
        </p:nvSpPr>
        <p:spPr>
          <a:xfrm>
            <a:off x="245824" y="4940590"/>
            <a:ext cx="51195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Easy to install and reconfigure.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Less cabling is required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Star topology is robust, If one link fails, only that link is affected. All other links remain active. 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00A69-466A-A7A6-1437-9EB28A8931C3}"/>
              </a:ext>
            </a:extLst>
          </p:cNvPr>
          <p:cNvSpPr txBox="1"/>
          <p:nvPr/>
        </p:nvSpPr>
        <p:spPr>
          <a:xfrm>
            <a:off x="6425348" y="5230109"/>
            <a:ext cx="5520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If hub fails entire processing will be stopped working.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E22FB-9B85-D9CC-EE28-A847222B9DCF}"/>
              </a:ext>
            </a:extLst>
          </p:cNvPr>
          <p:cNvCxnSpPr/>
          <p:nvPr/>
        </p:nvCxnSpPr>
        <p:spPr>
          <a:xfrm>
            <a:off x="12277" y="3086376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D07C34-D78C-FD78-BACB-A4DEBB51477C}"/>
              </a:ext>
            </a:extLst>
          </p:cNvPr>
          <p:cNvCxnSpPr>
            <a:cxnSpLocks/>
          </p:cNvCxnSpPr>
          <p:nvPr/>
        </p:nvCxnSpPr>
        <p:spPr>
          <a:xfrm>
            <a:off x="6096000" y="3073914"/>
            <a:ext cx="0" cy="3733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74CBE134-1E63-35C9-5B86-1C000284E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5348" y="260298"/>
            <a:ext cx="5510762" cy="243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8829FA-11A2-0718-031C-E8FA5EC1A2DE}"/>
              </a:ext>
            </a:extLst>
          </p:cNvPr>
          <p:cNvSpPr txBox="1"/>
          <p:nvPr/>
        </p:nvSpPr>
        <p:spPr>
          <a:xfrm>
            <a:off x="495355" y="772754"/>
            <a:ext cx="5600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star topology does not allow direct traffic between devices.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central controller acts as an exchange.</a:t>
            </a:r>
          </a:p>
        </p:txBody>
      </p:sp>
    </p:spTree>
    <p:extLst>
      <p:ext uri="{BB962C8B-B14F-4D97-AF65-F5344CB8AC3E}">
        <p14:creationId xmlns:p14="http://schemas.microsoft.com/office/powerpoint/2010/main" val="35327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723" y="67457"/>
            <a:ext cx="6092950" cy="74950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1" y="884420"/>
            <a:ext cx="6632005" cy="5531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Tree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Tree topology combines the characteristics of bus topology and star topology.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All the computers are connected with each other in hierarchical fashion.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The top-most node in tree topology is known as a root node, and all other nodes are the descendants of the root node.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There is only one path exists between two nodes for the data transmission. Thus, it forms a parent-child hierarchy.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000" b="1" u="sng" dirty="0">
                <a:latin typeface="Goudy Old Style" panose="02020502050305020303" pitchFamily="18" charset="0"/>
              </a:rPr>
              <a:t>Drawback: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Goudy Old Style" panose="02020502050305020303" pitchFamily="18" charset="0"/>
              </a:rPr>
              <a:t>Failure:</a:t>
            </a:r>
            <a:r>
              <a:rPr lang="en-US" sz="1800" dirty="0">
                <a:latin typeface="Goudy Old Style" panose="02020502050305020303" pitchFamily="18" charset="0"/>
              </a:rPr>
              <a:t> A tree topology mainly relies on main bus cable and failure in main bus cable will damage the overall network.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Goudy Old Style" panose="02020502050305020303" pitchFamily="18" charset="0"/>
              </a:rPr>
              <a:t>Reconfiguration difficult: </a:t>
            </a:r>
            <a:r>
              <a:rPr lang="en-US" sz="1800" dirty="0">
                <a:latin typeface="Goudy Old Style" panose="02020502050305020303" pitchFamily="18" charset="0"/>
              </a:rPr>
              <a:t>If new devices are added, then it becomes difficult to reconfigure.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347AB-759B-4E24-94F7-1496C0FC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465" y="1456465"/>
            <a:ext cx="5138183" cy="3385358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249241B-8C69-7C5D-2C06-38233252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889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370" y="73571"/>
            <a:ext cx="6092950" cy="70453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94" y="915553"/>
            <a:ext cx="7236916" cy="61534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Mesh Topology:</a:t>
            </a:r>
          </a:p>
          <a:p>
            <a:pPr marL="0" indent="0" algn="just">
              <a:buNone/>
            </a:pPr>
            <a:endParaRPr lang="en-US" sz="100" b="1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In a mesh topology, every device has a dedicated Point-to-Point link to every other device. (i.e.) for each node there is a link to all other nodes.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It does not contain the switch, hub or any central computer which acts as a central point of communication.</a:t>
            </a: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Mesh topology is mainly used for wireless networks and Internet is an example of the mesh topology.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Mesh topology is mainly used for WAN implementations where communication failures are a critical concern.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Goudy Old Style" panose="02020502050305020303" pitchFamily="18" charset="0"/>
              </a:rPr>
              <a:t>Mesh topology can be formed by using the formula:</a:t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Number of cables = (n*(n-1))/2.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000" b="1" u="sng" dirty="0">
                <a:latin typeface="Goudy Old Style" panose="02020502050305020303" pitchFamily="18" charset="0"/>
              </a:rPr>
              <a:t>Types: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Goudy Old Style" panose="02020502050305020303" pitchFamily="18" charset="0"/>
              </a:rPr>
              <a:t>Full Mesh Topology</a:t>
            </a:r>
            <a:endParaRPr lang="en-US" sz="1600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Goudy Old Style" panose="02020502050305020303" pitchFamily="18" charset="0"/>
              </a:rPr>
              <a:t>Partial Mesh Topology</a:t>
            </a:r>
            <a:endParaRPr lang="en-US" sz="16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24151-6595-4C8A-9FF7-48AEF3B7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25" y="3824024"/>
            <a:ext cx="3176874" cy="2639609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2C2FC75-F44F-0F82-54F2-3162B863D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59758FC-87FB-9CD4-C1DB-4C5577F61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66018" y="915553"/>
            <a:ext cx="3176874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767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380" y="22719"/>
            <a:ext cx="6092950" cy="704538"/>
          </a:xfrm>
        </p:spPr>
        <p:txBody>
          <a:bodyPr>
            <a:normAutofit/>
          </a:bodyPr>
          <a:lstStyle/>
          <a:p>
            <a:pPr algn="ctr"/>
            <a:r>
              <a:rPr lang="en-US" sz="4000" b="1" kern="1200" dirty="0">
                <a:solidFill>
                  <a:srgbClr val="C00000"/>
                </a:solidFill>
                <a:latin typeface="Goudy Old Style" panose="02020502050305020303" pitchFamily="18" charset="0"/>
              </a:rPr>
              <a:t>Network Topology..</a:t>
            </a:r>
            <a:endParaRPr lang="en-US" sz="4000" dirty="0"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4438"/>
            <a:ext cx="6738425" cy="60035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F2F33"/>
                </a:solidFill>
                <a:latin typeface="Goudy Old Style" panose="02020502050305020303" pitchFamily="18" charset="0"/>
              </a:rPr>
              <a:t>Hybrid Topology:</a:t>
            </a:r>
          </a:p>
          <a:p>
            <a:pPr marL="0" indent="0" algn="just">
              <a:buNone/>
            </a:pPr>
            <a:endParaRPr lang="en-US" sz="1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combination of various topologies is known as Hybrid topology.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When two or more different topologies are combined together is termed as Hybrid topology and if similar topologies are connected with each other will not result in Hybrid topology. 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Example: if there exist a ring topology in one branch of ICICI bank and bus topology in another branch of ICICI bank, connecting these two topologies will result in Hybrid topology.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n-US" sz="2400" b="1" u="sng" dirty="0">
                <a:latin typeface="Goudy Old Style" panose="02020502050305020303" pitchFamily="18" charset="0"/>
              </a:rPr>
              <a:t>Drawbacks: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Complex Design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Costly Hub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Goudy Old Style" panose="02020502050305020303" pitchFamily="18" charset="0"/>
              </a:rPr>
              <a:t>Costly Infrastructure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2C129-83B5-4954-9AF9-9DCF870C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228" y="1181507"/>
            <a:ext cx="5130204" cy="3933825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324BD4C-2183-558B-48F7-9B9762D83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618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Physical or logical arrangement of network is __________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Topology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Routing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Networking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Control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8138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network topology requires a central controller or hub?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Star</a:t>
            </a:r>
          </a:p>
          <a:p>
            <a:pPr marL="342900" indent="-342900">
              <a:buAutoNum type="alphaLcParenBoth"/>
            </a:pPr>
            <a:r>
              <a:rPr lang="en-US" dirty="0"/>
              <a:t>Mesh</a:t>
            </a:r>
          </a:p>
          <a:p>
            <a:pPr marL="342900" indent="-342900">
              <a:buAutoNum type="alphaLcParenBoth"/>
            </a:pPr>
            <a:r>
              <a:rPr lang="en-US" dirty="0"/>
              <a:t>Ring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Mesh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A network comprising o multiple topologies is?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Complex</a:t>
            </a:r>
          </a:p>
          <a:p>
            <a:pPr marL="342900" indent="-342900">
              <a:buAutoNum type="alphaLcParenBoth"/>
            </a:pPr>
            <a:r>
              <a:rPr lang="en-US" dirty="0"/>
              <a:t>Hybrid</a:t>
            </a:r>
          </a:p>
          <a:p>
            <a:pPr marL="342900" indent="-342900">
              <a:buAutoNum type="alphaLcParenBoth"/>
            </a:pPr>
            <a:r>
              <a:rPr lang="en-US" dirty="0"/>
              <a:t>Bus</a:t>
            </a:r>
          </a:p>
          <a:p>
            <a:pPr marL="342900" indent="-342900">
              <a:buAutoNum type="alphaLcParenBoth"/>
            </a:pPr>
            <a:r>
              <a:rPr lang="en-US" sz="1600" dirty="0"/>
              <a:t>Star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 - Answers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Physical or logical arrangement of network is __________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Topology</a:t>
            </a:r>
            <a:endParaRPr lang="en-US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Routing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Networking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Control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81385" y="2872641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network topology requires a central controller or hub?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Star</a:t>
            </a:r>
          </a:p>
          <a:p>
            <a:pPr marL="342900" indent="-342900">
              <a:buAutoNum type="alphaLcParenBoth"/>
            </a:pPr>
            <a:r>
              <a:rPr lang="en-US" dirty="0"/>
              <a:t>Mesh</a:t>
            </a:r>
          </a:p>
          <a:p>
            <a:pPr marL="342900" indent="-342900">
              <a:buAutoNum type="alphaLcParenBoth"/>
            </a:pPr>
            <a:r>
              <a:rPr lang="en-US" dirty="0"/>
              <a:t>Ring</a:t>
            </a:r>
          </a:p>
          <a:p>
            <a:pPr marL="342900" indent="-342900">
              <a:buAutoNum type="alphaLcParenBoth"/>
            </a:pPr>
            <a:r>
              <a:rPr lang="en-US" sz="1600" dirty="0"/>
              <a:t>Mesh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A network comprising o multiple topologies is?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Complex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Hybrid</a:t>
            </a:r>
          </a:p>
          <a:p>
            <a:pPr marL="342900" indent="-342900">
              <a:buAutoNum type="alphaLcParenBoth"/>
            </a:pPr>
            <a:r>
              <a:rPr lang="en-US" dirty="0"/>
              <a:t>Bus</a:t>
            </a:r>
          </a:p>
          <a:p>
            <a:pPr marL="342900" indent="-342900">
              <a:buAutoNum type="alphaLcParenBoth"/>
            </a:pPr>
            <a:r>
              <a:rPr lang="en-US" sz="1600" dirty="0"/>
              <a:t>Star</a:t>
            </a:r>
          </a:p>
        </p:txBody>
      </p:sp>
    </p:spTree>
    <p:extLst>
      <p:ext uri="{BB962C8B-B14F-4D97-AF65-F5344CB8AC3E}">
        <p14:creationId xmlns:p14="http://schemas.microsoft.com/office/powerpoint/2010/main" val="624215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96085"/>
            <a:ext cx="5761220" cy="3800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Network Topologies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Bus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Star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Tree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Mesh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Hybrid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44308" y="717452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243267" y="1917655"/>
            <a:ext cx="5660475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The way in which data is transmitted from one device to another device is known as </a:t>
            </a:r>
            <a:r>
              <a:rPr lang="en-US" sz="2400" b="1" i="1" dirty="0">
                <a:latin typeface="Goudy Old Style" panose="02020502050305020303" pitchFamily="18" charset="0"/>
              </a:rPr>
              <a:t>Transmission mode</a:t>
            </a:r>
            <a:r>
              <a:rPr lang="en-US" sz="2400" i="1" dirty="0">
                <a:latin typeface="Goudy Old Style" panose="02020502050305020303" pitchFamily="18" charset="0"/>
              </a:rPr>
              <a:t>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Also called as Communication mode/Direction mode.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Goudy Old Style" panose="02020502050305020303" pitchFamily="18" charset="0"/>
              </a:rPr>
              <a:t>Transmission mode is defined in physical layer.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3252B-F7C6-48E9-8661-60FC9F6E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258" y="1917655"/>
            <a:ext cx="5903742" cy="3072798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2D33D7D-3DD1-F993-5F93-5D18E2C59A42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MODES</a:t>
            </a:r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D4E9B5F3-28D1-3E67-048F-24B973F17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24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15580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Simplex Mode</a:t>
            </a: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747" y="2278504"/>
            <a:ext cx="7257630" cy="4107305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endParaRPr lang="en-US" sz="29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Simplex mode, the communication is unidirectional, i.e., the data flow in one direction.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A device can only send the data but cannot receive it or it can receive the data but cannot send the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Keyboard and Monitor are the examples of the simplex mode.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B57E9-390A-4A52-A8AD-4AF4696B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819" y="640080"/>
            <a:ext cx="6894236" cy="150651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30E6306B-1F19-5EFD-2BFC-AD9B70AFA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090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61323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Half-Duplex Mode</a:t>
            </a: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896" y="2278504"/>
            <a:ext cx="8330184" cy="457949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900" b="1" dirty="0"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a Half-duplex channel, direction can be reversed, i.e., the station can transmit and receive the data as well.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Messages flow in both the directions, but not at the same time.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A </a:t>
            </a:r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Walkie-talkie</a:t>
            </a:r>
            <a:r>
              <a:rPr lang="en-US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 is an example of the Half-duplex mode. In Walkie-talkie, one party speaks, and another party listens. After a pause, the other speaks and first party listens. Speaking simultaneously will create the distorted sound which cannot be understood.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58025-25BF-4E5C-8040-B7B83326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931" y="322522"/>
            <a:ext cx="6730584" cy="1685925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04B7F10-A4A4-F2DB-6F12-140F195F1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336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11" y="640080"/>
            <a:ext cx="3450084" cy="561323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  <a:t>Transmission Modes..</a:t>
            </a: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FF"/>
                </a:solidFill>
                <a:latin typeface="Goudy Old Style" panose="02020502050305020303" pitchFamily="18" charset="0"/>
              </a:rPr>
            </a:br>
            <a: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  <a:t>Full-Duplex Mode</a:t>
            </a:r>
            <a:br>
              <a:rPr lang="en-US" sz="4100" b="1" kern="1200" dirty="0">
                <a:solidFill>
                  <a:srgbClr val="CF2F33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br>
              <a:rPr lang="en-US" sz="4100" b="1" kern="1200" dirty="0">
                <a:solidFill>
                  <a:srgbClr val="FFFF00"/>
                </a:solidFill>
                <a:latin typeface="Goudy Old Style" panose="02020502050305020303" pitchFamily="18" charset="0"/>
              </a:rPr>
            </a:br>
            <a:endParaRPr lang="en-US" sz="4100" dirty="0">
              <a:solidFill>
                <a:srgbClr val="FFFF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66" y="2630658"/>
            <a:ext cx="7884825" cy="4227342"/>
          </a:xfrm>
        </p:spPr>
        <p:txBody>
          <a:bodyPr anchor="ctr"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In Full duplex mode, the communication is bi-directional, i.e., the data flow in both the directions.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Both the stations can send and receive the message simultaneously.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Full-duplex mode has two simplex channels. One channel has traffic moving in one direction, and another channel has traffic flowing in the opposite direction.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The Full-duplex mode is the fastest mode of communication between devices.</a:t>
            </a:r>
          </a:p>
          <a:p>
            <a:endParaRPr lang="en-US" sz="1100" dirty="0">
              <a:latin typeface="Goudy Old Style" panose="020205020503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0C087-2BCB-4C0E-B2AC-BB926546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471" y="181286"/>
            <a:ext cx="6702994" cy="185850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EA47079-4765-C1B0-CA2A-D2B2ADD27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393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B1DE-DA1C-6B7B-4FED-848E371B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652" y="371061"/>
            <a:ext cx="7397848" cy="7156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Test your knowledge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FD90A37-B914-40B5-5C53-82EEAD761D60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153171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7624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6897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WAN stands for __________</a:t>
                      </a:r>
                      <a:br>
                        <a:rPr lang="en-US" dirty="0"/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World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Wide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Web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Web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0AD6F-EDFD-610D-9200-7C3A3E0FC2E6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313859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1408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3113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Which topology uses a single cable which connects all the including nodes?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FE2A96-FCF8-0FBC-7256-3A36297789CC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4745471"/>
          <a:ext cx="93168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2010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4820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A term that defines the direction of flow of information between devices.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interconnectivity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intra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transmission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06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0649"/>
                  </a:ext>
                </a:extLst>
              </a:tr>
            </a:tbl>
          </a:graphicData>
        </a:graphic>
      </p:graphicFrame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C4F0488B-8E7E-11E0-2265-235E13F66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859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B1DE-DA1C-6B7B-4FED-848E371B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990" y="371061"/>
            <a:ext cx="7327509" cy="71561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Test your knowledge…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FD90A37-B914-40B5-5C53-82EEAD761D60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153171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7624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6897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WAN stands for __________</a:t>
                      </a:r>
                      <a:br>
                        <a:rPr lang="en-US" dirty="0"/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World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b. Wide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Web area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Web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0AD6F-EDFD-610D-9200-7C3A3E0FC2E6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3138591"/>
          <a:ext cx="930452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1408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3113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Which topology uses a single cable that connects all the including nodes?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Hybrid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c. 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0333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d. 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250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FE2A96-FCF8-0FBC-7256-3A36297789CC}"/>
              </a:ext>
            </a:extLst>
          </p:cNvPr>
          <p:cNvGraphicFramePr>
            <a:graphicFrameLocks noGrp="1"/>
          </p:cNvGraphicFramePr>
          <p:nvPr/>
        </p:nvGraphicFramePr>
        <p:xfrm>
          <a:off x="1541670" y="4745471"/>
          <a:ext cx="931683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2010">
                  <a:extLst>
                    <a:ext uri="{9D8B030D-6E8A-4147-A177-3AD203B41FA5}">
                      <a16:colId xmlns:a16="http://schemas.microsoft.com/office/drawing/2014/main" val="176257920"/>
                    </a:ext>
                  </a:extLst>
                </a:gridCol>
                <a:gridCol w="4274820">
                  <a:extLst>
                    <a:ext uri="{9D8B030D-6E8A-4147-A177-3AD203B41FA5}">
                      <a16:colId xmlns:a16="http://schemas.microsoft.com/office/drawing/2014/main" val="89573919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A term that defines the direction of flow of information between devices is?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a. interconnectivity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032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b. intra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658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c. transmission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06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d.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0649"/>
                  </a:ext>
                </a:extLst>
              </a:tr>
            </a:tbl>
          </a:graphicData>
        </a:graphic>
      </p:graphicFrame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91FF8727-F012-F510-783A-C57A0E00C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032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608" y="1792303"/>
            <a:ext cx="6905392" cy="3273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Network Hardware Concepts</a:t>
            </a:r>
          </a:p>
          <a:p>
            <a:pPr marL="0" indent="0">
              <a:buNone/>
            </a:pPr>
            <a:endParaRPr lang="en-US" b="1" dirty="0">
              <a:latin typeface="Goudy Old Style" panose="020205020503050203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Transmission technology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Network types based on Geographical Area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Network Topologies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 Transmission modes</a:t>
            </a: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0653CB40-95CB-8221-DD7E-290820A60020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02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Describe the network types based on transmission technology.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Describe the network types based on their scale. 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3. Illustrate different types of network topologies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4. Summarize the modes of data transmission.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3027404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2286</TotalTime>
  <Words>2337</Words>
  <Application>Microsoft Office PowerPoint</Application>
  <PresentationFormat>Widescreen</PresentationFormat>
  <Paragraphs>380</Paragraphs>
  <Slides>41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1_Office Theme</vt:lpstr>
      <vt:lpstr>PowerPoint Presentation</vt:lpstr>
      <vt:lpstr>PowerPoint Presentation</vt:lpstr>
      <vt:lpstr>PowerPoint Presentation</vt:lpstr>
      <vt:lpstr>Transmission is actually the process of sending and propagating signals of digital information.   Transmission technology generally refers to physical layer protocol duties like modulation, demodulation, line coding, etc. </vt:lpstr>
      <vt:lpstr>Transmission Technology…</vt:lpstr>
      <vt:lpstr>Transmission Technology…</vt:lpstr>
      <vt:lpstr>Transmission Technology…</vt:lpstr>
      <vt:lpstr>Transmission Technology…</vt:lpstr>
      <vt:lpstr>PowerPoint Presentation</vt:lpstr>
      <vt:lpstr>PAN (Personal Area Network)</vt:lpstr>
      <vt:lpstr>LAN (Local Area Network)</vt:lpstr>
      <vt:lpstr>MAN (Metropolitan Area Network)</vt:lpstr>
      <vt:lpstr>WAN (Wide Area Network)</vt:lpstr>
      <vt:lpstr>Internetwork / Internet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Topology..</vt:lpstr>
      <vt:lpstr>PowerPoint Presentation</vt:lpstr>
      <vt:lpstr>Network Topology..</vt:lpstr>
      <vt:lpstr>PowerPoint Presentation</vt:lpstr>
      <vt:lpstr>Network Topology..</vt:lpstr>
      <vt:lpstr>PowerPoint Presentation</vt:lpstr>
      <vt:lpstr>Network Topology..</vt:lpstr>
      <vt:lpstr>Network Topology..</vt:lpstr>
      <vt:lpstr>Network Topology..</vt:lpstr>
      <vt:lpstr>PowerPoint Presentation</vt:lpstr>
      <vt:lpstr>PowerPoint Presentation</vt:lpstr>
      <vt:lpstr>PowerPoint Presentation</vt:lpstr>
      <vt:lpstr>PowerPoint Presentation</vt:lpstr>
      <vt:lpstr>Transmission Modes..    Simplex Mode    </vt:lpstr>
      <vt:lpstr>Transmission Modes..    Half-Duplex Mode    </vt:lpstr>
      <vt:lpstr>Transmission Modes..    Full-Duplex Mode    </vt:lpstr>
      <vt:lpstr>Test your knowledge</vt:lpstr>
      <vt:lpstr>Test your knowledge…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Tushar</cp:lastModifiedBy>
  <cp:revision>44</cp:revision>
  <dcterms:created xsi:type="dcterms:W3CDTF">2020-02-08T09:57:44Z</dcterms:created>
  <dcterms:modified xsi:type="dcterms:W3CDTF">2025-07-16T11:27:37Z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